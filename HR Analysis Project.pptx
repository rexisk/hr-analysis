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9"/>
  </p:notesMasterIdLst>
  <p:sldIdLst>
    <p:sldId id="256" r:id="rId2"/>
    <p:sldId id="260" r:id="rId3"/>
    <p:sldId id="321" r:id="rId4"/>
    <p:sldId id="331" r:id="rId5"/>
    <p:sldId id="332" r:id="rId6"/>
    <p:sldId id="265" r:id="rId7"/>
    <p:sldId id="334" r:id="rId8"/>
    <p:sldId id="320" r:id="rId9"/>
    <p:sldId id="329" r:id="rId10"/>
    <p:sldId id="326" r:id="rId11"/>
    <p:sldId id="313" r:id="rId12"/>
    <p:sldId id="314" r:id="rId13"/>
    <p:sldId id="330" r:id="rId14"/>
    <p:sldId id="322" r:id="rId15"/>
    <p:sldId id="336" r:id="rId16"/>
    <p:sldId id="335" r:id="rId17"/>
    <p:sldId id="337" r:id="rId18"/>
    <p:sldId id="338" r:id="rId19"/>
    <p:sldId id="323" r:id="rId20"/>
    <p:sldId id="340" r:id="rId21"/>
    <p:sldId id="319" r:id="rId22"/>
    <p:sldId id="316" r:id="rId23"/>
    <p:sldId id="317" r:id="rId24"/>
    <p:sldId id="339" r:id="rId25"/>
    <p:sldId id="324" r:id="rId26"/>
    <p:sldId id="268" r:id="rId27"/>
    <p:sldId id="341" r:id="rId28"/>
  </p:sldIdLst>
  <p:sldSz cx="9144000" cy="5143500" type="screen16x9"/>
  <p:notesSz cx="6858000" cy="9144000"/>
  <p:embeddedFontLst>
    <p:embeddedFont>
      <p:font typeface="Cabin" pitchFamily="2" charset="77"/>
      <p:regular r:id="rId30"/>
      <p:bold r:id="rId31"/>
      <p:italic r:id="rId32"/>
      <p:boldItalic r:id="rId33"/>
    </p:embeddedFont>
    <p:embeddedFont>
      <p:font typeface="Cambria Math" panose="02040503050406030204" pitchFamily="18" charset="0"/>
      <p:regular r:id="rId34"/>
    </p:embeddedFont>
    <p:embeddedFont>
      <p:font typeface="Cantata One" panose="02060503070700060704" pitchFamily="18" charset="77"/>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9A00"/>
    <a:srgbClr val="C500BD"/>
    <a:srgbClr val="A90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76F118-9BFB-4D4D-A44F-59667A32F612}">
  <a:tblStyle styleId="{2676F118-9BFB-4D4D-A44F-59667A32F61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p:restoredTop sz="88634"/>
  </p:normalViewPr>
  <p:slideViewPr>
    <p:cSldViewPr snapToGrid="0">
      <p:cViewPr varScale="1">
        <p:scale>
          <a:sx n="180" d="100"/>
          <a:sy n="180" d="100"/>
        </p:scale>
        <p:origin x="13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34380a111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34380a111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34380a111e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34380a111e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342c2ee484_0_8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342c2ee484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8186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342c2ee484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342c2ee484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4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342c2ee484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342c2ee484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320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342c2ee484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342c2ee484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342c2ee484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342c2ee484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Didn’t suggest a recommendation for this as, there were other avenues that gave greater impact and should be prioritized first.</a:t>
            </a:r>
            <a:endParaRPr dirty="0"/>
          </a:p>
        </p:txBody>
      </p:sp>
    </p:spTree>
    <p:extLst>
      <p:ext uri="{BB962C8B-B14F-4D97-AF65-F5344CB8AC3E}">
        <p14:creationId xmlns:p14="http://schemas.microsoft.com/office/powerpoint/2010/main" val="2844686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342c2ee484_0_8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342c2ee484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798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was contemplating on using retention as a score, but felt that employees could still leave despite having a good performance.</a:t>
            </a:r>
            <a:endParaRPr dirty="0"/>
          </a:p>
        </p:txBody>
      </p:sp>
    </p:spTree>
    <p:extLst>
      <p:ext uri="{BB962C8B-B14F-4D97-AF65-F5344CB8AC3E}">
        <p14:creationId xmlns:p14="http://schemas.microsoft.com/office/powerpoint/2010/main" val="915300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not compare with how many employees are still employed? (Retention)</a:t>
            </a:r>
          </a:p>
          <a:p>
            <a:pPr marL="0" lvl="0" indent="0" algn="l" rtl="0">
              <a:spcBef>
                <a:spcPts val="0"/>
              </a:spcBef>
              <a:spcAft>
                <a:spcPts val="0"/>
              </a:spcAft>
              <a:buNone/>
            </a:pPr>
            <a:r>
              <a:rPr lang="en-US" dirty="0"/>
              <a:t>As harsh as it may be, employees may leave despite having good performance. And therefore I feel that performance is a better indicator than the number of employees who have stayed</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 dirty="0">
                <a:latin typeface="Calibri" panose="020F0502020204030204" pitchFamily="34" charset="0"/>
                <a:cs typeface="Calibri" panose="020F0502020204030204" pitchFamily="34" charset="0"/>
              </a:rPr>
              <a:t>Employee referral provides the most number of employees </a:t>
            </a:r>
            <a:r>
              <a:rPr lang="en" u="sng" dirty="0">
                <a:latin typeface="Calibri" panose="020F0502020204030204" pitchFamily="34" charset="0"/>
                <a:cs typeface="Calibri" panose="020F0502020204030204" pitchFamily="34" charset="0"/>
              </a:rPr>
              <a:t>(26)</a:t>
            </a:r>
            <a:r>
              <a:rPr lang="en" dirty="0">
                <a:latin typeface="Calibri" panose="020F0502020204030204" pitchFamily="34" charset="0"/>
                <a:cs typeface="Calibri" panose="020F0502020204030204" pitchFamily="34" charset="0"/>
              </a:rPr>
              <a:t> with a good proportion </a:t>
            </a:r>
            <a:r>
              <a:rPr lang="en" u="sng" dirty="0">
                <a:latin typeface="Calibri" panose="020F0502020204030204" pitchFamily="34" charset="0"/>
                <a:cs typeface="Calibri" panose="020F0502020204030204" pitchFamily="34" charset="0"/>
              </a:rPr>
              <a:t>(100%)</a:t>
            </a:r>
            <a:r>
              <a:rPr lang="en" dirty="0">
                <a:latin typeface="Calibri" panose="020F0502020204030204" pitchFamily="34" charset="0"/>
                <a:cs typeface="Calibri" panose="020F0502020204030204" pitchFamily="34" charset="0"/>
              </a:rPr>
              <a:t> of the hires having good performance.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6448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not compare with how many employees are still employed?</a:t>
            </a:r>
          </a:p>
          <a:p>
            <a:pPr marL="0" lvl="0" indent="0" algn="l" rtl="0">
              <a:spcBef>
                <a:spcPts val="0"/>
              </a:spcBef>
              <a:spcAft>
                <a:spcPts val="0"/>
              </a:spcAft>
              <a:buNone/>
            </a:pPr>
            <a:r>
              <a:rPr lang="en-US" dirty="0"/>
              <a:t>As harsh as it may be, employees may leave despite having good performance. And therefore I feel that performance is a better indicator than the number of employees who have stayed</a:t>
            </a:r>
            <a:endParaRPr dirty="0"/>
          </a:p>
        </p:txBody>
      </p:sp>
    </p:spTree>
    <p:extLst>
      <p:ext uri="{BB962C8B-B14F-4D97-AF65-F5344CB8AC3E}">
        <p14:creationId xmlns:p14="http://schemas.microsoft.com/office/powerpoint/2010/main" val="482795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126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not compare with how many employees are still employed?</a:t>
            </a:r>
          </a:p>
          <a:p>
            <a:pPr marL="0" lvl="0" indent="0" algn="l" rtl="0">
              <a:spcBef>
                <a:spcPts val="0"/>
              </a:spcBef>
              <a:spcAft>
                <a:spcPts val="0"/>
              </a:spcAft>
              <a:buNone/>
            </a:pPr>
            <a:r>
              <a:rPr lang="en-US" dirty="0"/>
              <a:t>As harsh as it may be, employees may leave despite having good performance. And therefore I feel that performance is a better indicator than the number of employees who have stayed</a:t>
            </a:r>
            <a:endParaRPr dirty="0"/>
          </a:p>
        </p:txBody>
      </p:sp>
    </p:spTree>
    <p:extLst>
      <p:ext uri="{BB962C8B-B14F-4D97-AF65-F5344CB8AC3E}">
        <p14:creationId xmlns:p14="http://schemas.microsoft.com/office/powerpoint/2010/main" val="634215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342c2ee484_0_8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342c2ee484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4664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0 – Need improvement/PIP</a:t>
            </a:r>
          </a:p>
          <a:p>
            <a:pPr marL="0" lvl="0" indent="0" algn="l" rtl="0">
              <a:spcBef>
                <a:spcPts val="0"/>
              </a:spcBef>
              <a:spcAft>
                <a:spcPts val="0"/>
              </a:spcAft>
              <a:buNone/>
            </a:pPr>
            <a:r>
              <a:rPr lang="en-US" dirty="0"/>
              <a:t>1 - 90 day meets</a:t>
            </a:r>
          </a:p>
          <a:p>
            <a:pPr marL="0" lvl="0" indent="0" algn="l" rtl="0">
              <a:spcBef>
                <a:spcPts val="0"/>
              </a:spcBef>
              <a:spcAft>
                <a:spcPts val="0"/>
              </a:spcAft>
              <a:buNone/>
            </a:pPr>
            <a:r>
              <a:rPr lang="en-US" dirty="0"/>
              <a:t>2 – fully meets</a:t>
            </a:r>
          </a:p>
          <a:p>
            <a:pPr marL="0" lvl="0" indent="0" algn="l" rtl="0">
              <a:spcBef>
                <a:spcPts val="0"/>
              </a:spcBef>
              <a:spcAft>
                <a:spcPts val="0"/>
              </a:spcAft>
              <a:buNone/>
            </a:pPr>
            <a:r>
              <a:rPr lang="en-US" dirty="0"/>
              <a:t>3 – Exceeds</a:t>
            </a:r>
          </a:p>
          <a:p>
            <a:pPr marL="0" lvl="0" indent="0" algn="l" rtl="0">
              <a:spcBef>
                <a:spcPts val="0"/>
              </a:spcBef>
              <a:spcAft>
                <a:spcPts val="0"/>
              </a:spcAft>
              <a:buNone/>
            </a:pPr>
            <a:r>
              <a:rPr lang="en-US" dirty="0"/>
              <a:t>4 – Exceptional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Could be skewed with the metrics but I purposely did not ^2 to heavily penalize the score of employees, and the distribution of employees are mainly in the fully meets segment.</a:t>
            </a:r>
            <a:endParaRPr dirty="0"/>
          </a:p>
        </p:txBody>
      </p:sp>
    </p:spTree>
    <p:extLst>
      <p:ext uri="{BB962C8B-B14F-4D97-AF65-F5344CB8AC3E}">
        <p14:creationId xmlns:p14="http://schemas.microsoft.com/office/powerpoint/2010/main" val="2313966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1342c2ee484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1342c2ee484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49463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1342c2ee484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1342c2ee484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0708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342c2ee484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342c2ee484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1553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342c2ee484_0_8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342c2ee484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4753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1342c2ee484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1342c2ee484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Also looked at correlation btw tenure / performance score but results showed that there were little to </a:t>
            </a:r>
            <a:r>
              <a:rPr lang="en-US"/>
              <a:t>no correlations</a:t>
            </a:r>
            <a:endParaRPr/>
          </a:p>
        </p:txBody>
      </p:sp>
    </p:spTree>
    <p:extLst>
      <p:ext uri="{BB962C8B-B14F-4D97-AF65-F5344CB8AC3E}">
        <p14:creationId xmlns:p14="http://schemas.microsoft.com/office/powerpoint/2010/main" val="3043096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342c2ee484_0_8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342c2ee484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8110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1342c2ee484_0_8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1342c2ee484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0212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1342c2ee484_0_8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1342c2ee484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9741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342c2ee48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342c2ee48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not compare with how many employees are still employed?</a:t>
            </a:r>
          </a:p>
          <a:p>
            <a:pPr marL="0" lvl="0" indent="0" algn="l" rtl="0">
              <a:spcBef>
                <a:spcPts val="0"/>
              </a:spcBef>
              <a:spcAft>
                <a:spcPts val="0"/>
              </a:spcAft>
              <a:buNone/>
            </a:pPr>
            <a:r>
              <a:rPr lang="en-US" dirty="0"/>
              <a:t>As harsh as it may be, employees may leave despite having good performance. And therefore I feel that performance is a better indicator than the number of employees who have stayed</a:t>
            </a:r>
            <a:endParaRPr dirty="0"/>
          </a:p>
        </p:txBody>
      </p:sp>
    </p:spTree>
    <p:extLst>
      <p:ext uri="{BB962C8B-B14F-4D97-AF65-F5344CB8AC3E}">
        <p14:creationId xmlns:p14="http://schemas.microsoft.com/office/powerpoint/2010/main" val="2412457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342c2ee484_0_8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342c2ee484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51651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1342c2ee484_0_8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1342c2ee484_0_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705225" y="976075"/>
            <a:ext cx="4703400" cy="26544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dk1"/>
              </a:buClr>
              <a:buSzPts val="5200"/>
              <a:buNone/>
              <a:defRPr sz="4000">
                <a:solidFill>
                  <a:schemeClr val="dk1"/>
                </a:solidFill>
                <a:latin typeface="Cantata One"/>
                <a:ea typeface="Cantata One"/>
                <a:cs typeface="Cantata One"/>
                <a:sym typeface="Cantat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705225" y="3667325"/>
            <a:ext cx="4703400" cy="500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subTitle" idx="2"/>
          </p:nvPr>
        </p:nvSpPr>
        <p:spPr>
          <a:xfrm>
            <a:off x="3173400" y="156450"/>
            <a:ext cx="2797200" cy="23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200" b="1"/>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2" name="Google Shape;12;p2"/>
          <p:cNvSpPr txBox="1">
            <a:spLocks noGrp="1"/>
          </p:cNvSpPr>
          <p:nvPr>
            <p:ph type="subTitle" idx="3"/>
          </p:nvPr>
        </p:nvSpPr>
        <p:spPr>
          <a:xfrm rot="5400000" flipH="1">
            <a:off x="7685759" y="2452950"/>
            <a:ext cx="22242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b="1"/>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501050" y="2122300"/>
            <a:ext cx="3718800" cy="1122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872400" y="1295425"/>
            <a:ext cx="4347300" cy="13890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1501050" y="3236975"/>
            <a:ext cx="2670900" cy="61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2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8" name="Google Shape;18;p3"/>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8"/>
          <p:cNvSpPr/>
          <p:nvPr/>
        </p:nvSpPr>
        <p:spPr>
          <a:xfrm>
            <a:off x="583800" y="532800"/>
            <a:ext cx="7976400"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 name="Google Shape;55;p8"/>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cxnSp>
        <p:nvCxnSpPr>
          <p:cNvPr id="58" name="Google Shape;58;p8"/>
          <p:cNvCxnSpPr/>
          <p:nvPr/>
        </p:nvCxnSpPr>
        <p:spPr>
          <a:xfrm>
            <a:off x="8800345" y="3681300"/>
            <a:ext cx="0" cy="1481400"/>
          </a:xfrm>
          <a:prstGeom prst="straightConnector1">
            <a:avLst/>
          </a:prstGeom>
          <a:noFill/>
          <a:ln w="9525" cap="flat" cmpd="sng">
            <a:solidFill>
              <a:schemeClr val="dk1"/>
            </a:solidFill>
            <a:prstDash val="solid"/>
            <a:round/>
            <a:headEnd type="none" w="med" len="med"/>
            <a:tailEnd type="none" w="med" len="med"/>
          </a:ln>
        </p:spPr>
      </p:cxnSp>
      <p:sp>
        <p:nvSpPr>
          <p:cNvPr id="59" name="Google Shape;59;p8"/>
          <p:cNvSpPr txBox="1">
            <a:spLocks noGrp="1"/>
          </p:cNvSpPr>
          <p:nvPr>
            <p:ph type="title"/>
          </p:nvPr>
        </p:nvSpPr>
        <p:spPr>
          <a:xfrm>
            <a:off x="1499550" y="1187100"/>
            <a:ext cx="6144900" cy="276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0" name="Google Shape;60;p8"/>
          <p:cNvSpPr txBox="1">
            <a:spLocks noGrp="1"/>
          </p:cNvSpPr>
          <p:nvPr>
            <p:ph type="subTitle" idx="1"/>
          </p:nvPr>
        </p:nvSpPr>
        <p:spPr>
          <a:xfrm>
            <a:off x="3173400" y="156450"/>
            <a:ext cx="2797200" cy="23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2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61" name="Google Shape;61;p8"/>
          <p:cNvSpPr txBox="1">
            <a:spLocks noGrp="1"/>
          </p:cNvSpPr>
          <p:nvPr>
            <p:ph type="subTitle" idx="2"/>
          </p:nvPr>
        </p:nvSpPr>
        <p:spPr>
          <a:xfrm rot="5400000" flipH="1">
            <a:off x="7689005" y="2452950"/>
            <a:ext cx="22242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62" name="Google Shape;62;p8"/>
          <p:cNvSpPr txBox="1">
            <a:spLocks noGrp="1"/>
          </p:cNvSpPr>
          <p:nvPr>
            <p:ph type="subTitle" idx="3"/>
          </p:nvPr>
        </p:nvSpPr>
        <p:spPr>
          <a:xfrm rot="-5400000">
            <a:off x="-1057355" y="2452950"/>
            <a:ext cx="28005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a:off x="3558150" y="1192800"/>
            <a:ext cx="2444100" cy="54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200">
                <a:solidFill>
                  <a:schemeClr val="dk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1" name="Google Shape;81;p13"/>
          <p:cNvSpPr txBox="1">
            <a:spLocks noGrp="1"/>
          </p:cNvSpPr>
          <p:nvPr>
            <p:ph type="title" idx="2" hasCustomPrompt="1"/>
          </p:nvPr>
        </p:nvSpPr>
        <p:spPr>
          <a:xfrm>
            <a:off x="3472400" y="706700"/>
            <a:ext cx="2444100" cy="593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sz="55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a:spLocks noGrp="1"/>
          </p:cNvSpPr>
          <p:nvPr>
            <p:ph type="subTitle" idx="1"/>
          </p:nvPr>
        </p:nvSpPr>
        <p:spPr>
          <a:xfrm>
            <a:off x="3558159" y="1780352"/>
            <a:ext cx="24441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3" name="Google Shape;83;p13"/>
          <p:cNvSpPr txBox="1">
            <a:spLocks noGrp="1"/>
          </p:cNvSpPr>
          <p:nvPr>
            <p:ph type="title" idx="3"/>
          </p:nvPr>
        </p:nvSpPr>
        <p:spPr>
          <a:xfrm>
            <a:off x="6055775" y="1192800"/>
            <a:ext cx="2444100" cy="54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200">
                <a:solidFill>
                  <a:schemeClr val="dk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4" name="Google Shape;84;p13"/>
          <p:cNvSpPr txBox="1">
            <a:spLocks noGrp="1"/>
          </p:cNvSpPr>
          <p:nvPr>
            <p:ph type="title" idx="4" hasCustomPrompt="1"/>
          </p:nvPr>
        </p:nvSpPr>
        <p:spPr>
          <a:xfrm>
            <a:off x="5970050" y="706725"/>
            <a:ext cx="2438100" cy="593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sz="55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a:spLocks noGrp="1"/>
          </p:cNvSpPr>
          <p:nvPr>
            <p:ph type="subTitle" idx="5"/>
          </p:nvPr>
        </p:nvSpPr>
        <p:spPr>
          <a:xfrm>
            <a:off x="6055778" y="1780352"/>
            <a:ext cx="24438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6" name="Google Shape;86;p13"/>
          <p:cNvSpPr txBox="1">
            <a:spLocks noGrp="1"/>
          </p:cNvSpPr>
          <p:nvPr>
            <p:ph type="title" idx="6"/>
          </p:nvPr>
        </p:nvSpPr>
        <p:spPr>
          <a:xfrm>
            <a:off x="3558150" y="3305638"/>
            <a:ext cx="2441100" cy="54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200">
                <a:solidFill>
                  <a:schemeClr val="dk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 name="Google Shape;87;p13"/>
          <p:cNvSpPr txBox="1">
            <a:spLocks noGrp="1"/>
          </p:cNvSpPr>
          <p:nvPr>
            <p:ph type="title" idx="7" hasCustomPrompt="1"/>
          </p:nvPr>
        </p:nvSpPr>
        <p:spPr>
          <a:xfrm>
            <a:off x="3472400" y="2819550"/>
            <a:ext cx="2444100" cy="593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sz="55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subTitle" idx="8"/>
          </p:nvPr>
        </p:nvSpPr>
        <p:spPr>
          <a:xfrm>
            <a:off x="3558159" y="3893198"/>
            <a:ext cx="24441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9" name="Google Shape;89;p13"/>
          <p:cNvSpPr txBox="1">
            <a:spLocks noGrp="1"/>
          </p:cNvSpPr>
          <p:nvPr>
            <p:ph type="title" idx="9"/>
          </p:nvPr>
        </p:nvSpPr>
        <p:spPr>
          <a:xfrm>
            <a:off x="6055775" y="3305634"/>
            <a:ext cx="2443800" cy="54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200">
                <a:solidFill>
                  <a:schemeClr val="dk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0" name="Google Shape;90;p13"/>
          <p:cNvSpPr txBox="1">
            <a:spLocks noGrp="1"/>
          </p:cNvSpPr>
          <p:nvPr>
            <p:ph type="title" idx="13" hasCustomPrompt="1"/>
          </p:nvPr>
        </p:nvSpPr>
        <p:spPr>
          <a:xfrm>
            <a:off x="5970050" y="2819550"/>
            <a:ext cx="2441100" cy="593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000"/>
              <a:buNone/>
              <a:defRPr sz="55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4"/>
          </p:nvPr>
        </p:nvSpPr>
        <p:spPr>
          <a:xfrm>
            <a:off x="6055778" y="3893198"/>
            <a:ext cx="24438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92" name="Google Shape;92;p13"/>
          <p:cNvSpPr txBox="1">
            <a:spLocks noGrp="1"/>
          </p:cNvSpPr>
          <p:nvPr>
            <p:ph type="title" idx="15"/>
          </p:nvPr>
        </p:nvSpPr>
        <p:spPr>
          <a:xfrm>
            <a:off x="603750" y="2056050"/>
            <a:ext cx="2796600" cy="10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93" name="Google Shape;93;p13"/>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94" name="Google Shape;94;p13"/>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6">
    <p:bg>
      <p:bgPr>
        <a:solidFill>
          <a:schemeClr val="dk2"/>
        </a:solidFill>
        <a:effectLst/>
      </p:bgPr>
    </p:bg>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990600" y="3614650"/>
            <a:ext cx="38409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None/>
              <a:defRPr sz="1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2" name="Google Shape;112;p15"/>
          <p:cNvSpPr txBox="1">
            <a:spLocks noGrp="1"/>
          </p:cNvSpPr>
          <p:nvPr>
            <p:ph type="subTitle" idx="1"/>
          </p:nvPr>
        </p:nvSpPr>
        <p:spPr>
          <a:xfrm>
            <a:off x="990600" y="990600"/>
            <a:ext cx="3840900" cy="2362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113" name="Google Shape;113;p15"/>
          <p:cNvSpPr txBox="1">
            <a:spLocks noGrp="1"/>
          </p:cNvSpPr>
          <p:nvPr>
            <p:ph type="subTitle" idx="2"/>
          </p:nvPr>
        </p:nvSpPr>
        <p:spPr>
          <a:xfrm>
            <a:off x="3173400" y="156450"/>
            <a:ext cx="2797200" cy="23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2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14" name="Google Shape;114;p15"/>
          <p:cNvSpPr txBox="1">
            <a:spLocks noGrp="1"/>
          </p:cNvSpPr>
          <p:nvPr>
            <p:ph type="subTitle" idx="3"/>
          </p:nvPr>
        </p:nvSpPr>
        <p:spPr>
          <a:xfrm rot="-5400000">
            <a:off x="-1000050" y="2443500"/>
            <a:ext cx="26859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cxnSp>
        <p:nvCxnSpPr>
          <p:cNvPr id="115" name="Google Shape;115;p1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116" name="Google Shape;116;p1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121"/>
        <p:cNvGrpSpPr/>
        <p:nvPr/>
      </p:nvGrpSpPr>
      <p:grpSpPr>
        <a:xfrm>
          <a:off x="0" y="0"/>
          <a:ext cx="0" cy="0"/>
          <a:chOff x="0" y="0"/>
          <a:chExt cx="0" cy="0"/>
        </a:xfrm>
      </p:grpSpPr>
      <p:sp>
        <p:nvSpPr>
          <p:cNvPr id="122" name="Google Shape;122;p17"/>
          <p:cNvSpPr txBox="1">
            <a:spLocks noGrp="1"/>
          </p:cNvSpPr>
          <p:nvPr>
            <p:ph type="title"/>
          </p:nvPr>
        </p:nvSpPr>
        <p:spPr>
          <a:xfrm>
            <a:off x="713225" y="445025"/>
            <a:ext cx="7715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32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3" name="Google Shape;123;p17"/>
          <p:cNvSpPr/>
          <p:nvPr/>
        </p:nvSpPr>
        <p:spPr>
          <a:xfrm>
            <a:off x="8557150" y="-6600"/>
            <a:ext cx="6096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 name="Google Shape;124;p17"/>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cxnSp>
        <p:nvCxnSpPr>
          <p:cNvPr id="125" name="Google Shape;125;p17"/>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131"/>
        <p:cNvGrpSpPr/>
        <p:nvPr/>
      </p:nvGrpSpPr>
      <p:grpSpPr>
        <a:xfrm>
          <a:off x="0" y="0"/>
          <a:ext cx="0" cy="0"/>
          <a:chOff x="0" y="0"/>
          <a:chExt cx="0" cy="0"/>
        </a:xfrm>
      </p:grpSpPr>
      <p:sp>
        <p:nvSpPr>
          <p:cNvPr id="132" name="Google Shape;132;p19"/>
          <p:cNvSpPr/>
          <p:nvPr/>
        </p:nvSpPr>
        <p:spPr>
          <a:xfrm>
            <a:off x="4585200" y="0"/>
            <a:ext cx="45969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3" name="Google Shape;133;p19"/>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134" name="Google Shape;134;p19"/>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135" name="Google Shape;135;p19"/>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cxnSp>
        <p:nvCxnSpPr>
          <p:cNvPr id="136" name="Google Shape;136;p19"/>
          <p:cNvCxnSpPr/>
          <p:nvPr/>
        </p:nvCxnSpPr>
        <p:spPr>
          <a:xfrm>
            <a:off x="8800345" y="3681300"/>
            <a:ext cx="0" cy="1481400"/>
          </a:xfrm>
          <a:prstGeom prst="straightConnector1">
            <a:avLst/>
          </a:prstGeom>
          <a:noFill/>
          <a:ln w="9525" cap="flat" cmpd="sng">
            <a:solidFill>
              <a:schemeClr val="dk1"/>
            </a:solidFill>
            <a:prstDash val="solid"/>
            <a:round/>
            <a:headEnd type="none" w="med" len="med"/>
            <a:tailEnd type="none" w="med" len="med"/>
          </a:ln>
        </p:spPr>
      </p:cxnSp>
      <p:sp>
        <p:nvSpPr>
          <p:cNvPr id="137" name="Google Shape;137;p19"/>
          <p:cNvSpPr txBox="1">
            <a:spLocks noGrp="1"/>
          </p:cNvSpPr>
          <p:nvPr>
            <p:ph type="subTitle" idx="1"/>
          </p:nvPr>
        </p:nvSpPr>
        <p:spPr>
          <a:xfrm>
            <a:off x="5215013" y="2435050"/>
            <a:ext cx="3114600" cy="160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900"/>
              <a:buNone/>
              <a:defRPr/>
            </a:lvl1pPr>
            <a:lvl2pPr lvl="1" algn="ctr" rtl="0">
              <a:lnSpc>
                <a:spcPct val="100000"/>
              </a:lnSpc>
              <a:spcBef>
                <a:spcPts val="0"/>
              </a:spcBef>
              <a:spcAft>
                <a:spcPts val="0"/>
              </a:spcAft>
              <a:buSzPts val="1900"/>
              <a:buNone/>
              <a:defRPr sz="1900"/>
            </a:lvl2pPr>
            <a:lvl3pPr lvl="2" algn="ctr" rtl="0">
              <a:lnSpc>
                <a:spcPct val="100000"/>
              </a:lnSpc>
              <a:spcBef>
                <a:spcPts val="0"/>
              </a:spcBef>
              <a:spcAft>
                <a:spcPts val="0"/>
              </a:spcAft>
              <a:buSzPts val="1900"/>
              <a:buNone/>
              <a:defRPr sz="1900"/>
            </a:lvl3pPr>
            <a:lvl4pPr lvl="3" algn="ctr" rtl="0">
              <a:lnSpc>
                <a:spcPct val="100000"/>
              </a:lnSpc>
              <a:spcBef>
                <a:spcPts val="0"/>
              </a:spcBef>
              <a:spcAft>
                <a:spcPts val="0"/>
              </a:spcAft>
              <a:buSzPts val="1900"/>
              <a:buNone/>
              <a:defRPr sz="1900"/>
            </a:lvl4pPr>
            <a:lvl5pPr lvl="4" algn="ctr" rtl="0">
              <a:lnSpc>
                <a:spcPct val="100000"/>
              </a:lnSpc>
              <a:spcBef>
                <a:spcPts val="0"/>
              </a:spcBef>
              <a:spcAft>
                <a:spcPts val="0"/>
              </a:spcAft>
              <a:buSzPts val="1900"/>
              <a:buNone/>
              <a:defRPr sz="1900"/>
            </a:lvl5pPr>
            <a:lvl6pPr lvl="5" algn="ctr" rtl="0">
              <a:lnSpc>
                <a:spcPct val="100000"/>
              </a:lnSpc>
              <a:spcBef>
                <a:spcPts val="0"/>
              </a:spcBef>
              <a:spcAft>
                <a:spcPts val="0"/>
              </a:spcAft>
              <a:buSzPts val="1900"/>
              <a:buNone/>
              <a:defRPr sz="1900"/>
            </a:lvl6pPr>
            <a:lvl7pPr lvl="6" algn="ctr" rtl="0">
              <a:lnSpc>
                <a:spcPct val="100000"/>
              </a:lnSpc>
              <a:spcBef>
                <a:spcPts val="0"/>
              </a:spcBef>
              <a:spcAft>
                <a:spcPts val="0"/>
              </a:spcAft>
              <a:buSzPts val="1900"/>
              <a:buNone/>
              <a:defRPr sz="1900"/>
            </a:lvl7pPr>
            <a:lvl8pPr lvl="7" algn="ctr" rtl="0">
              <a:lnSpc>
                <a:spcPct val="100000"/>
              </a:lnSpc>
              <a:spcBef>
                <a:spcPts val="0"/>
              </a:spcBef>
              <a:spcAft>
                <a:spcPts val="0"/>
              </a:spcAft>
              <a:buSzPts val="1900"/>
              <a:buNone/>
              <a:defRPr sz="1900"/>
            </a:lvl8pPr>
            <a:lvl9pPr lvl="8" algn="ctr" rtl="0">
              <a:lnSpc>
                <a:spcPct val="100000"/>
              </a:lnSpc>
              <a:spcBef>
                <a:spcPts val="0"/>
              </a:spcBef>
              <a:spcAft>
                <a:spcPts val="0"/>
              </a:spcAft>
              <a:buSzPts val="1900"/>
              <a:buNone/>
              <a:defRPr sz="1900"/>
            </a:lvl9pPr>
          </a:lstStyle>
          <a:p>
            <a:endParaRPr/>
          </a:p>
        </p:txBody>
      </p:sp>
      <p:sp>
        <p:nvSpPr>
          <p:cNvPr id="138" name="Google Shape;138;p19"/>
          <p:cNvSpPr txBox="1">
            <a:spLocks noGrp="1"/>
          </p:cNvSpPr>
          <p:nvPr>
            <p:ph type="title"/>
          </p:nvPr>
        </p:nvSpPr>
        <p:spPr>
          <a:xfrm>
            <a:off x="1309700" y="2004050"/>
            <a:ext cx="3224100" cy="17934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9" name="Google Shape;139;p19"/>
          <p:cNvSpPr txBox="1">
            <a:spLocks noGrp="1"/>
          </p:cNvSpPr>
          <p:nvPr>
            <p:ph type="subTitle" idx="2"/>
          </p:nvPr>
        </p:nvSpPr>
        <p:spPr>
          <a:xfrm>
            <a:off x="3173400" y="156450"/>
            <a:ext cx="2797200" cy="23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2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40" name="Google Shape;140;p19"/>
          <p:cNvSpPr txBox="1">
            <a:spLocks noGrp="1"/>
          </p:cNvSpPr>
          <p:nvPr>
            <p:ph type="subTitle" idx="3"/>
          </p:nvPr>
        </p:nvSpPr>
        <p:spPr>
          <a:xfrm rot="5400000" flipH="1">
            <a:off x="7689005" y="2452950"/>
            <a:ext cx="22242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41" name="Google Shape;141;p19"/>
          <p:cNvSpPr txBox="1">
            <a:spLocks noGrp="1"/>
          </p:cNvSpPr>
          <p:nvPr>
            <p:ph type="subTitle" idx="4"/>
          </p:nvPr>
        </p:nvSpPr>
        <p:spPr>
          <a:xfrm rot="-5400000">
            <a:off x="-1057355" y="2452950"/>
            <a:ext cx="28005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3_1">
    <p:spTree>
      <p:nvGrpSpPr>
        <p:cNvPr id="1" name="Shape 142"/>
        <p:cNvGrpSpPr/>
        <p:nvPr/>
      </p:nvGrpSpPr>
      <p:grpSpPr>
        <a:xfrm>
          <a:off x="0" y="0"/>
          <a:ext cx="0" cy="0"/>
          <a:chOff x="0" y="0"/>
          <a:chExt cx="0" cy="0"/>
        </a:xfrm>
      </p:grpSpPr>
      <p:sp>
        <p:nvSpPr>
          <p:cNvPr id="143" name="Google Shape;143;p20"/>
          <p:cNvSpPr/>
          <p:nvPr/>
        </p:nvSpPr>
        <p:spPr>
          <a:xfrm>
            <a:off x="4585200" y="0"/>
            <a:ext cx="45969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 name="Google Shape;144;p20"/>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145" name="Google Shape;145;p20"/>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146" name="Google Shape;146;p20"/>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cxnSp>
        <p:nvCxnSpPr>
          <p:cNvPr id="147" name="Google Shape;147;p20"/>
          <p:cNvCxnSpPr/>
          <p:nvPr/>
        </p:nvCxnSpPr>
        <p:spPr>
          <a:xfrm>
            <a:off x="8800345" y="3681300"/>
            <a:ext cx="0" cy="1481400"/>
          </a:xfrm>
          <a:prstGeom prst="straightConnector1">
            <a:avLst/>
          </a:prstGeom>
          <a:noFill/>
          <a:ln w="9525" cap="flat" cmpd="sng">
            <a:solidFill>
              <a:schemeClr val="dk1"/>
            </a:solidFill>
            <a:prstDash val="solid"/>
            <a:round/>
            <a:headEnd type="none" w="med" len="med"/>
            <a:tailEnd type="none" w="med" len="med"/>
          </a:ln>
        </p:spPr>
      </p:cxnSp>
      <p:sp>
        <p:nvSpPr>
          <p:cNvPr id="148" name="Google Shape;148;p20"/>
          <p:cNvSpPr txBox="1">
            <a:spLocks noGrp="1"/>
          </p:cNvSpPr>
          <p:nvPr>
            <p:ph type="subTitle" idx="1"/>
          </p:nvPr>
        </p:nvSpPr>
        <p:spPr>
          <a:xfrm>
            <a:off x="3173400" y="156450"/>
            <a:ext cx="2797200" cy="23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2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49" name="Google Shape;149;p20"/>
          <p:cNvSpPr txBox="1">
            <a:spLocks noGrp="1"/>
          </p:cNvSpPr>
          <p:nvPr>
            <p:ph type="subTitle" idx="2"/>
          </p:nvPr>
        </p:nvSpPr>
        <p:spPr>
          <a:xfrm rot="5400000" flipH="1">
            <a:off x="7689005" y="2452950"/>
            <a:ext cx="22242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50" name="Google Shape;150;p20"/>
          <p:cNvSpPr txBox="1">
            <a:spLocks noGrp="1"/>
          </p:cNvSpPr>
          <p:nvPr>
            <p:ph type="subTitle" idx="3"/>
          </p:nvPr>
        </p:nvSpPr>
        <p:spPr>
          <a:xfrm rot="-5400000">
            <a:off x="-1057355" y="2452950"/>
            <a:ext cx="2800500" cy="23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000" b="1"/>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51" name="Google Shape;151;p20"/>
          <p:cNvSpPr txBox="1">
            <a:spLocks noGrp="1"/>
          </p:cNvSpPr>
          <p:nvPr>
            <p:ph type="subTitle" idx="4"/>
          </p:nvPr>
        </p:nvSpPr>
        <p:spPr>
          <a:xfrm flipH="1">
            <a:off x="814399" y="2435050"/>
            <a:ext cx="3114600" cy="1608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900"/>
              <a:buNone/>
              <a:defRPr/>
            </a:lvl1pPr>
            <a:lvl2pPr lvl="1" algn="ctr" rtl="0">
              <a:lnSpc>
                <a:spcPct val="100000"/>
              </a:lnSpc>
              <a:spcBef>
                <a:spcPts val="0"/>
              </a:spcBef>
              <a:spcAft>
                <a:spcPts val="0"/>
              </a:spcAft>
              <a:buSzPts val="1900"/>
              <a:buNone/>
              <a:defRPr sz="1900"/>
            </a:lvl2pPr>
            <a:lvl3pPr lvl="2" algn="ctr" rtl="0">
              <a:lnSpc>
                <a:spcPct val="100000"/>
              </a:lnSpc>
              <a:spcBef>
                <a:spcPts val="0"/>
              </a:spcBef>
              <a:spcAft>
                <a:spcPts val="0"/>
              </a:spcAft>
              <a:buSzPts val="1900"/>
              <a:buNone/>
              <a:defRPr sz="1900"/>
            </a:lvl3pPr>
            <a:lvl4pPr lvl="3" algn="ctr" rtl="0">
              <a:lnSpc>
                <a:spcPct val="100000"/>
              </a:lnSpc>
              <a:spcBef>
                <a:spcPts val="0"/>
              </a:spcBef>
              <a:spcAft>
                <a:spcPts val="0"/>
              </a:spcAft>
              <a:buSzPts val="1900"/>
              <a:buNone/>
              <a:defRPr sz="1900"/>
            </a:lvl4pPr>
            <a:lvl5pPr lvl="4" algn="ctr" rtl="0">
              <a:lnSpc>
                <a:spcPct val="100000"/>
              </a:lnSpc>
              <a:spcBef>
                <a:spcPts val="0"/>
              </a:spcBef>
              <a:spcAft>
                <a:spcPts val="0"/>
              </a:spcAft>
              <a:buSzPts val="1900"/>
              <a:buNone/>
              <a:defRPr sz="1900"/>
            </a:lvl5pPr>
            <a:lvl6pPr lvl="5" algn="ctr" rtl="0">
              <a:lnSpc>
                <a:spcPct val="100000"/>
              </a:lnSpc>
              <a:spcBef>
                <a:spcPts val="0"/>
              </a:spcBef>
              <a:spcAft>
                <a:spcPts val="0"/>
              </a:spcAft>
              <a:buSzPts val="1900"/>
              <a:buNone/>
              <a:defRPr sz="1900"/>
            </a:lvl6pPr>
            <a:lvl7pPr lvl="6" algn="ctr" rtl="0">
              <a:lnSpc>
                <a:spcPct val="100000"/>
              </a:lnSpc>
              <a:spcBef>
                <a:spcPts val="0"/>
              </a:spcBef>
              <a:spcAft>
                <a:spcPts val="0"/>
              </a:spcAft>
              <a:buSzPts val="1900"/>
              <a:buNone/>
              <a:defRPr sz="1900"/>
            </a:lvl7pPr>
            <a:lvl8pPr lvl="7" algn="ctr" rtl="0">
              <a:lnSpc>
                <a:spcPct val="100000"/>
              </a:lnSpc>
              <a:spcBef>
                <a:spcPts val="0"/>
              </a:spcBef>
              <a:spcAft>
                <a:spcPts val="0"/>
              </a:spcAft>
              <a:buSzPts val="1900"/>
              <a:buNone/>
              <a:defRPr sz="1900"/>
            </a:lvl8pPr>
            <a:lvl9pPr lvl="8" algn="ctr" rtl="0">
              <a:lnSpc>
                <a:spcPct val="100000"/>
              </a:lnSpc>
              <a:spcBef>
                <a:spcPts val="0"/>
              </a:spcBef>
              <a:spcAft>
                <a:spcPts val="0"/>
              </a:spcAft>
              <a:buSzPts val="1900"/>
              <a:buNone/>
              <a:defRPr sz="1900"/>
            </a:lvl9pPr>
          </a:lstStyle>
          <a:p>
            <a:endParaRPr/>
          </a:p>
        </p:txBody>
      </p:sp>
      <p:sp>
        <p:nvSpPr>
          <p:cNvPr id="152" name="Google Shape;152;p20"/>
          <p:cNvSpPr txBox="1">
            <a:spLocks noGrp="1"/>
          </p:cNvSpPr>
          <p:nvPr>
            <p:ph type="title"/>
          </p:nvPr>
        </p:nvSpPr>
        <p:spPr>
          <a:xfrm flipH="1">
            <a:off x="4581713" y="2000388"/>
            <a:ext cx="3366900" cy="1793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187"/>
        <p:cNvGrpSpPr/>
        <p:nvPr/>
      </p:nvGrpSpPr>
      <p:grpSpPr>
        <a:xfrm>
          <a:off x="0" y="0"/>
          <a:ext cx="0" cy="0"/>
          <a:chOff x="0" y="0"/>
          <a:chExt cx="0" cy="0"/>
        </a:xfrm>
      </p:grpSpPr>
      <p:sp>
        <p:nvSpPr>
          <p:cNvPr id="188" name="Google Shape;188;p25"/>
          <p:cNvSpPr/>
          <p:nvPr/>
        </p:nvSpPr>
        <p:spPr>
          <a:xfrm>
            <a:off x="0" y="2571750"/>
            <a:ext cx="9144000" cy="2585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9" name="Google Shape;189;p2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25"/>
          <p:cNvCxnSpPr/>
          <p:nvPr/>
        </p:nvCxnSpPr>
        <p:spPr>
          <a:xfrm>
            <a:off x="8800345" y="3681300"/>
            <a:ext cx="0" cy="1481400"/>
          </a:xfrm>
          <a:prstGeom prst="straightConnector1">
            <a:avLst/>
          </a:prstGeom>
          <a:noFill/>
          <a:ln w="9525" cap="flat" cmpd="sng">
            <a:solidFill>
              <a:schemeClr val="dk1"/>
            </a:solidFill>
            <a:prstDash val="solid"/>
            <a:round/>
            <a:headEnd type="none" w="med" len="med"/>
            <a:tailEnd type="none" w="med" len="med"/>
          </a:ln>
        </p:spPr>
      </p:cxnSp>
      <p:sp>
        <p:nvSpPr>
          <p:cNvPr id="191" name="Google Shape;191;p25"/>
          <p:cNvSpPr txBox="1">
            <a:spLocks noGrp="1"/>
          </p:cNvSpPr>
          <p:nvPr>
            <p:ph type="title"/>
          </p:nvPr>
        </p:nvSpPr>
        <p:spPr>
          <a:xfrm>
            <a:off x="741150" y="3371854"/>
            <a:ext cx="2175300" cy="73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2" name="Google Shape;192;p25"/>
          <p:cNvSpPr txBox="1">
            <a:spLocks noGrp="1"/>
          </p:cNvSpPr>
          <p:nvPr>
            <p:ph type="subTitle" idx="1"/>
          </p:nvPr>
        </p:nvSpPr>
        <p:spPr>
          <a:xfrm>
            <a:off x="741150" y="4102950"/>
            <a:ext cx="2175300" cy="500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3" name="Google Shape;193;p25"/>
          <p:cNvSpPr txBox="1">
            <a:spLocks noGrp="1"/>
          </p:cNvSpPr>
          <p:nvPr>
            <p:ph type="title" idx="2"/>
          </p:nvPr>
        </p:nvSpPr>
        <p:spPr>
          <a:xfrm>
            <a:off x="3484350" y="3371854"/>
            <a:ext cx="2175300" cy="73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4" name="Google Shape;194;p25"/>
          <p:cNvSpPr txBox="1">
            <a:spLocks noGrp="1"/>
          </p:cNvSpPr>
          <p:nvPr>
            <p:ph type="subTitle" idx="3"/>
          </p:nvPr>
        </p:nvSpPr>
        <p:spPr>
          <a:xfrm>
            <a:off x="3484350" y="4102950"/>
            <a:ext cx="2175300" cy="500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 name="Google Shape;195;p25"/>
          <p:cNvSpPr txBox="1">
            <a:spLocks noGrp="1"/>
          </p:cNvSpPr>
          <p:nvPr>
            <p:ph type="title" idx="4"/>
          </p:nvPr>
        </p:nvSpPr>
        <p:spPr>
          <a:xfrm>
            <a:off x="6227550" y="3371854"/>
            <a:ext cx="2175300" cy="73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6" name="Google Shape;196;p25"/>
          <p:cNvSpPr txBox="1">
            <a:spLocks noGrp="1"/>
          </p:cNvSpPr>
          <p:nvPr>
            <p:ph type="subTitle" idx="5"/>
          </p:nvPr>
        </p:nvSpPr>
        <p:spPr>
          <a:xfrm>
            <a:off x="6227550" y="4102950"/>
            <a:ext cx="2175300" cy="500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2_1">
    <p:spTree>
      <p:nvGrpSpPr>
        <p:cNvPr id="1" name="Shape 206"/>
        <p:cNvGrpSpPr/>
        <p:nvPr/>
      </p:nvGrpSpPr>
      <p:grpSpPr>
        <a:xfrm>
          <a:off x="0" y="0"/>
          <a:ext cx="0" cy="0"/>
          <a:chOff x="0" y="0"/>
          <a:chExt cx="0" cy="0"/>
        </a:xfrm>
      </p:grpSpPr>
      <p:sp>
        <p:nvSpPr>
          <p:cNvPr id="207" name="Google Shape;207;p27"/>
          <p:cNvSpPr/>
          <p:nvPr/>
        </p:nvSpPr>
        <p:spPr>
          <a:xfrm>
            <a:off x="8557150" y="-6600"/>
            <a:ext cx="6096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7"/>
          <p:cNvSpPr/>
          <p:nvPr/>
        </p:nvSpPr>
        <p:spPr>
          <a:xfrm>
            <a:off x="-24900" y="0"/>
            <a:ext cx="6096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9" name="Google Shape;209;p27"/>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27"/>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sp>
        <p:nvSpPr>
          <p:cNvPr id="211" name="Google Shape;211;p27"/>
          <p:cNvSpPr txBox="1">
            <a:spLocks noGrp="1"/>
          </p:cNvSpPr>
          <p:nvPr>
            <p:ph type="title"/>
          </p:nvPr>
        </p:nvSpPr>
        <p:spPr>
          <a:xfrm>
            <a:off x="713225" y="445025"/>
            <a:ext cx="7715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2" name="Google Shape;212;p27"/>
          <p:cNvSpPr txBox="1">
            <a:spLocks noGrp="1"/>
          </p:cNvSpPr>
          <p:nvPr>
            <p:ph type="title" idx="2"/>
          </p:nvPr>
        </p:nvSpPr>
        <p:spPr>
          <a:xfrm>
            <a:off x="4610731" y="1686005"/>
            <a:ext cx="2798100" cy="32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13" name="Google Shape;213;p27"/>
          <p:cNvSpPr txBox="1">
            <a:spLocks noGrp="1"/>
          </p:cNvSpPr>
          <p:nvPr>
            <p:ph type="subTitle" idx="1"/>
          </p:nvPr>
        </p:nvSpPr>
        <p:spPr>
          <a:xfrm>
            <a:off x="4610731" y="2013627"/>
            <a:ext cx="2798100" cy="617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4" name="Google Shape;214;p27"/>
          <p:cNvSpPr txBox="1">
            <a:spLocks noGrp="1"/>
          </p:cNvSpPr>
          <p:nvPr>
            <p:ph type="title" idx="3"/>
          </p:nvPr>
        </p:nvSpPr>
        <p:spPr>
          <a:xfrm>
            <a:off x="1735170" y="1686005"/>
            <a:ext cx="2801400" cy="3264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15" name="Google Shape;215;p27"/>
          <p:cNvSpPr txBox="1">
            <a:spLocks noGrp="1"/>
          </p:cNvSpPr>
          <p:nvPr>
            <p:ph type="subTitle" idx="4"/>
          </p:nvPr>
        </p:nvSpPr>
        <p:spPr>
          <a:xfrm>
            <a:off x="1735169" y="2013628"/>
            <a:ext cx="2801400" cy="61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6" name="Google Shape;216;p27"/>
          <p:cNvSpPr txBox="1">
            <a:spLocks noGrp="1"/>
          </p:cNvSpPr>
          <p:nvPr>
            <p:ph type="title" idx="5"/>
          </p:nvPr>
        </p:nvSpPr>
        <p:spPr>
          <a:xfrm>
            <a:off x="4610731" y="3281329"/>
            <a:ext cx="2798100" cy="32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17" name="Google Shape;217;p27"/>
          <p:cNvSpPr txBox="1">
            <a:spLocks noGrp="1"/>
          </p:cNvSpPr>
          <p:nvPr>
            <p:ph type="subTitle" idx="6"/>
          </p:nvPr>
        </p:nvSpPr>
        <p:spPr>
          <a:xfrm>
            <a:off x="4610731" y="3609027"/>
            <a:ext cx="2798100" cy="617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8" name="Google Shape;218;p27"/>
          <p:cNvSpPr txBox="1">
            <a:spLocks noGrp="1"/>
          </p:cNvSpPr>
          <p:nvPr>
            <p:ph type="title" idx="7"/>
          </p:nvPr>
        </p:nvSpPr>
        <p:spPr>
          <a:xfrm>
            <a:off x="1735170" y="3281331"/>
            <a:ext cx="2801400" cy="3264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19" name="Google Shape;219;p27"/>
          <p:cNvSpPr txBox="1">
            <a:spLocks noGrp="1"/>
          </p:cNvSpPr>
          <p:nvPr>
            <p:ph type="subTitle" idx="8"/>
          </p:nvPr>
        </p:nvSpPr>
        <p:spPr>
          <a:xfrm>
            <a:off x="1735169" y="3609029"/>
            <a:ext cx="2801400" cy="61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259"/>
        <p:cNvGrpSpPr/>
        <p:nvPr/>
      </p:nvGrpSpPr>
      <p:grpSpPr>
        <a:xfrm>
          <a:off x="0" y="0"/>
          <a:ext cx="0" cy="0"/>
          <a:chOff x="0" y="0"/>
          <a:chExt cx="0" cy="0"/>
        </a:xfrm>
      </p:grpSpPr>
      <p:sp>
        <p:nvSpPr>
          <p:cNvPr id="260" name="Google Shape;260;p31"/>
          <p:cNvSpPr/>
          <p:nvPr/>
        </p:nvSpPr>
        <p:spPr>
          <a:xfrm>
            <a:off x="8557150" y="-6600"/>
            <a:ext cx="6096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1" name="Google Shape;261;p31"/>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262" name="Google Shape;262;p31"/>
          <p:cNvCxnSpPr/>
          <p:nvPr/>
        </p:nvCxnSpPr>
        <p:spPr>
          <a:xfrm>
            <a:off x="8800345" y="3681300"/>
            <a:ext cx="0" cy="14814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263"/>
        <p:cNvGrpSpPr/>
        <p:nvPr/>
      </p:nvGrpSpPr>
      <p:grpSpPr>
        <a:xfrm>
          <a:off x="0" y="0"/>
          <a:ext cx="0" cy="0"/>
          <a:chOff x="0" y="0"/>
          <a:chExt cx="0" cy="0"/>
        </a:xfrm>
      </p:grpSpPr>
      <p:sp>
        <p:nvSpPr>
          <p:cNvPr id="264" name="Google Shape;264;p32"/>
          <p:cNvSpPr/>
          <p:nvPr/>
        </p:nvSpPr>
        <p:spPr>
          <a:xfrm>
            <a:off x="-24900" y="0"/>
            <a:ext cx="4596900" cy="5156700"/>
          </a:xfrm>
          <a:prstGeom prst="rect">
            <a:avLst/>
          </a:prstGeom>
          <a:solidFill>
            <a:srgbClr val="E0D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5" name="Google Shape;265;p32"/>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266" name="Google Shape;266;p32"/>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8_1_1">
    <p:spTree>
      <p:nvGrpSpPr>
        <p:cNvPr id="1" name="Shape 267"/>
        <p:cNvGrpSpPr/>
        <p:nvPr/>
      </p:nvGrpSpPr>
      <p:grpSpPr>
        <a:xfrm>
          <a:off x="0" y="0"/>
          <a:ext cx="0" cy="0"/>
          <a:chOff x="0" y="0"/>
          <a:chExt cx="0" cy="0"/>
        </a:xfrm>
      </p:grpSpPr>
      <p:cxnSp>
        <p:nvCxnSpPr>
          <p:cNvPr id="268" name="Google Shape;268;p33"/>
          <p:cNvCxnSpPr/>
          <p:nvPr/>
        </p:nvCxnSpPr>
        <p:spPr>
          <a:xfrm rot="10800000">
            <a:off x="8800345" y="-9600"/>
            <a:ext cx="0" cy="1471800"/>
          </a:xfrm>
          <a:prstGeom prst="straightConnector1">
            <a:avLst/>
          </a:prstGeom>
          <a:noFill/>
          <a:ln w="9525" cap="flat" cmpd="sng">
            <a:solidFill>
              <a:schemeClr val="dk1"/>
            </a:solidFill>
            <a:prstDash val="solid"/>
            <a:round/>
            <a:headEnd type="none" w="med" len="med"/>
            <a:tailEnd type="none" w="med" len="med"/>
          </a:ln>
        </p:spPr>
      </p:cxnSp>
      <p:sp>
        <p:nvSpPr>
          <p:cNvPr id="269" name="Google Shape;269;p33"/>
          <p:cNvSpPr/>
          <p:nvPr/>
        </p:nvSpPr>
        <p:spPr>
          <a:xfrm>
            <a:off x="583800" y="532800"/>
            <a:ext cx="7976400"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0" name="Google Shape;270;p33"/>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200"/>
              <a:buFont typeface="Cantata One"/>
              <a:buNone/>
              <a:defRPr sz="3200">
                <a:solidFill>
                  <a:schemeClr val="dk1"/>
                </a:solidFill>
                <a:latin typeface="Cantata One"/>
                <a:ea typeface="Cantata One"/>
                <a:cs typeface="Cantata One"/>
                <a:sym typeface="Cantat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marL="914400" lvl="1"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marL="1371600" lvl="2"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marL="1828800" lvl="3"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marL="2286000" lvl="4"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marL="2743200" lvl="5"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marL="3200400" lvl="6"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marL="3657600" lvl="7"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marL="4114800" lvl="8" indent="-317500">
              <a:lnSpc>
                <a:spcPct val="115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8" r:id="rId4"/>
    <p:sldLayoutId id="2147483659" r:id="rId5"/>
    <p:sldLayoutId id="2147483661" r:id="rId6"/>
    <p:sldLayoutId id="2147483663" r:id="rId7"/>
    <p:sldLayoutId id="2147483665" r:id="rId8"/>
    <p:sldLayoutId id="2147483666" r:id="rId9"/>
    <p:sldLayoutId id="2147483671" r:id="rId10"/>
    <p:sldLayoutId id="2147483673" r:id="rId11"/>
    <p:sldLayoutId id="2147483677" r:id="rId12"/>
    <p:sldLayoutId id="2147483678" r:id="rId13"/>
    <p:sldLayoutId id="2147483679"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49">
          <p15:clr>
            <a:srgbClr val="EA4335"/>
          </p15:clr>
        </p15:guide>
        <p15:guide id="4" orient="horz" pos="340">
          <p15:clr>
            <a:srgbClr val="EA4335"/>
          </p15:clr>
        </p15:guide>
        <p15:guide id="5" pos="5309">
          <p15:clr>
            <a:srgbClr val="EA4335"/>
          </p15:clr>
        </p15:guide>
        <p15:guide id="6" orient="horz" pos="2899">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hyperlink" Target="https://public.tableau.com/views/HRAnalysisDashboard_17389406352520/Dashboard?:language=en-US&amp;:sid=&amp;:redirect=auth&amp;:display_count=n&amp;:origin=viz_share_link"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37"/>
          <p:cNvSpPr/>
          <p:nvPr/>
        </p:nvSpPr>
        <p:spPr>
          <a:xfrm>
            <a:off x="3152775" y="532800"/>
            <a:ext cx="6010200"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7"/>
          <p:cNvSpPr txBox="1">
            <a:spLocks noGrp="1"/>
          </p:cNvSpPr>
          <p:nvPr>
            <p:ph type="ctrTitle"/>
          </p:nvPr>
        </p:nvSpPr>
        <p:spPr>
          <a:xfrm>
            <a:off x="3705225" y="976075"/>
            <a:ext cx="4703400" cy="2654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HR Analysis</a:t>
            </a:r>
            <a:endParaRPr dirty="0"/>
          </a:p>
        </p:txBody>
      </p:sp>
      <p:sp>
        <p:nvSpPr>
          <p:cNvPr id="283" name="Google Shape;283;p37"/>
          <p:cNvSpPr txBox="1">
            <a:spLocks noGrp="1"/>
          </p:cNvSpPr>
          <p:nvPr>
            <p:ph type="subTitle" idx="1"/>
          </p:nvPr>
        </p:nvSpPr>
        <p:spPr>
          <a:xfrm>
            <a:off x="3705225" y="3667325"/>
            <a:ext cx="4703400" cy="500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Name: Foo Chit Long Darren</a:t>
            </a:r>
            <a:endParaRPr dirty="0"/>
          </a:p>
        </p:txBody>
      </p:sp>
      <p:cxnSp>
        <p:nvCxnSpPr>
          <p:cNvPr id="284" name="Google Shape;284;p37"/>
          <p:cNvCxnSpPr>
            <a:stCxn id="285" idx="3"/>
          </p:cNvCxnSpPr>
          <p:nvPr/>
        </p:nvCxnSpPr>
        <p:spPr>
          <a:xfrm rot="10800000">
            <a:off x="8796359" y="-16350"/>
            <a:ext cx="1500" cy="1476000"/>
          </a:xfrm>
          <a:prstGeom prst="straightConnector1">
            <a:avLst/>
          </a:prstGeom>
          <a:noFill/>
          <a:ln w="9525" cap="flat" cmpd="sng">
            <a:solidFill>
              <a:schemeClr val="dk1"/>
            </a:solidFill>
            <a:prstDash val="solid"/>
            <a:round/>
            <a:headEnd type="none" w="med" len="med"/>
            <a:tailEnd type="none" w="med" len="med"/>
          </a:ln>
        </p:spPr>
      </p:cxnSp>
      <p:cxnSp>
        <p:nvCxnSpPr>
          <p:cNvPr id="286" name="Google Shape;286;p37"/>
          <p:cNvCxnSpPr>
            <a:stCxn id="285" idx="1"/>
          </p:cNvCxnSpPr>
          <p:nvPr/>
        </p:nvCxnSpPr>
        <p:spPr>
          <a:xfrm flipH="1">
            <a:off x="8796359" y="3683850"/>
            <a:ext cx="1500" cy="1481400"/>
          </a:xfrm>
          <a:prstGeom prst="straightConnector1">
            <a:avLst/>
          </a:prstGeom>
          <a:noFill/>
          <a:ln w="9525" cap="flat" cmpd="sng">
            <a:solidFill>
              <a:schemeClr val="dk1"/>
            </a:solidFill>
            <a:prstDash val="solid"/>
            <a:round/>
            <a:headEnd type="none" w="med" len="med"/>
            <a:tailEnd type="none" w="med" len="med"/>
          </a:ln>
        </p:spPr>
      </p:cxnSp>
      <p:sp>
        <p:nvSpPr>
          <p:cNvPr id="285" name="Google Shape;285;p37"/>
          <p:cNvSpPr txBox="1">
            <a:spLocks noGrp="1"/>
          </p:cNvSpPr>
          <p:nvPr>
            <p:ph type="subTitle" idx="3"/>
          </p:nvPr>
        </p:nvSpPr>
        <p:spPr>
          <a:xfrm rot="5400000" flipH="1">
            <a:off x="7685759" y="2452950"/>
            <a:ext cx="22242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JANUARY 2025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1"/>
          <p:cNvSpPr/>
          <p:nvPr/>
        </p:nvSpPr>
        <p:spPr>
          <a:xfrm>
            <a:off x="575175" y="0"/>
            <a:ext cx="2834700" cy="5156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1"/>
          <p:cNvSpPr txBox="1">
            <a:spLocks noGrp="1"/>
          </p:cNvSpPr>
          <p:nvPr>
            <p:ph type="title" idx="2"/>
          </p:nvPr>
        </p:nvSpPr>
        <p:spPr>
          <a:xfrm>
            <a:off x="3512775" y="363800"/>
            <a:ext cx="24441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51" name="Google Shape;351;p41"/>
          <p:cNvSpPr txBox="1">
            <a:spLocks noGrp="1"/>
          </p:cNvSpPr>
          <p:nvPr>
            <p:ph type="title" idx="4"/>
          </p:nvPr>
        </p:nvSpPr>
        <p:spPr>
          <a:xfrm>
            <a:off x="6010425" y="363825"/>
            <a:ext cx="24381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52" name="Google Shape;352;p41"/>
          <p:cNvSpPr txBox="1">
            <a:spLocks noGrp="1"/>
          </p:cNvSpPr>
          <p:nvPr>
            <p:ph type="title" idx="7"/>
          </p:nvPr>
        </p:nvSpPr>
        <p:spPr>
          <a:xfrm>
            <a:off x="3512775" y="2034690"/>
            <a:ext cx="24441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53" name="Google Shape;353;p41"/>
          <p:cNvSpPr txBox="1">
            <a:spLocks noGrp="1"/>
          </p:cNvSpPr>
          <p:nvPr>
            <p:ph type="title" idx="13"/>
          </p:nvPr>
        </p:nvSpPr>
        <p:spPr>
          <a:xfrm>
            <a:off x="6010425" y="2034690"/>
            <a:ext cx="24411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354" name="Google Shape;354;p41"/>
          <p:cNvSpPr txBox="1">
            <a:spLocks noGrp="1"/>
          </p:cNvSpPr>
          <p:nvPr>
            <p:ph type="title"/>
          </p:nvPr>
        </p:nvSpPr>
        <p:spPr>
          <a:xfrm>
            <a:off x="3551070" y="857847"/>
            <a:ext cx="24441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t>EXPLORATORY ANALYSIS</a:t>
            </a:r>
            <a:endParaRPr sz="2000" dirty="0"/>
          </a:p>
        </p:txBody>
      </p:sp>
      <p:sp>
        <p:nvSpPr>
          <p:cNvPr id="356" name="Google Shape;356;p41"/>
          <p:cNvSpPr txBox="1">
            <a:spLocks noGrp="1"/>
          </p:cNvSpPr>
          <p:nvPr>
            <p:ph type="title" idx="3"/>
          </p:nvPr>
        </p:nvSpPr>
        <p:spPr>
          <a:xfrm>
            <a:off x="6096150" y="849900"/>
            <a:ext cx="24441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t>RECRUITMENT SOURCE</a:t>
            </a:r>
            <a:endParaRPr sz="2000" dirty="0"/>
          </a:p>
        </p:txBody>
      </p:sp>
      <p:sp>
        <p:nvSpPr>
          <p:cNvPr id="358" name="Google Shape;358;p41"/>
          <p:cNvSpPr txBox="1">
            <a:spLocks noGrp="1"/>
          </p:cNvSpPr>
          <p:nvPr>
            <p:ph type="title" idx="6"/>
          </p:nvPr>
        </p:nvSpPr>
        <p:spPr>
          <a:xfrm>
            <a:off x="3598524" y="2520778"/>
            <a:ext cx="2497625"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t>MANAGER PERFORMANCE</a:t>
            </a:r>
            <a:endParaRPr sz="2000" dirty="0"/>
          </a:p>
        </p:txBody>
      </p:sp>
      <p:sp>
        <p:nvSpPr>
          <p:cNvPr id="360" name="Google Shape;360;p41"/>
          <p:cNvSpPr txBox="1">
            <a:spLocks noGrp="1"/>
          </p:cNvSpPr>
          <p:nvPr>
            <p:ph type="title" idx="9"/>
          </p:nvPr>
        </p:nvSpPr>
        <p:spPr>
          <a:xfrm>
            <a:off x="6096150" y="2520774"/>
            <a:ext cx="24438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PAY RATE FACTORS</a:t>
            </a:r>
            <a:endParaRPr dirty="0"/>
          </a:p>
        </p:txBody>
      </p:sp>
      <p:sp>
        <p:nvSpPr>
          <p:cNvPr id="362" name="Google Shape;362;p41"/>
          <p:cNvSpPr txBox="1">
            <a:spLocks noGrp="1"/>
          </p:cNvSpPr>
          <p:nvPr>
            <p:ph type="title" idx="15"/>
          </p:nvPr>
        </p:nvSpPr>
        <p:spPr>
          <a:xfrm>
            <a:off x="603750" y="2056050"/>
            <a:ext cx="2796600" cy="10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a:t>TABLE OF </a:t>
            </a:r>
            <a:r>
              <a:rPr lang="en" sz="2900"/>
              <a:t>CONTENTS</a:t>
            </a:r>
            <a:endParaRPr sz="2900"/>
          </a:p>
        </p:txBody>
      </p:sp>
      <p:sp>
        <p:nvSpPr>
          <p:cNvPr id="8" name="Google Shape;352;p41">
            <a:extLst>
              <a:ext uri="{FF2B5EF4-FFF2-40B4-BE49-F238E27FC236}">
                <a16:creationId xmlns:a16="http://schemas.microsoft.com/office/drawing/2014/main" id="{4592DF94-D4C2-54BA-9BC6-DDE6F81F77E7}"/>
              </a:ext>
            </a:extLst>
          </p:cNvPr>
          <p:cNvSpPr txBox="1">
            <a:spLocks/>
          </p:cNvSpPr>
          <p:nvPr/>
        </p:nvSpPr>
        <p:spPr>
          <a:xfrm>
            <a:off x="3512772" y="3705555"/>
            <a:ext cx="2444100" cy="593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Cantata One"/>
              <a:buNone/>
              <a:defRPr sz="5500" b="0" i="0" u="none" strike="noStrike" cap="none">
                <a:solidFill>
                  <a:schemeClr val="dk2"/>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r>
              <a:rPr lang="en" dirty="0"/>
              <a:t>05</a:t>
            </a:r>
          </a:p>
        </p:txBody>
      </p:sp>
      <p:sp>
        <p:nvSpPr>
          <p:cNvPr id="9" name="Google Shape;353;p41">
            <a:extLst>
              <a:ext uri="{FF2B5EF4-FFF2-40B4-BE49-F238E27FC236}">
                <a16:creationId xmlns:a16="http://schemas.microsoft.com/office/drawing/2014/main" id="{4AD40BC9-5E6B-09C5-D2F9-687D36D2335D}"/>
              </a:ext>
            </a:extLst>
          </p:cNvPr>
          <p:cNvSpPr txBox="1">
            <a:spLocks/>
          </p:cNvSpPr>
          <p:nvPr/>
        </p:nvSpPr>
        <p:spPr>
          <a:xfrm>
            <a:off x="6010422" y="3705555"/>
            <a:ext cx="2441100" cy="593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Cantata One"/>
              <a:buNone/>
              <a:defRPr sz="5500" b="0" i="0" u="none" strike="noStrike" cap="none">
                <a:solidFill>
                  <a:schemeClr val="dk2"/>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r>
              <a:rPr lang="en" dirty="0"/>
              <a:t>06</a:t>
            </a:r>
          </a:p>
        </p:txBody>
      </p:sp>
      <p:sp>
        <p:nvSpPr>
          <p:cNvPr id="10" name="Google Shape;358;p41">
            <a:extLst>
              <a:ext uri="{FF2B5EF4-FFF2-40B4-BE49-F238E27FC236}">
                <a16:creationId xmlns:a16="http://schemas.microsoft.com/office/drawing/2014/main" id="{4186892E-F1D6-3D09-8AE7-D47A1E4A9101}"/>
              </a:ext>
            </a:extLst>
          </p:cNvPr>
          <p:cNvSpPr txBox="1">
            <a:spLocks/>
          </p:cNvSpPr>
          <p:nvPr/>
        </p:nvSpPr>
        <p:spPr>
          <a:xfrm>
            <a:off x="3598521" y="4191643"/>
            <a:ext cx="2497625" cy="54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Cantata One"/>
              <a:buNone/>
              <a:defRPr sz="2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r>
              <a:rPr lang="en-SG" sz="2000" dirty="0"/>
              <a:t>EMPLOYEEE RETENTION</a:t>
            </a:r>
          </a:p>
        </p:txBody>
      </p:sp>
      <p:sp>
        <p:nvSpPr>
          <p:cNvPr id="12" name="Google Shape;360;p41">
            <a:extLst>
              <a:ext uri="{FF2B5EF4-FFF2-40B4-BE49-F238E27FC236}">
                <a16:creationId xmlns:a16="http://schemas.microsoft.com/office/drawing/2014/main" id="{C27DF525-0530-2C51-F5B6-082D6CCF7369}"/>
              </a:ext>
            </a:extLst>
          </p:cNvPr>
          <p:cNvSpPr txBox="1">
            <a:spLocks/>
          </p:cNvSpPr>
          <p:nvPr/>
        </p:nvSpPr>
        <p:spPr>
          <a:xfrm>
            <a:off x="6061272" y="4021800"/>
            <a:ext cx="2443800" cy="54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000"/>
              <a:buFont typeface="Cantata One"/>
              <a:buNone/>
              <a:defRPr sz="2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r>
              <a:rPr lang="en-SG" dirty="0"/>
              <a:t>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p:nvPr/>
        </p:nvSpPr>
        <p:spPr>
          <a:xfrm>
            <a:off x="-9526" y="532800"/>
            <a:ext cx="5861681"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txBox="1">
            <a:spLocks noGrp="1"/>
          </p:cNvSpPr>
          <p:nvPr>
            <p:ph type="title" idx="2"/>
          </p:nvPr>
        </p:nvSpPr>
        <p:spPr>
          <a:xfrm>
            <a:off x="872400" y="1295425"/>
            <a:ext cx="4347300" cy="138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01</a:t>
            </a:r>
            <a:endParaRPr dirty="0">
              <a:solidFill>
                <a:schemeClr val="lt1"/>
              </a:solidFill>
            </a:endParaRPr>
          </a:p>
        </p:txBody>
      </p:sp>
      <p:sp>
        <p:nvSpPr>
          <p:cNvPr id="405" name="Google Shape;405;p45"/>
          <p:cNvSpPr txBox="1">
            <a:spLocks noGrp="1"/>
          </p:cNvSpPr>
          <p:nvPr>
            <p:ph type="title"/>
          </p:nvPr>
        </p:nvSpPr>
        <p:spPr>
          <a:xfrm>
            <a:off x="1501050" y="2122300"/>
            <a:ext cx="3871050" cy="11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EXPLORATORY ANALYSIS</a:t>
            </a:r>
            <a:endParaRPr dirty="0"/>
          </a:p>
        </p:txBody>
      </p:sp>
      <p:sp>
        <p:nvSpPr>
          <p:cNvPr id="406" name="Google Shape;406;p45"/>
          <p:cNvSpPr txBox="1">
            <a:spLocks noGrp="1"/>
          </p:cNvSpPr>
          <p:nvPr>
            <p:ph type="subTitle" idx="1"/>
          </p:nvPr>
        </p:nvSpPr>
        <p:spPr>
          <a:xfrm>
            <a:off x="1501050" y="3141500"/>
            <a:ext cx="3634830" cy="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i="1" dirty="0">
                <a:solidFill>
                  <a:schemeClr val="tx2">
                    <a:lumMod val="50000"/>
                  </a:schemeClr>
                </a:solidFill>
              </a:rPr>
              <a:t>Company background, demographic and distribution</a:t>
            </a:r>
          </a:p>
        </p:txBody>
      </p:sp>
      <p:sp>
        <p:nvSpPr>
          <p:cNvPr id="407" name="Google Shape;407;p45"/>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www.slidesgo.com</a:t>
            </a:r>
            <a:endParaRPr>
              <a:solidFill>
                <a:schemeClr val="lt1"/>
              </a:solidFill>
            </a:endParaRPr>
          </a:p>
        </p:txBody>
      </p:sp>
      <p:sp>
        <p:nvSpPr>
          <p:cNvPr id="408" name="Google Shape;408;p45"/>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HR Analysis</a:t>
            </a:r>
            <a:endParaRPr dirty="0"/>
          </a:p>
        </p:txBody>
      </p:sp>
      <p:cxnSp>
        <p:nvCxnSpPr>
          <p:cNvPr id="409" name="Google Shape;409;p4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410" name="Google Shape;410;p4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
        <p:nvSpPr>
          <p:cNvPr id="411" name="Google Shape;411;p45"/>
          <p:cNvSpPr/>
          <p:nvPr/>
        </p:nvSpPr>
        <p:spPr>
          <a:xfrm rot="5400000">
            <a:off x="6328283" y="2488787"/>
            <a:ext cx="3952860" cy="165926"/>
          </a:xfrm>
          <a:prstGeom prst="rect">
            <a:avLst/>
          </a:prstGeom>
        </p:spPr>
        <p:txBody>
          <a:bodyPr>
            <a:prstTxWarp prst="textPlain">
              <a:avLst/>
            </a:prstTxWarp>
          </a:bodyPr>
          <a:lstStyle/>
          <a:p>
            <a:pPr lvl="0" algn="ctr"/>
            <a:r>
              <a:rPr b="1" i="0">
                <a:ln>
                  <a:noFill/>
                </a:ln>
                <a:solidFill>
                  <a:schemeClr val="lt1"/>
                </a:solidFill>
                <a:latin typeface="Cabin"/>
              </a:rPr>
              <a:t>-HUMAN RESOURCES DEVELOPMENT-</a:t>
            </a:r>
          </a:p>
        </p:txBody>
      </p:sp>
      <p:sp>
        <p:nvSpPr>
          <p:cNvPr id="412" name="Google Shape;412;p45"/>
          <p:cNvSpPr/>
          <p:nvPr/>
        </p:nvSpPr>
        <p:spPr>
          <a:xfrm rot="-5400000" flipH="1">
            <a:off x="6480683" y="2488787"/>
            <a:ext cx="3952860" cy="165926"/>
          </a:xfrm>
          <a:prstGeom prst="rect">
            <a:avLst/>
          </a:prstGeom>
        </p:spPr>
        <p:txBody>
          <a:bodyPr>
            <a:prstTxWarp prst="textPlain">
              <a:avLst/>
            </a:prstTxWarp>
          </a:bodyPr>
          <a:lstStyle/>
          <a:p>
            <a:pPr lvl="0" algn="ctr"/>
            <a:r>
              <a:rPr b="1" i="0" dirty="0">
                <a:ln>
                  <a:noFill/>
                </a:ln>
                <a:solidFill>
                  <a:srgbClr val="FFFCFC">
                    <a:alpha val="23210"/>
                  </a:srgbClr>
                </a:solidFill>
                <a:latin typeface="Cabin"/>
              </a:rPr>
              <a:t>-HUMAN RESOURCES DEVELOPMENT-</a:t>
            </a:r>
          </a:p>
        </p:txBody>
      </p:sp>
    </p:spTree>
    <p:extLst>
      <p:ext uri="{BB962C8B-B14F-4D97-AF65-F5344CB8AC3E}">
        <p14:creationId xmlns:p14="http://schemas.microsoft.com/office/powerpoint/2010/main" val="4008880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6"/>
          <p:cNvSpPr txBox="1">
            <a:spLocks noGrp="1"/>
          </p:cNvSpPr>
          <p:nvPr>
            <p:ph type="subTitle" idx="1"/>
          </p:nvPr>
        </p:nvSpPr>
        <p:spPr>
          <a:xfrm>
            <a:off x="4686620" y="144177"/>
            <a:ext cx="3967395" cy="4855145"/>
          </a:xfrm>
          <a:prstGeom prst="rect">
            <a:avLst/>
          </a:prstGeom>
        </p:spPr>
        <p:txBody>
          <a:bodyPr spcFirstLastPara="1" wrap="square" lIns="91425" tIns="91425" rIns="91425" bIns="91425" anchor="ctr" anchorCtr="0">
            <a:noAutofit/>
          </a:bodyPr>
          <a:lstStyle/>
          <a:p>
            <a:pPr algn="l"/>
            <a:r>
              <a:rPr lang="en-SG" sz="1600" b="1" i="0" dirty="0">
                <a:solidFill>
                  <a:schemeClr val="tx2">
                    <a:lumMod val="10000"/>
                  </a:schemeClr>
                </a:solidFill>
                <a:effectLst/>
                <a:latin typeface="Calibri" panose="020F0502020204030204" pitchFamily="34" charset="0"/>
                <a:cs typeface="Calibri" panose="020F0502020204030204" pitchFamily="34" charset="0"/>
              </a:rPr>
              <a:t>Areas of Operations</a:t>
            </a:r>
          </a:p>
          <a:p>
            <a:pPr marL="139700" indent="0" algn="l"/>
            <a:r>
              <a:rPr lang="en-SG" sz="1200" b="0" i="0" dirty="0">
                <a:solidFill>
                  <a:schemeClr val="tx2">
                    <a:lumMod val="10000"/>
                  </a:schemeClr>
                </a:solidFill>
                <a:effectLst/>
                <a:latin typeface="Calibri" panose="020F0502020204030204" pitchFamily="34" charset="0"/>
                <a:cs typeface="Calibri" panose="020F0502020204030204" pitchFamily="34" charset="0"/>
              </a:rPr>
              <a:t>The main operations of ABC company is in Massachusetts, with a wide coverage around the United States from </a:t>
            </a:r>
            <a:r>
              <a:rPr lang="en-SG" sz="1200" b="0" i="0" dirty="0" err="1">
                <a:solidFill>
                  <a:schemeClr val="tx2">
                    <a:lumMod val="10000"/>
                  </a:schemeClr>
                </a:solidFill>
                <a:effectLst/>
                <a:latin typeface="Calibri" panose="020F0502020204030204" pitchFamily="34" charset="0"/>
                <a:cs typeface="Calibri" panose="020F0502020204030204" pitchFamily="34" charset="0"/>
              </a:rPr>
              <a:t>Maines</a:t>
            </a:r>
            <a:r>
              <a:rPr lang="en-SG" sz="1200" b="0" i="0" dirty="0">
                <a:solidFill>
                  <a:schemeClr val="tx2">
                    <a:lumMod val="10000"/>
                  </a:schemeClr>
                </a:solidFill>
                <a:effectLst/>
                <a:latin typeface="Calibri" panose="020F0502020204030204" pitchFamily="34" charset="0"/>
                <a:cs typeface="Calibri" panose="020F0502020204030204" pitchFamily="34" charset="0"/>
              </a:rPr>
              <a:t> to Washington. (Figure 1) Avenues to explore are common recruitment seasons across the year in Massachusetts and common employee turnover time in the state to improve retention strategies.</a:t>
            </a:r>
          </a:p>
          <a:p>
            <a:pPr marL="139700" indent="0" algn="l"/>
            <a:endParaRPr lang="en-SG" b="1" dirty="0">
              <a:solidFill>
                <a:schemeClr val="tx2">
                  <a:lumMod val="10000"/>
                </a:schemeClr>
              </a:solidFill>
              <a:latin typeface="Calibri" panose="020F0502020204030204" pitchFamily="34" charset="0"/>
              <a:cs typeface="Calibri" panose="020F0502020204030204" pitchFamily="34" charset="0"/>
            </a:endParaRPr>
          </a:p>
          <a:p>
            <a:pPr marL="139700" indent="0" algn="l"/>
            <a:r>
              <a:rPr lang="en-SG" sz="1600" b="1" i="0" dirty="0">
                <a:solidFill>
                  <a:schemeClr val="tx2">
                    <a:lumMod val="10000"/>
                  </a:schemeClr>
                </a:solidFill>
                <a:effectLst/>
                <a:latin typeface="Calibri" panose="020F0502020204030204" pitchFamily="34" charset="0"/>
                <a:cs typeface="Calibri" panose="020F0502020204030204" pitchFamily="34" charset="0"/>
              </a:rPr>
              <a:t>Retention</a:t>
            </a:r>
          </a:p>
          <a:p>
            <a:pPr marL="139700" indent="0" algn="l"/>
            <a:r>
              <a:rPr lang="en-SG" sz="1200" i="0" dirty="0">
                <a:solidFill>
                  <a:schemeClr val="tx2">
                    <a:lumMod val="10000"/>
                  </a:schemeClr>
                </a:solidFill>
                <a:effectLst/>
                <a:latin typeface="Calibri" panose="020F0502020204030204" pitchFamily="34" charset="0"/>
                <a:cs typeface="Calibri" panose="020F0502020204030204" pitchFamily="34" charset="0"/>
              </a:rPr>
              <a:t>ABC Company has retained 2/3 of its employee count since their start. Its retention rate is slightly lower meaning that there are avenues to tap into to reduce turnover.</a:t>
            </a:r>
            <a:endParaRPr dirty="0">
              <a:solidFill>
                <a:schemeClr val="tx2">
                  <a:lumMod val="10000"/>
                </a:schemeClr>
              </a:solidFill>
              <a:latin typeface="Calibri" panose="020F0502020204030204" pitchFamily="34" charset="0"/>
              <a:cs typeface="Calibri" panose="020F0502020204030204" pitchFamily="34" charset="0"/>
            </a:endParaRPr>
          </a:p>
        </p:txBody>
      </p:sp>
      <p:sp>
        <p:nvSpPr>
          <p:cNvPr id="419" name="Google Shape;419;p46"/>
          <p:cNvSpPr txBox="1">
            <a:spLocks noGrp="1"/>
          </p:cNvSpPr>
          <p:nvPr>
            <p:ph type="subTitle" idx="3"/>
          </p:nvPr>
        </p:nvSpPr>
        <p:spPr>
          <a:xfrm rot="5400000" flipH="1">
            <a:off x="7689005" y="2452950"/>
            <a:ext cx="22242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HR Analysis</a:t>
            </a:r>
            <a:endParaRPr dirty="0"/>
          </a:p>
        </p:txBody>
      </p:sp>
      <p:sp>
        <p:nvSpPr>
          <p:cNvPr id="6" name="Google Shape;421;p46">
            <a:extLst>
              <a:ext uri="{FF2B5EF4-FFF2-40B4-BE49-F238E27FC236}">
                <a16:creationId xmlns:a16="http://schemas.microsoft.com/office/drawing/2014/main" id="{B2D50451-277C-3A55-A982-52E8E5247BE8}"/>
              </a:ext>
            </a:extLst>
          </p:cNvPr>
          <p:cNvSpPr txBox="1">
            <a:spLocks/>
          </p:cNvSpPr>
          <p:nvPr/>
        </p:nvSpPr>
        <p:spPr>
          <a:xfrm>
            <a:off x="474951" y="0"/>
            <a:ext cx="3904565" cy="91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sz="4000" b="1" dirty="0">
                <a:solidFill>
                  <a:schemeClr val="tx2">
                    <a:lumMod val="50000"/>
                  </a:schemeClr>
                </a:solidFill>
              </a:rPr>
              <a:t>COMPANY</a:t>
            </a:r>
          </a:p>
        </p:txBody>
      </p:sp>
      <p:sp>
        <p:nvSpPr>
          <p:cNvPr id="7" name="Google Shape;422;p46">
            <a:extLst>
              <a:ext uri="{FF2B5EF4-FFF2-40B4-BE49-F238E27FC236}">
                <a16:creationId xmlns:a16="http://schemas.microsoft.com/office/drawing/2014/main" id="{44B5261C-461D-88C3-2C8E-7033D1F26526}"/>
              </a:ext>
            </a:extLst>
          </p:cNvPr>
          <p:cNvSpPr txBox="1">
            <a:spLocks/>
          </p:cNvSpPr>
          <p:nvPr/>
        </p:nvSpPr>
        <p:spPr>
          <a:xfrm>
            <a:off x="495087" y="458850"/>
            <a:ext cx="3572010" cy="179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dirty="0"/>
              <a:t>BACKGROUND</a:t>
            </a:r>
          </a:p>
        </p:txBody>
      </p:sp>
      <p:pic>
        <p:nvPicPr>
          <p:cNvPr id="5" name="Picture 4" descr="A map of the united states&#10;&#10;Description automatically generated">
            <a:extLst>
              <a:ext uri="{FF2B5EF4-FFF2-40B4-BE49-F238E27FC236}">
                <a16:creationId xmlns:a16="http://schemas.microsoft.com/office/drawing/2014/main" id="{DEF8CA86-37CD-D2BD-DD45-8374F0E35B4B}"/>
              </a:ext>
            </a:extLst>
          </p:cNvPr>
          <p:cNvPicPr>
            <a:picLocks noChangeAspect="1"/>
          </p:cNvPicPr>
          <p:nvPr/>
        </p:nvPicPr>
        <p:blipFill>
          <a:blip r:embed="rId3"/>
          <a:stretch>
            <a:fillRect/>
          </a:stretch>
        </p:blipFill>
        <p:spPr>
          <a:xfrm>
            <a:off x="229881" y="1062975"/>
            <a:ext cx="4149635" cy="2208499"/>
          </a:xfrm>
          <a:prstGeom prst="rect">
            <a:avLst/>
          </a:prstGeom>
        </p:spPr>
      </p:pic>
      <p:sp>
        <p:nvSpPr>
          <p:cNvPr id="19" name="Google Shape;329;p40">
            <a:extLst>
              <a:ext uri="{FF2B5EF4-FFF2-40B4-BE49-F238E27FC236}">
                <a16:creationId xmlns:a16="http://schemas.microsoft.com/office/drawing/2014/main" id="{71617CD0-FCEF-900B-5463-2EE4C587AE01}"/>
              </a:ext>
            </a:extLst>
          </p:cNvPr>
          <p:cNvSpPr txBox="1"/>
          <p:nvPr/>
        </p:nvSpPr>
        <p:spPr>
          <a:xfrm>
            <a:off x="396023" y="3537900"/>
            <a:ext cx="3770137" cy="291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2000" b="1" dirty="0">
                <a:solidFill>
                  <a:schemeClr val="dk1"/>
                </a:solidFill>
                <a:latin typeface="Cantata One"/>
                <a:ea typeface="Cantata One"/>
                <a:cs typeface="Cantata One"/>
                <a:sym typeface="Cantata One"/>
              </a:rPr>
              <a:t>RETENTION RATE</a:t>
            </a:r>
            <a:endParaRPr sz="2000" b="1" dirty="0">
              <a:solidFill>
                <a:schemeClr val="dk1"/>
              </a:solidFill>
              <a:latin typeface="Cantata One"/>
              <a:ea typeface="Cantata One"/>
              <a:cs typeface="Cantata One"/>
              <a:sym typeface="Cantata One"/>
            </a:endParaRPr>
          </a:p>
        </p:txBody>
      </p:sp>
      <p:sp>
        <p:nvSpPr>
          <p:cNvPr id="20" name="Google Shape;330;p40">
            <a:extLst>
              <a:ext uri="{FF2B5EF4-FFF2-40B4-BE49-F238E27FC236}">
                <a16:creationId xmlns:a16="http://schemas.microsoft.com/office/drawing/2014/main" id="{3D1C4BB4-FD76-B3C0-E0FE-29A3511202E9}"/>
              </a:ext>
            </a:extLst>
          </p:cNvPr>
          <p:cNvSpPr txBox="1"/>
          <p:nvPr/>
        </p:nvSpPr>
        <p:spPr>
          <a:xfrm>
            <a:off x="1142558" y="4087759"/>
            <a:ext cx="1001961" cy="448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2000" dirty="0">
                <a:solidFill>
                  <a:schemeClr val="dk1"/>
                </a:solidFill>
                <a:latin typeface="Cantata One"/>
                <a:ea typeface="Cantata One"/>
                <a:cs typeface="Cantata One"/>
                <a:sym typeface="Cantata One"/>
              </a:rPr>
              <a:t>67.3%</a:t>
            </a:r>
            <a:endParaRPr sz="2000" dirty="0">
              <a:solidFill>
                <a:schemeClr val="dk1"/>
              </a:solidFill>
              <a:latin typeface="Cantata One"/>
              <a:ea typeface="Cantata One"/>
              <a:cs typeface="Cantata One"/>
              <a:sym typeface="Cantata One"/>
            </a:endParaRPr>
          </a:p>
        </p:txBody>
      </p:sp>
      <p:sp>
        <p:nvSpPr>
          <p:cNvPr id="21" name="Google Shape;342;p40">
            <a:extLst>
              <a:ext uri="{FF2B5EF4-FFF2-40B4-BE49-F238E27FC236}">
                <a16:creationId xmlns:a16="http://schemas.microsoft.com/office/drawing/2014/main" id="{375B026D-C488-036C-627D-D193D2179FFB}"/>
              </a:ext>
            </a:extLst>
          </p:cNvPr>
          <p:cNvSpPr/>
          <p:nvPr/>
        </p:nvSpPr>
        <p:spPr>
          <a:xfrm>
            <a:off x="2304699" y="3961170"/>
            <a:ext cx="941100" cy="941100"/>
          </a:xfrm>
          <a:prstGeom prst="donut">
            <a:avLst>
              <a:gd name="adj" fmla="val 10194"/>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2" name="Google Shape;343;p40">
            <a:extLst>
              <a:ext uri="{FF2B5EF4-FFF2-40B4-BE49-F238E27FC236}">
                <a16:creationId xmlns:a16="http://schemas.microsoft.com/office/drawing/2014/main" id="{D1F5C3B6-D29D-2C11-7E50-93B8B61EBCA1}"/>
              </a:ext>
            </a:extLst>
          </p:cNvPr>
          <p:cNvSpPr/>
          <p:nvPr/>
        </p:nvSpPr>
        <p:spPr>
          <a:xfrm>
            <a:off x="2304699" y="3961170"/>
            <a:ext cx="941100" cy="941100"/>
          </a:xfrm>
          <a:prstGeom prst="blockArc">
            <a:avLst>
              <a:gd name="adj1" fmla="val 16167335"/>
              <a:gd name="adj2" fmla="val 8488694"/>
              <a:gd name="adj3" fmla="val 10092"/>
            </a:avLst>
          </a:prstGeom>
          <a:solidFill>
            <a:srgbClr val="E6913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 name="TextBox 22">
            <a:extLst>
              <a:ext uri="{FF2B5EF4-FFF2-40B4-BE49-F238E27FC236}">
                <a16:creationId xmlns:a16="http://schemas.microsoft.com/office/drawing/2014/main" id="{4325F493-D1FD-93B8-6FAC-D277E26A35DA}"/>
              </a:ext>
            </a:extLst>
          </p:cNvPr>
          <p:cNvSpPr txBox="1"/>
          <p:nvPr/>
        </p:nvSpPr>
        <p:spPr>
          <a:xfrm>
            <a:off x="999693" y="3222114"/>
            <a:ext cx="2610010" cy="276999"/>
          </a:xfrm>
          <a:prstGeom prst="rect">
            <a:avLst/>
          </a:prstGeom>
          <a:noFill/>
        </p:spPr>
        <p:txBody>
          <a:bodyPr wrap="none" rtlCol="0">
            <a:spAutoFit/>
          </a:bodyPr>
          <a:lstStyle/>
          <a:p>
            <a:r>
              <a:rPr lang="en-US" sz="1200" i="1" dirty="0">
                <a:latin typeface="Calibri" panose="020F0502020204030204" pitchFamily="34" charset="0"/>
                <a:cs typeface="Calibri" panose="020F0502020204030204" pitchFamily="34" charset="0"/>
              </a:rPr>
              <a:t>Figure 1: Heat Map of Employee Count</a:t>
            </a:r>
          </a:p>
        </p:txBody>
      </p:sp>
    </p:spTree>
    <p:extLst>
      <p:ext uri="{BB962C8B-B14F-4D97-AF65-F5344CB8AC3E}">
        <p14:creationId xmlns:p14="http://schemas.microsoft.com/office/powerpoint/2010/main" val="2218236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6"/>
          <p:cNvSpPr txBox="1">
            <a:spLocks noGrp="1"/>
          </p:cNvSpPr>
          <p:nvPr>
            <p:ph type="subTitle" idx="1"/>
          </p:nvPr>
        </p:nvSpPr>
        <p:spPr>
          <a:xfrm>
            <a:off x="4686620" y="144177"/>
            <a:ext cx="3967395" cy="4855145"/>
          </a:xfrm>
          <a:prstGeom prst="rect">
            <a:avLst/>
          </a:prstGeom>
        </p:spPr>
        <p:txBody>
          <a:bodyPr spcFirstLastPara="1" wrap="square" lIns="91425" tIns="91425" rIns="91425" bIns="91425" anchor="ctr" anchorCtr="0">
            <a:noAutofit/>
          </a:bodyPr>
          <a:lstStyle/>
          <a:p>
            <a:pPr marL="457200" lvl="1" indent="0" algn="l"/>
            <a:endParaRPr lang="en-SG" sz="1400" b="0" i="0" dirty="0">
              <a:solidFill>
                <a:schemeClr val="tx2">
                  <a:lumMod val="10000"/>
                </a:schemeClr>
              </a:solidFill>
              <a:effectLst/>
              <a:latin typeface="Calibri" panose="020F0502020204030204" pitchFamily="34" charset="0"/>
              <a:cs typeface="Calibri" panose="020F0502020204030204" pitchFamily="34" charset="0"/>
            </a:endParaRPr>
          </a:p>
          <a:p>
            <a:pPr marL="139700" indent="0" algn="l"/>
            <a:r>
              <a:rPr lang="en-SG" sz="1600" b="1" i="0" dirty="0">
                <a:solidFill>
                  <a:schemeClr val="tx2">
                    <a:lumMod val="10000"/>
                  </a:schemeClr>
                </a:solidFill>
                <a:effectLst/>
                <a:latin typeface="Calibri" panose="020F0502020204030204" pitchFamily="34" charset="0"/>
                <a:cs typeface="Calibri" panose="020F0502020204030204" pitchFamily="34" charset="0"/>
              </a:rPr>
              <a:t>Employee Age Distribution</a:t>
            </a:r>
            <a:endParaRPr lang="en-SG" sz="1600" b="0" i="0" dirty="0">
              <a:solidFill>
                <a:schemeClr val="tx2">
                  <a:lumMod val="10000"/>
                </a:schemeClr>
              </a:solidFill>
              <a:effectLst/>
              <a:latin typeface="Calibri" panose="020F0502020204030204" pitchFamily="34" charset="0"/>
              <a:cs typeface="Calibri" panose="020F0502020204030204" pitchFamily="34" charset="0"/>
            </a:endParaRPr>
          </a:p>
          <a:p>
            <a:pPr marL="139700" indent="0" algn="l"/>
            <a:r>
              <a:rPr lang="en-SG" sz="1200" b="0" i="0" dirty="0">
                <a:solidFill>
                  <a:schemeClr val="tx2">
                    <a:lumMod val="10000"/>
                  </a:schemeClr>
                </a:solidFill>
                <a:effectLst/>
                <a:latin typeface="Calibri" panose="020F0502020204030204" pitchFamily="34" charset="0"/>
                <a:cs typeface="Calibri" panose="020F0502020204030204" pitchFamily="34" charset="0"/>
              </a:rPr>
              <a:t>The current workforce in ABC Company mainly comprises of 30s to 50s, about 75%. (Figure 2) The minority age group in the company comprises of seniors aged 50s to 70s meaning that the company would face lesser issues with workforce planning and succession planning. However, the company should pay attention to its majorit</a:t>
            </a:r>
            <a:r>
              <a:rPr lang="en-SG" sz="1200" dirty="0">
                <a:solidFill>
                  <a:schemeClr val="tx2">
                    <a:lumMod val="10000"/>
                  </a:schemeClr>
                </a:solidFill>
                <a:latin typeface="Calibri" panose="020F0502020204030204" pitchFamily="34" charset="0"/>
                <a:cs typeface="Calibri" panose="020F0502020204030204" pitchFamily="34" charset="0"/>
              </a:rPr>
              <a:t>y of its distribution of 30s– 40s, as they often seek opportunities for career progression.</a:t>
            </a:r>
          </a:p>
          <a:p>
            <a:pPr marL="139700" indent="0" algn="l"/>
            <a:endParaRPr lang="en-SG" sz="1200" i="0" dirty="0">
              <a:solidFill>
                <a:schemeClr val="tx2">
                  <a:lumMod val="10000"/>
                </a:schemeClr>
              </a:solidFill>
              <a:effectLst/>
              <a:latin typeface="Calibri" panose="020F0502020204030204" pitchFamily="34" charset="0"/>
              <a:cs typeface="Calibri" panose="020F0502020204030204" pitchFamily="34" charset="0"/>
            </a:endParaRP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r>
              <a:rPr kumimoji="0" lang="en-SG" sz="1600" b="1"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rPr>
              <a:t>Gender Distribution</a:t>
            </a: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r>
              <a:rPr kumimoji="0" lang="en-SG" sz="1200" b="0"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rPr>
              <a:t>ABC company’s workforce</a:t>
            </a:r>
            <a:r>
              <a:rPr lang="en-SG" sz="1200" dirty="0">
                <a:solidFill>
                  <a:srgbClr val="EEEEEE">
                    <a:lumMod val="10000"/>
                  </a:srgbClr>
                </a:solidFill>
                <a:latin typeface="Calibri" panose="020F0502020204030204" pitchFamily="34" charset="0"/>
                <a:cs typeface="Calibri" panose="020F0502020204030204" pitchFamily="34" charset="0"/>
              </a:rPr>
              <a:t> comprises more female than male. Workforce planning in terms of maternity leave could be looked into.</a:t>
            </a:r>
            <a:endParaRPr kumimoji="0" lang="en-SG" sz="1200" b="0"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endParaRP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endParaRPr kumimoji="0" lang="en-SG" sz="1600" b="0"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endParaRP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r>
              <a:rPr kumimoji="0" lang="en-SG" sz="1600" b="1"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rPr>
              <a:t>Tenure Distribution</a:t>
            </a: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r>
              <a:rPr kumimoji="0" lang="en-SG" sz="1200" b="0"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rPr>
              <a:t>Half of the employees in ABC Company has worked for 2-4 years. (Figure 3) With very few employees in the 0-2 year tenure group which could hint that the company may not be hiring as many employees or highlight issues regarding early turnover.</a:t>
            </a: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endParaRPr kumimoji="0" lang="en-SG" sz="1600" b="0"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endParaRPr>
          </a:p>
          <a:p>
            <a:pPr marL="139700" indent="0" algn="l"/>
            <a:endParaRPr lang="en-SG" b="1" dirty="0">
              <a:solidFill>
                <a:schemeClr val="tx2">
                  <a:lumMod val="10000"/>
                </a:schemeClr>
              </a:solidFill>
              <a:latin typeface="Calibri" panose="020F0502020204030204" pitchFamily="34" charset="0"/>
              <a:cs typeface="Calibri" panose="020F0502020204030204" pitchFamily="34" charset="0"/>
            </a:endParaRPr>
          </a:p>
        </p:txBody>
      </p:sp>
      <p:sp>
        <p:nvSpPr>
          <p:cNvPr id="6" name="Google Shape;421;p46">
            <a:extLst>
              <a:ext uri="{FF2B5EF4-FFF2-40B4-BE49-F238E27FC236}">
                <a16:creationId xmlns:a16="http://schemas.microsoft.com/office/drawing/2014/main" id="{B2D50451-277C-3A55-A982-52E8E5247BE8}"/>
              </a:ext>
            </a:extLst>
          </p:cNvPr>
          <p:cNvSpPr txBox="1">
            <a:spLocks/>
          </p:cNvSpPr>
          <p:nvPr/>
        </p:nvSpPr>
        <p:spPr>
          <a:xfrm>
            <a:off x="461695" y="-60191"/>
            <a:ext cx="3904565" cy="91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sz="4000" b="1" dirty="0">
                <a:solidFill>
                  <a:schemeClr val="tx2">
                    <a:lumMod val="50000"/>
                  </a:schemeClr>
                </a:solidFill>
              </a:rPr>
              <a:t>EMPLOYEE</a:t>
            </a:r>
          </a:p>
        </p:txBody>
      </p:sp>
      <p:sp>
        <p:nvSpPr>
          <p:cNvPr id="7" name="Google Shape;422;p46">
            <a:extLst>
              <a:ext uri="{FF2B5EF4-FFF2-40B4-BE49-F238E27FC236}">
                <a16:creationId xmlns:a16="http://schemas.microsoft.com/office/drawing/2014/main" id="{44B5261C-461D-88C3-2C8E-7033D1F26526}"/>
              </a:ext>
            </a:extLst>
          </p:cNvPr>
          <p:cNvSpPr txBox="1">
            <a:spLocks/>
          </p:cNvSpPr>
          <p:nvPr/>
        </p:nvSpPr>
        <p:spPr>
          <a:xfrm>
            <a:off x="481830" y="398659"/>
            <a:ext cx="3823469" cy="5538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dirty="0"/>
              <a:t>DEMOGRAPHIC</a:t>
            </a:r>
          </a:p>
        </p:txBody>
      </p:sp>
      <p:pic>
        <p:nvPicPr>
          <p:cNvPr id="2" name="Picture 1" descr="A graph with numbers and a bar&#10;&#10;Description automatically generated">
            <a:extLst>
              <a:ext uri="{FF2B5EF4-FFF2-40B4-BE49-F238E27FC236}">
                <a16:creationId xmlns:a16="http://schemas.microsoft.com/office/drawing/2014/main" id="{59193431-47BF-F25D-A96B-6A8B7074DFE6}"/>
              </a:ext>
            </a:extLst>
          </p:cNvPr>
          <p:cNvPicPr>
            <a:picLocks noChangeAspect="1"/>
          </p:cNvPicPr>
          <p:nvPr/>
        </p:nvPicPr>
        <p:blipFill>
          <a:blip r:embed="rId3"/>
          <a:stretch>
            <a:fillRect/>
          </a:stretch>
        </p:blipFill>
        <p:spPr>
          <a:xfrm>
            <a:off x="224095" y="898111"/>
            <a:ext cx="1868678" cy="2038091"/>
          </a:xfrm>
          <a:prstGeom prst="rect">
            <a:avLst/>
          </a:prstGeom>
        </p:spPr>
      </p:pic>
      <p:pic>
        <p:nvPicPr>
          <p:cNvPr id="3" name="Picture 2" descr="A graph of different colored bars&#10;&#10;Description automatically generated">
            <a:extLst>
              <a:ext uri="{FF2B5EF4-FFF2-40B4-BE49-F238E27FC236}">
                <a16:creationId xmlns:a16="http://schemas.microsoft.com/office/drawing/2014/main" id="{7CF24BDB-088B-4FFA-779E-28E9045DFF0B}"/>
              </a:ext>
            </a:extLst>
          </p:cNvPr>
          <p:cNvPicPr>
            <a:picLocks noChangeAspect="1"/>
          </p:cNvPicPr>
          <p:nvPr/>
        </p:nvPicPr>
        <p:blipFill>
          <a:blip r:embed="rId4"/>
          <a:stretch>
            <a:fillRect/>
          </a:stretch>
        </p:blipFill>
        <p:spPr>
          <a:xfrm>
            <a:off x="281939" y="2913569"/>
            <a:ext cx="3294631" cy="2229931"/>
          </a:xfrm>
          <a:prstGeom prst="rect">
            <a:avLst/>
          </a:prstGeom>
        </p:spPr>
      </p:pic>
      <p:sp>
        <p:nvSpPr>
          <p:cNvPr id="4" name="TextBox 3">
            <a:extLst>
              <a:ext uri="{FF2B5EF4-FFF2-40B4-BE49-F238E27FC236}">
                <a16:creationId xmlns:a16="http://schemas.microsoft.com/office/drawing/2014/main" id="{D15EA09A-53DB-3699-6EFF-57D72310FA11}"/>
              </a:ext>
            </a:extLst>
          </p:cNvPr>
          <p:cNvSpPr txBox="1"/>
          <p:nvPr/>
        </p:nvSpPr>
        <p:spPr>
          <a:xfrm>
            <a:off x="1389143" y="1147988"/>
            <a:ext cx="688009" cy="276999"/>
          </a:xfrm>
          <a:prstGeom prst="rect">
            <a:avLst/>
          </a:prstGeom>
          <a:noFill/>
        </p:spPr>
        <p:txBody>
          <a:bodyPr wrap="none" rtlCol="0">
            <a:spAutoFit/>
          </a:bodyPr>
          <a:lstStyle/>
          <a:p>
            <a:r>
              <a:rPr lang="en-US" sz="1200" i="1" dirty="0">
                <a:latin typeface="Calibri" panose="020F0502020204030204" pitchFamily="34" charset="0"/>
                <a:cs typeface="Calibri" panose="020F0502020204030204" pitchFamily="34" charset="0"/>
              </a:rPr>
              <a:t>Figure 2</a:t>
            </a:r>
          </a:p>
        </p:txBody>
      </p:sp>
      <p:sp>
        <p:nvSpPr>
          <p:cNvPr id="17" name="Google Shape;333;p40">
            <a:extLst>
              <a:ext uri="{FF2B5EF4-FFF2-40B4-BE49-F238E27FC236}">
                <a16:creationId xmlns:a16="http://schemas.microsoft.com/office/drawing/2014/main" id="{96C05C49-2CF3-F41B-3461-473F92024CAD}"/>
              </a:ext>
            </a:extLst>
          </p:cNvPr>
          <p:cNvSpPr txBox="1"/>
          <p:nvPr/>
        </p:nvSpPr>
        <p:spPr>
          <a:xfrm>
            <a:off x="2056661" y="1715467"/>
            <a:ext cx="893885" cy="17379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dirty="0">
                <a:solidFill>
                  <a:schemeClr val="dk1"/>
                </a:solidFill>
                <a:latin typeface="Cabin"/>
                <a:ea typeface="Cabin"/>
                <a:cs typeface="Cabin"/>
                <a:sym typeface="Cabin"/>
              </a:rPr>
              <a:t>Female</a:t>
            </a:r>
            <a:endParaRPr dirty="0">
              <a:solidFill>
                <a:schemeClr val="dk1"/>
              </a:solidFill>
              <a:latin typeface="Cabin"/>
              <a:ea typeface="Cabin"/>
              <a:cs typeface="Cabin"/>
              <a:sym typeface="Cabin"/>
            </a:endParaRPr>
          </a:p>
        </p:txBody>
      </p:sp>
      <p:sp>
        <p:nvSpPr>
          <p:cNvPr id="23" name="Google Shape;335;p40">
            <a:extLst>
              <a:ext uri="{FF2B5EF4-FFF2-40B4-BE49-F238E27FC236}">
                <a16:creationId xmlns:a16="http://schemas.microsoft.com/office/drawing/2014/main" id="{3303BB7E-36D8-E0F2-5886-BF2470932B77}"/>
              </a:ext>
            </a:extLst>
          </p:cNvPr>
          <p:cNvSpPr txBox="1"/>
          <p:nvPr/>
        </p:nvSpPr>
        <p:spPr>
          <a:xfrm>
            <a:off x="2095832" y="2139356"/>
            <a:ext cx="566561" cy="17379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dirty="0">
                <a:solidFill>
                  <a:schemeClr val="dk1"/>
                </a:solidFill>
                <a:latin typeface="Cabin"/>
                <a:ea typeface="Cabin"/>
                <a:cs typeface="Cabin"/>
                <a:sym typeface="Cabin"/>
              </a:rPr>
              <a:t>Male</a:t>
            </a:r>
            <a:endParaRPr dirty="0">
              <a:solidFill>
                <a:schemeClr val="dk1"/>
              </a:solidFill>
              <a:latin typeface="Cabin"/>
              <a:ea typeface="Cabin"/>
              <a:cs typeface="Cabin"/>
              <a:sym typeface="Cabin"/>
            </a:endParaRPr>
          </a:p>
        </p:txBody>
      </p:sp>
      <p:sp>
        <p:nvSpPr>
          <p:cNvPr id="24" name="Google Shape;336;p40">
            <a:extLst>
              <a:ext uri="{FF2B5EF4-FFF2-40B4-BE49-F238E27FC236}">
                <a16:creationId xmlns:a16="http://schemas.microsoft.com/office/drawing/2014/main" id="{56672669-B156-EC00-67F4-A1842238D131}"/>
              </a:ext>
            </a:extLst>
          </p:cNvPr>
          <p:cNvSpPr/>
          <p:nvPr/>
        </p:nvSpPr>
        <p:spPr>
          <a:xfrm>
            <a:off x="2749539" y="1720063"/>
            <a:ext cx="1178816" cy="173796"/>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5" name="Google Shape;337;p40">
            <a:extLst>
              <a:ext uri="{FF2B5EF4-FFF2-40B4-BE49-F238E27FC236}">
                <a16:creationId xmlns:a16="http://schemas.microsoft.com/office/drawing/2014/main" id="{5B7DFC98-B986-0E1C-E0BB-0BCF378451A6}"/>
              </a:ext>
            </a:extLst>
          </p:cNvPr>
          <p:cNvSpPr/>
          <p:nvPr/>
        </p:nvSpPr>
        <p:spPr>
          <a:xfrm>
            <a:off x="2749539" y="1720066"/>
            <a:ext cx="694069" cy="173796"/>
          </a:xfrm>
          <a:prstGeom prst="rect">
            <a:avLst/>
          </a:prstGeom>
          <a:solidFill>
            <a:srgbClr val="C500BD"/>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 name="Google Shape;338;p40">
            <a:extLst>
              <a:ext uri="{FF2B5EF4-FFF2-40B4-BE49-F238E27FC236}">
                <a16:creationId xmlns:a16="http://schemas.microsoft.com/office/drawing/2014/main" id="{0D931E01-66E8-CDEB-0C59-F5BA7B8058AA}"/>
              </a:ext>
            </a:extLst>
          </p:cNvPr>
          <p:cNvSpPr/>
          <p:nvPr/>
        </p:nvSpPr>
        <p:spPr>
          <a:xfrm>
            <a:off x="2749539" y="2141564"/>
            <a:ext cx="1178816" cy="173796"/>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7" name="Google Shape;339;p40">
            <a:extLst>
              <a:ext uri="{FF2B5EF4-FFF2-40B4-BE49-F238E27FC236}">
                <a16:creationId xmlns:a16="http://schemas.microsoft.com/office/drawing/2014/main" id="{ADE23955-4ED5-DFBC-87A5-3E7AB96F0210}"/>
              </a:ext>
            </a:extLst>
          </p:cNvPr>
          <p:cNvSpPr/>
          <p:nvPr/>
        </p:nvSpPr>
        <p:spPr>
          <a:xfrm>
            <a:off x="2749539" y="2141541"/>
            <a:ext cx="566561" cy="173796"/>
          </a:xfrm>
          <a:prstGeom prst="rect">
            <a:avLst/>
          </a:prstGeom>
          <a:solidFill>
            <a:srgbClr val="0070C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 name="Google Shape;340;p40">
            <a:extLst>
              <a:ext uri="{FF2B5EF4-FFF2-40B4-BE49-F238E27FC236}">
                <a16:creationId xmlns:a16="http://schemas.microsoft.com/office/drawing/2014/main" id="{373E551F-04B8-380D-A190-F32B5F24A011}"/>
              </a:ext>
            </a:extLst>
          </p:cNvPr>
          <p:cNvSpPr txBox="1"/>
          <p:nvPr/>
        </p:nvSpPr>
        <p:spPr>
          <a:xfrm>
            <a:off x="3930160" y="1715467"/>
            <a:ext cx="788518" cy="17415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1800" dirty="0">
                <a:solidFill>
                  <a:schemeClr val="dk1"/>
                </a:solidFill>
                <a:latin typeface="Cantata One"/>
                <a:ea typeface="Cantata One"/>
                <a:cs typeface="Cantata One"/>
                <a:sym typeface="Cantata One"/>
              </a:rPr>
              <a:t>57%</a:t>
            </a:r>
            <a:endParaRPr sz="1800" dirty="0">
              <a:solidFill>
                <a:schemeClr val="dk1"/>
              </a:solidFill>
              <a:latin typeface="Cantata One"/>
              <a:ea typeface="Cantata One"/>
              <a:cs typeface="Cantata One"/>
              <a:sym typeface="Cantata One"/>
            </a:endParaRPr>
          </a:p>
        </p:txBody>
      </p:sp>
      <p:sp>
        <p:nvSpPr>
          <p:cNvPr id="29" name="Google Shape;341;p40">
            <a:extLst>
              <a:ext uri="{FF2B5EF4-FFF2-40B4-BE49-F238E27FC236}">
                <a16:creationId xmlns:a16="http://schemas.microsoft.com/office/drawing/2014/main" id="{101719CB-E86B-67EC-3CB9-3BB75854AF96}"/>
              </a:ext>
            </a:extLst>
          </p:cNvPr>
          <p:cNvSpPr txBox="1"/>
          <p:nvPr/>
        </p:nvSpPr>
        <p:spPr>
          <a:xfrm>
            <a:off x="3928355" y="2069170"/>
            <a:ext cx="929640" cy="32766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1800" dirty="0">
                <a:solidFill>
                  <a:schemeClr val="dk1"/>
                </a:solidFill>
                <a:latin typeface="Cantata One"/>
                <a:ea typeface="Cantata One"/>
                <a:cs typeface="Cantata One"/>
                <a:sym typeface="Cantata One"/>
              </a:rPr>
              <a:t>43%</a:t>
            </a:r>
            <a:endParaRPr sz="1800" dirty="0">
              <a:solidFill>
                <a:schemeClr val="dk1"/>
              </a:solidFill>
              <a:latin typeface="Cantata One"/>
              <a:ea typeface="Cantata One"/>
              <a:cs typeface="Cantata One"/>
              <a:sym typeface="Cantata One"/>
            </a:endParaRPr>
          </a:p>
        </p:txBody>
      </p:sp>
      <p:sp>
        <p:nvSpPr>
          <p:cNvPr id="30" name="TextBox 29">
            <a:extLst>
              <a:ext uri="{FF2B5EF4-FFF2-40B4-BE49-F238E27FC236}">
                <a16:creationId xmlns:a16="http://schemas.microsoft.com/office/drawing/2014/main" id="{5A0C8F63-BE4C-F540-56DD-8229C5F9B972}"/>
              </a:ext>
            </a:extLst>
          </p:cNvPr>
          <p:cNvSpPr txBox="1"/>
          <p:nvPr/>
        </p:nvSpPr>
        <p:spPr>
          <a:xfrm>
            <a:off x="2919567" y="4090990"/>
            <a:ext cx="1652433" cy="461665"/>
          </a:xfrm>
          <a:prstGeom prst="rect">
            <a:avLst/>
          </a:prstGeom>
          <a:noFill/>
        </p:spPr>
        <p:txBody>
          <a:bodyPr wrap="square" rtlCol="0">
            <a:spAutoFit/>
          </a:bodyPr>
          <a:lstStyle/>
          <a:p>
            <a:pPr algn="ctr"/>
            <a:r>
              <a:rPr lang="en-US" sz="1200" i="1" dirty="0">
                <a:latin typeface="Calibri" panose="020F0502020204030204" pitchFamily="34" charset="0"/>
                <a:cs typeface="Calibri" panose="020F0502020204030204" pitchFamily="34" charset="0"/>
              </a:rPr>
              <a:t>Figure 3: Tenure of Employees</a:t>
            </a:r>
          </a:p>
        </p:txBody>
      </p:sp>
      <p:sp>
        <p:nvSpPr>
          <p:cNvPr id="32" name="TextBox 31">
            <a:extLst>
              <a:ext uri="{FF2B5EF4-FFF2-40B4-BE49-F238E27FC236}">
                <a16:creationId xmlns:a16="http://schemas.microsoft.com/office/drawing/2014/main" id="{836FF8BC-430D-4E32-B786-29B0AEF1283A}"/>
              </a:ext>
            </a:extLst>
          </p:cNvPr>
          <p:cNvSpPr txBox="1"/>
          <p:nvPr/>
        </p:nvSpPr>
        <p:spPr>
          <a:xfrm>
            <a:off x="7080116" y="4881890"/>
            <a:ext cx="1664238" cy="253916"/>
          </a:xfrm>
          <a:prstGeom prst="rect">
            <a:avLst/>
          </a:prstGeom>
          <a:noFill/>
        </p:spPr>
        <p:txBody>
          <a:bodyPr wrap="none" rtlCol="0">
            <a:spAutoFit/>
          </a:bodyPr>
          <a:lstStyle/>
          <a:p>
            <a:r>
              <a:rPr lang="en-US" sz="1050" dirty="0"/>
              <a:t>*Current employees only</a:t>
            </a:r>
          </a:p>
        </p:txBody>
      </p:sp>
      <p:sp>
        <p:nvSpPr>
          <p:cNvPr id="10" name="Google Shape;419;p46">
            <a:extLst>
              <a:ext uri="{FF2B5EF4-FFF2-40B4-BE49-F238E27FC236}">
                <a16:creationId xmlns:a16="http://schemas.microsoft.com/office/drawing/2014/main" id="{1047E92D-234B-D378-329C-91DCFA8A3F48}"/>
              </a:ext>
            </a:extLst>
          </p:cNvPr>
          <p:cNvSpPr txBox="1">
            <a:spLocks/>
          </p:cNvSpPr>
          <p:nvPr/>
        </p:nvSpPr>
        <p:spPr>
          <a:xfrm rot="5400000" flipH="1">
            <a:off x="7689005" y="2452950"/>
            <a:ext cx="2224200" cy="23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rgbClr val="000000"/>
              </a:buClr>
              <a:buSzPts val="1000"/>
              <a:buFont typeface="Cabin"/>
              <a:buNone/>
              <a:defRPr sz="1000" b="1"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2pPr>
            <a:lvl3pPr marL="1371600" marR="0" lvl="2"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3pPr>
            <a:lvl4pPr marL="1828800" marR="0" lvl="3"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4pPr>
            <a:lvl5pPr marL="2286000" marR="0" lvl="4"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5pPr>
            <a:lvl6pPr marL="2743200" marR="0" lvl="5"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6pPr>
            <a:lvl7pPr marL="3200400" marR="0" lvl="6"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7pPr>
            <a:lvl8pPr marL="3657600" marR="0" lvl="7"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8pPr>
            <a:lvl9pPr marL="4114800" marR="0" lvl="8"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9pPr>
          </a:lstStyle>
          <a:p>
            <a:pPr marL="0" indent="0"/>
            <a:r>
              <a:rPr lang="en-SG"/>
              <a:t>HR Analysis</a:t>
            </a:r>
            <a:endParaRPr lang="en-SG" dirty="0"/>
          </a:p>
        </p:txBody>
      </p:sp>
    </p:spTree>
    <p:extLst>
      <p:ext uri="{BB962C8B-B14F-4D97-AF65-F5344CB8AC3E}">
        <p14:creationId xmlns:p14="http://schemas.microsoft.com/office/powerpoint/2010/main" val="209816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6"/>
          <p:cNvSpPr txBox="1">
            <a:spLocks noGrp="1"/>
          </p:cNvSpPr>
          <p:nvPr>
            <p:ph type="subTitle" idx="1"/>
          </p:nvPr>
        </p:nvSpPr>
        <p:spPr>
          <a:xfrm>
            <a:off x="4694775" y="144177"/>
            <a:ext cx="3967395" cy="4855145"/>
          </a:xfrm>
          <a:prstGeom prst="rect">
            <a:avLst/>
          </a:prstGeom>
        </p:spPr>
        <p:txBody>
          <a:bodyPr spcFirstLastPara="1" wrap="square" lIns="91425" tIns="91425" rIns="91425" bIns="91425" anchor="ctr" anchorCtr="0">
            <a:noAutofit/>
          </a:bodyPr>
          <a:lstStyle/>
          <a:p>
            <a:r>
              <a:rPr lang="en-SG" sz="1600" b="1" i="0" dirty="0">
                <a:solidFill>
                  <a:schemeClr val="tx2">
                    <a:lumMod val="10000"/>
                  </a:schemeClr>
                </a:solidFill>
                <a:effectLst/>
                <a:latin typeface="Calibri" panose="020F0502020204030204" pitchFamily="34" charset="0"/>
                <a:cs typeface="Calibri" panose="020F0502020204030204" pitchFamily="34" charset="0"/>
              </a:rPr>
              <a:t>Years with Rapid Expansion</a:t>
            </a:r>
          </a:p>
          <a:p>
            <a:pPr marL="139700" indent="0"/>
            <a:r>
              <a:rPr lang="en-SG" sz="1200" b="0" i="0" dirty="0">
                <a:solidFill>
                  <a:schemeClr val="tx2">
                    <a:lumMod val="10000"/>
                  </a:schemeClr>
                </a:solidFill>
                <a:effectLst/>
                <a:latin typeface="Calibri" panose="020F0502020204030204" pitchFamily="34" charset="0"/>
                <a:cs typeface="Calibri" panose="020F0502020204030204" pitchFamily="34" charset="0"/>
              </a:rPr>
              <a:t>The company experienced significant hiring in certain years, indicating rapid expansion phases. Particularly notable are:</a:t>
            </a:r>
          </a:p>
          <a:p>
            <a:pPr marL="742950" lvl="1" indent="-285750" algn="l">
              <a:buFont typeface="Arial" panose="020B0604020202020204" pitchFamily="34" charset="0"/>
              <a:buChar char="•"/>
            </a:pPr>
            <a:r>
              <a:rPr lang="en-SG" sz="1200" b="1" i="0" dirty="0">
                <a:solidFill>
                  <a:schemeClr val="tx2">
                    <a:lumMod val="10000"/>
                  </a:schemeClr>
                </a:solidFill>
                <a:effectLst/>
                <a:latin typeface="Calibri" panose="020F0502020204030204" pitchFamily="34" charset="0"/>
                <a:cs typeface="Calibri" panose="020F0502020204030204" pitchFamily="34" charset="0"/>
              </a:rPr>
              <a:t>2011</a:t>
            </a:r>
            <a:r>
              <a:rPr lang="en-SG" sz="1200" b="0" i="0" dirty="0">
                <a:solidFill>
                  <a:schemeClr val="tx2">
                    <a:lumMod val="10000"/>
                  </a:schemeClr>
                </a:solidFill>
                <a:effectLst/>
                <a:latin typeface="Calibri" panose="020F0502020204030204" pitchFamily="34" charset="0"/>
                <a:cs typeface="Calibri" panose="020F0502020204030204" pitchFamily="34" charset="0"/>
              </a:rPr>
              <a:t>: A substantial increase with </a:t>
            </a:r>
            <a:r>
              <a:rPr lang="en-SG" sz="1200" b="0" i="0" u="sng" dirty="0">
                <a:solidFill>
                  <a:schemeClr val="tx2">
                    <a:lumMod val="10000"/>
                  </a:schemeClr>
                </a:solidFill>
                <a:effectLst/>
                <a:latin typeface="Calibri" panose="020F0502020204030204" pitchFamily="34" charset="0"/>
                <a:cs typeface="Calibri" panose="020F0502020204030204" pitchFamily="34" charset="0"/>
              </a:rPr>
              <a:t>84</a:t>
            </a:r>
            <a:r>
              <a:rPr lang="en-SG" sz="1200" b="0" i="0" dirty="0">
                <a:solidFill>
                  <a:schemeClr val="tx2">
                    <a:lumMod val="10000"/>
                  </a:schemeClr>
                </a:solidFill>
                <a:effectLst/>
                <a:latin typeface="Calibri" panose="020F0502020204030204" pitchFamily="34" charset="0"/>
                <a:cs typeface="Calibri" panose="020F0502020204030204" pitchFamily="34" charset="0"/>
              </a:rPr>
              <a:t> hires.</a:t>
            </a:r>
          </a:p>
          <a:p>
            <a:pPr marL="742950" lvl="1" indent="-285750" algn="l">
              <a:buFont typeface="Arial" panose="020B0604020202020204" pitchFamily="34" charset="0"/>
              <a:buChar char="•"/>
            </a:pPr>
            <a:r>
              <a:rPr lang="en-SG" sz="1200" b="1" i="0" dirty="0">
                <a:solidFill>
                  <a:schemeClr val="tx2">
                    <a:lumMod val="10000"/>
                  </a:schemeClr>
                </a:solidFill>
                <a:effectLst/>
                <a:latin typeface="Calibri" panose="020F0502020204030204" pitchFamily="34" charset="0"/>
                <a:cs typeface="Calibri" panose="020F0502020204030204" pitchFamily="34" charset="0"/>
              </a:rPr>
              <a:t>2012 &amp; 2013</a:t>
            </a:r>
            <a:r>
              <a:rPr lang="en-SG" sz="1200" b="0" i="0" dirty="0">
                <a:solidFill>
                  <a:schemeClr val="tx2">
                    <a:lumMod val="10000"/>
                  </a:schemeClr>
                </a:solidFill>
                <a:effectLst/>
                <a:latin typeface="Calibri" panose="020F0502020204030204" pitchFamily="34" charset="0"/>
                <a:cs typeface="Calibri" panose="020F0502020204030204" pitchFamily="34" charset="0"/>
              </a:rPr>
              <a:t>: Consistently high hiring with </a:t>
            </a:r>
            <a:r>
              <a:rPr lang="en-SG" sz="1200" b="0" i="0" u="sng" dirty="0">
                <a:solidFill>
                  <a:schemeClr val="tx2">
                    <a:lumMod val="10000"/>
                  </a:schemeClr>
                </a:solidFill>
                <a:effectLst/>
                <a:latin typeface="Calibri" panose="020F0502020204030204" pitchFamily="34" charset="0"/>
                <a:cs typeface="Calibri" panose="020F0502020204030204" pitchFamily="34" charset="0"/>
              </a:rPr>
              <a:t>44</a:t>
            </a:r>
            <a:r>
              <a:rPr lang="en-SG" sz="1200" b="0" i="0" dirty="0">
                <a:solidFill>
                  <a:schemeClr val="tx2">
                    <a:lumMod val="10000"/>
                  </a:schemeClr>
                </a:solidFill>
                <a:effectLst/>
                <a:latin typeface="Calibri" panose="020F0502020204030204" pitchFamily="34" charset="0"/>
                <a:cs typeface="Calibri" panose="020F0502020204030204" pitchFamily="34" charset="0"/>
              </a:rPr>
              <a:t> hires each year.</a:t>
            </a:r>
          </a:p>
          <a:p>
            <a:pPr marL="742950" lvl="1" indent="-285750" algn="l">
              <a:buFont typeface="Arial" panose="020B0604020202020204" pitchFamily="34" charset="0"/>
              <a:buChar char="•"/>
            </a:pPr>
            <a:r>
              <a:rPr lang="en-SG" sz="1200" b="1" i="0" dirty="0">
                <a:solidFill>
                  <a:schemeClr val="tx2">
                    <a:lumMod val="10000"/>
                  </a:schemeClr>
                </a:solidFill>
                <a:effectLst/>
                <a:latin typeface="Calibri" panose="020F0502020204030204" pitchFamily="34" charset="0"/>
                <a:cs typeface="Calibri" panose="020F0502020204030204" pitchFamily="34" charset="0"/>
              </a:rPr>
              <a:t>2014</a:t>
            </a:r>
            <a:r>
              <a:rPr lang="en-SG" sz="1200" b="0" i="0" dirty="0">
                <a:solidFill>
                  <a:schemeClr val="tx2">
                    <a:lumMod val="10000"/>
                  </a:schemeClr>
                </a:solidFill>
                <a:effectLst/>
                <a:latin typeface="Calibri" panose="020F0502020204030204" pitchFamily="34" charset="0"/>
                <a:cs typeface="Calibri" panose="020F0502020204030204" pitchFamily="34" charset="0"/>
              </a:rPr>
              <a:t>: Another peak with </a:t>
            </a:r>
            <a:r>
              <a:rPr lang="en-SG" sz="1200" b="0" i="0" u="sng" dirty="0">
                <a:solidFill>
                  <a:schemeClr val="tx2">
                    <a:lumMod val="10000"/>
                  </a:schemeClr>
                </a:solidFill>
                <a:effectLst/>
                <a:latin typeface="Calibri" panose="020F0502020204030204" pitchFamily="34" charset="0"/>
                <a:cs typeface="Calibri" panose="020F0502020204030204" pitchFamily="34" charset="0"/>
              </a:rPr>
              <a:t>60</a:t>
            </a:r>
            <a:r>
              <a:rPr lang="en-SG" sz="1200" b="0" i="0" dirty="0">
                <a:solidFill>
                  <a:schemeClr val="tx2">
                    <a:lumMod val="10000"/>
                  </a:schemeClr>
                </a:solidFill>
                <a:effectLst/>
                <a:latin typeface="Calibri" panose="020F0502020204030204" pitchFamily="34" charset="0"/>
                <a:cs typeface="Calibri" panose="020F0502020204030204" pitchFamily="34" charset="0"/>
              </a:rPr>
              <a:t> hires.</a:t>
            </a:r>
          </a:p>
          <a:p>
            <a:pPr marL="457200" lvl="1" indent="0" algn="l"/>
            <a:endParaRPr lang="en-SG" sz="1400" b="0" i="0" dirty="0">
              <a:solidFill>
                <a:schemeClr val="tx2">
                  <a:lumMod val="10000"/>
                </a:schemeClr>
              </a:solidFill>
              <a:effectLst/>
              <a:latin typeface="Calibri" panose="020F0502020204030204" pitchFamily="34" charset="0"/>
              <a:cs typeface="Calibri" panose="020F0502020204030204" pitchFamily="34" charset="0"/>
            </a:endParaRPr>
          </a:p>
          <a:p>
            <a:pPr marL="139700" indent="0"/>
            <a:r>
              <a:rPr lang="en-SG" sz="1600" b="1" i="0" dirty="0">
                <a:solidFill>
                  <a:schemeClr val="tx2">
                    <a:lumMod val="10000"/>
                  </a:schemeClr>
                </a:solidFill>
                <a:effectLst/>
                <a:latin typeface="Calibri" panose="020F0502020204030204" pitchFamily="34" charset="0"/>
                <a:cs typeface="Calibri" panose="020F0502020204030204" pitchFamily="34" charset="0"/>
              </a:rPr>
              <a:t>Other Years</a:t>
            </a:r>
            <a:r>
              <a:rPr lang="en-SG" sz="1600" b="0" i="0" dirty="0">
                <a:solidFill>
                  <a:schemeClr val="tx2">
                    <a:lumMod val="10000"/>
                  </a:schemeClr>
                </a:solidFill>
                <a:effectLst/>
                <a:latin typeface="Calibri" panose="020F0502020204030204" pitchFamily="34" charset="0"/>
                <a:cs typeface="Calibri" panose="020F0502020204030204" pitchFamily="34" charset="0"/>
              </a:rPr>
              <a:t> </a:t>
            </a:r>
          </a:p>
          <a:p>
            <a:pPr marL="139700" indent="0"/>
            <a:r>
              <a:rPr lang="en-SG" sz="1200" b="0" i="0" dirty="0">
                <a:solidFill>
                  <a:schemeClr val="tx2">
                    <a:lumMod val="10000"/>
                  </a:schemeClr>
                </a:solidFill>
                <a:effectLst/>
                <a:latin typeface="Calibri" panose="020F0502020204030204" pitchFamily="34" charset="0"/>
                <a:cs typeface="Calibri" panose="020F0502020204030204" pitchFamily="34" charset="0"/>
              </a:rPr>
              <a:t>Before </a:t>
            </a:r>
            <a:r>
              <a:rPr lang="en-SG" sz="1200" b="1" i="0" dirty="0">
                <a:solidFill>
                  <a:schemeClr val="tx2">
                    <a:lumMod val="10000"/>
                  </a:schemeClr>
                </a:solidFill>
                <a:effectLst/>
                <a:latin typeface="Calibri" panose="020F0502020204030204" pitchFamily="34" charset="0"/>
                <a:cs typeface="Calibri" panose="020F0502020204030204" pitchFamily="34" charset="0"/>
              </a:rPr>
              <a:t>2011</a:t>
            </a:r>
            <a:r>
              <a:rPr lang="en-SG" sz="1200" b="0" i="0" dirty="0">
                <a:solidFill>
                  <a:schemeClr val="tx2">
                    <a:lumMod val="10000"/>
                  </a:schemeClr>
                </a:solidFill>
                <a:effectLst/>
                <a:latin typeface="Calibri" panose="020F0502020204030204" pitchFamily="34" charset="0"/>
                <a:cs typeface="Calibri" panose="020F0502020204030204" pitchFamily="34" charset="0"/>
              </a:rPr>
              <a:t>, the hiring numbers were relatively low, suggesting a smaller scale of operations or a stable workforce with less turnover.</a:t>
            </a:r>
          </a:p>
          <a:p>
            <a:pPr marL="139700" indent="0"/>
            <a:endParaRPr lang="en-SG" sz="1200" dirty="0">
              <a:solidFill>
                <a:schemeClr val="tx2">
                  <a:lumMod val="10000"/>
                </a:schemeClr>
              </a:solidFill>
              <a:latin typeface="Calibri" panose="020F0502020204030204" pitchFamily="34" charset="0"/>
              <a:cs typeface="Calibri" panose="020F0502020204030204" pitchFamily="34" charset="0"/>
            </a:endParaRPr>
          </a:p>
          <a:p>
            <a:pPr marL="139700" indent="0"/>
            <a:r>
              <a:rPr lang="en-SG" sz="1200" b="0" i="0" dirty="0">
                <a:solidFill>
                  <a:schemeClr val="tx2">
                    <a:lumMod val="10000"/>
                  </a:schemeClr>
                </a:solidFill>
                <a:effectLst/>
                <a:latin typeface="Calibri" panose="020F0502020204030204" pitchFamily="34" charset="0"/>
                <a:cs typeface="Calibri" panose="020F0502020204030204" pitchFamily="34" charset="0"/>
              </a:rPr>
              <a:t>After </a:t>
            </a:r>
            <a:r>
              <a:rPr lang="en-SG" sz="1200" b="1" i="0" dirty="0">
                <a:solidFill>
                  <a:schemeClr val="tx2">
                    <a:lumMod val="10000"/>
                  </a:schemeClr>
                </a:solidFill>
                <a:effectLst/>
                <a:latin typeface="Calibri" panose="020F0502020204030204" pitchFamily="34" charset="0"/>
                <a:cs typeface="Calibri" panose="020F0502020204030204" pitchFamily="34" charset="0"/>
              </a:rPr>
              <a:t>2014, </a:t>
            </a:r>
            <a:r>
              <a:rPr lang="en-SG" sz="1200" i="0" dirty="0">
                <a:solidFill>
                  <a:schemeClr val="tx2">
                    <a:lumMod val="10000"/>
                  </a:schemeClr>
                </a:solidFill>
                <a:effectLst/>
                <a:latin typeface="Calibri" panose="020F0502020204030204" pitchFamily="34" charset="0"/>
                <a:cs typeface="Calibri" panose="020F0502020204030204" pitchFamily="34" charset="0"/>
              </a:rPr>
              <a:t>slower expansion rate and could indicate that hiring goal was to fill in gaps identified in teams.</a:t>
            </a:r>
          </a:p>
          <a:p>
            <a:pPr marL="139700" indent="0"/>
            <a:endParaRPr lang="en-SG" b="1" dirty="0">
              <a:solidFill>
                <a:schemeClr val="tx2">
                  <a:lumMod val="10000"/>
                </a:schemeClr>
              </a:solidFill>
              <a:latin typeface="Calibri" panose="020F0502020204030204" pitchFamily="34" charset="0"/>
              <a:cs typeface="Calibri" panose="020F0502020204030204" pitchFamily="34" charset="0"/>
            </a:endParaRPr>
          </a:p>
          <a:p>
            <a:pPr marL="139700" indent="0"/>
            <a:r>
              <a:rPr lang="en-SG" sz="1600" b="1" i="0" dirty="0">
                <a:solidFill>
                  <a:schemeClr val="tx2">
                    <a:lumMod val="10000"/>
                  </a:schemeClr>
                </a:solidFill>
                <a:effectLst/>
                <a:latin typeface="Calibri" panose="020F0502020204030204" pitchFamily="34" charset="0"/>
                <a:cs typeface="Calibri" panose="020F0502020204030204" pitchFamily="34" charset="0"/>
              </a:rPr>
              <a:t>Current Trend 2017</a:t>
            </a:r>
          </a:p>
          <a:p>
            <a:pPr marL="139700" indent="0"/>
            <a:r>
              <a:rPr lang="en-SG" sz="1200" dirty="0">
                <a:solidFill>
                  <a:schemeClr val="tx2">
                    <a:lumMod val="10000"/>
                  </a:schemeClr>
                </a:solidFill>
                <a:latin typeface="Calibri" panose="020F0502020204030204" pitchFamily="34" charset="0"/>
                <a:cs typeface="Calibri" panose="020F0502020204030204" pitchFamily="34" charset="0"/>
              </a:rPr>
              <a:t>Company isn’t expanding as quickly as compared to possible 2011-2014. With the expansion of the BI team, the company could be looking at finding newer avenues in their market to tap into and expand further.</a:t>
            </a:r>
            <a:endParaRPr lang="en-SG" sz="1200" i="0" dirty="0">
              <a:solidFill>
                <a:schemeClr val="tx2">
                  <a:lumMod val="10000"/>
                </a:schemeClr>
              </a:solidFill>
              <a:effectLst/>
              <a:latin typeface="Calibri" panose="020F0502020204030204" pitchFamily="34" charset="0"/>
              <a:cs typeface="Calibri" panose="020F0502020204030204" pitchFamily="34" charset="0"/>
            </a:endParaRPr>
          </a:p>
        </p:txBody>
      </p:sp>
      <p:sp>
        <p:nvSpPr>
          <p:cNvPr id="419" name="Google Shape;419;p46"/>
          <p:cNvSpPr txBox="1">
            <a:spLocks noGrp="1"/>
          </p:cNvSpPr>
          <p:nvPr>
            <p:ph type="subTitle" idx="3"/>
          </p:nvPr>
        </p:nvSpPr>
        <p:spPr>
          <a:xfrm rot="5400000" flipH="1">
            <a:off x="7689005" y="2452950"/>
            <a:ext cx="22242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sp>
        <p:nvSpPr>
          <p:cNvPr id="421" name="Google Shape;421;p46"/>
          <p:cNvSpPr txBox="1">
            <a:spLocks noGrp="1"/>
          </p:cNvSpPr>
          <p:nvPr>
            <p:ph type="title" idx="4294967295"/>
          </p:nvPr>
        </p:nvSpPr>
        <p:spPr>
          <a:xfrm>
            <a:off x="461695" y="-60191"/>
            <a:ext cx="5133702" cy="91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b="1" dirty="0">
                <a:solidFill>
                  <a:schemeClr val="tx2">
                    <a:lumMod val="50000"/>
                  </a:schemeClr>
                </a:solidFill>
              </a:rPr>
              <a:t>TREND</a:t>
            </a:r>
            <a:endParaRPr sz="4800" b="1" dirty="0">
              <a:solidFill>
                <a:schemeClr val="tx2">
                  <a:lumMod val="50000"/>
                </a:schemeClr>
              </a:solidFill>
            </a:endParaRPr>
          </a:p>
        </p:txBody>
      </p:sp>
      <p:sp>
        <p:nvSpPr>
          <p:cNvPr id="422" name="Google Shape;422;p46"/>
          <p:cNvSpPr txBox="1">
            <a:spLocks noGrp="1"/>
          </p:cNvSpPr>
          <p:nvPr>
            <p:ph type="title"/>
          </p:nvPr>
        </p:nvSpPr>
        <p:spPr>
          <a:xfrm>
            <a:off x="481830" y="562950"/>
            <a:ext cx="2992890" cy="179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RATE OF EXPANSION</a:t>
            </a:r>
            <a:endParaRPr dirty="0"/>
          </a:p>
        </p:txBody>
      </p:sp>
      <p:pic>
        <p:nvPicPr>
          <p:cNvPr id="12" name="Picture 11" descr="A graph with numbers and lines&#10;&#10;Description automatically generated">
            <a:extLst>
              <a:ext uri="{FF2B5EF4-FFF2-40B4-BE49-F238E27FC236}">
                <a16:creationId xmlns:a16="http://schemas.microsoft.com/office/drawing/2014/main" id="{02C8387B-3210-157E-9009-B271DFC6F54A}"/>
              </a:ext>
            </a:extLst>
          </p:cNvPr>
          <p:cNvPicPr>
            <a:picLocks noChangeAspect="1"/>
          </p:cNvPicPr>
          <p:nvPr/>
        </p:nvPicPr>
        <p:blipFill>
          <a:blip r:embed="rId3"/>
          <a:stretch>
            <a:fillRect/>
          </a:stretch>
        </p:blipFill>
        <p:spPr>
          <a:xfrm>
            <a:off x="142802" y="1580262"/>
            <a:ext cx="4306424" cy="35098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6"/>
          <p:cNvSpPr txBox="1">
            <a:spLocks noGrp="1"/>
          </p:cNvSpPr>
          <p:nvPr>
            <p:ph type="subTitle" idx="1"/>
          </p:nvPr>
        </p:nvSpPr>
        <p:spPr>
          <a:xfrm>
            <a:off x="4686620" y="144177"/>
            <a:ext cx="3967395" cy="4855145"/>
          </a:xfrm>
          <a:prstGeom prst="rect">
            <a:avLst/>
          </a:prstGeom>
        </p:spPr>
        <p:txBody>
          <a:bodyPr spcFirstLastPara="1" wrap="square" lIns="91425" tIns="91425" rIns="91425" bIns="91425" anchor="ctr" anchorCtr="0">
            <a:noAutofit/>
          </a:bodyPr>
          <a:lstStyle/>
          <a:p>
            <a:pPr marL="457200" lvl="1" indent="0" algn="l"/>
            <a:endParaRPr lang="en-SG" sz="1400" b="0" i="0" dirty="0">
              <a:solidFill>
                <a:schemeClr val="tx2">
                  <a:lumMod val="10000"/>
                </a:schemeClr>
              </a:solidFill>
              <a:effectLst/>
              <a:latin typeface="Calibri" panose="020F0502020204030204" pitchFamily="34" charset="0"/>
              <a:cs typeface="Calibri" panose="020F0502020204030204" pitchFamily="34" charset="0"/>
            </a:endParaRPr>
          </a:p>
          <a:p>
            <a:pPr marL="139700" indent="0" algn="l"/>
            <a:r>
              <a:rPr lang="en-SG" sz="1600" b="1" i="0" dirty="0">
                <a:solidFill>
                  <a:schemeClr val="tx2">
                    <a:lumMod val="10000"/>
                  </a:schemeClr>
                </a:solidFill>
                <a:effectLst/>
                <a:latin typeface="Calibri" panose="020F0502020204030204" pitchFamily="34" charset="0"/>
                <a:cs typeface="Calibri" panose="020F0502020204030204" pitchFamily="34" charset="0"/>
              </a:rPr>
              <a:t>Employee Performance Distribution</a:t>
            </a:r>
            <a:endParaRPr lang="en-SG" sz="1600" b="0" i="0" dirty="0">
              <a:solidFill>
                <a:schemeClr val="tx2">
                  <a:lumMod val="10000"/>
                </a:schemeClr>
              </a:solidFill>
              <a:effectLst/>
              <a:latin typeface="Calibri" panose="020F0502020204030204" pitchFamily="34" charset="0"/>
              <a:cs typeface="Calibri" panose="020F0502020204030204" pitchFamily="34" charset="0"/>
            </a:endParaRPr>
          </a:p>
          <a:p>
            <a:pPr marL="139700" indent="0"/>
            <a:r>
              <a:rPr lang="en-SG" sz="1200" dirty="0">
                <a:solidFill>
                  <a:schemeClr val="tx2">
                    <a:lumMod val="10000"/>
                  </a:schemeClr>
                </a:solidFill>
                <a:latin typeface="Calibri" panose="020F0502020204030204" pitchFamily="34" charset="0"/>
                <a:cs typeface="Calibri" panose="020F0502020204030204" pitchFamily="34" charset="0"/>
              </a:rPr>
              <a:t>A significant proportion of ABC Company's workforce, approximately 80% (Figure 5), demonstrates commendable performance levels, ranging from meeting expectations within 90 days to achieving exceptional results. With a good segregation of performance for the upper echelon, exceeds with close to 10% and exception for top 5%. </a:t>
            </a:r>
          </a:p>
          <a:p>
            <a:pPr marL="139700" indent="0" algn="l"/>
            <a:endParaRPr lang="en-SG" sz="1200" dirty="0">
              <a:solidFill>
                <a:schemeClr val="tx2">
                  <a:lumMod val="10000"/>
                </a:schemeClr>
              </a:solidFill>
              <a:latin typeface="Calibri" panose="020F0502020204030204" pitchFamily="34" charset="0"/>
              <a:cs typeface="Calibri" panose="020F0502020204030204" pitchFamily="34" charset="0"/>
            </a:endParaRPr>
          </a:p>
          <a:p>
            <a:pPr marL="139700" indent="0" algn="l"/>
            <a:r>
              <a:rPr lang="en-SG" sz="1200" dirty="0">
                <a:solidFill>
                  <a:schemeClr val="tx2">
                    <a:lumMod val="10000"/>
                  </a:schemeClr>
                </a:solidFill>
                <a:latin typeface="Calibri" panose="020F0502020204030204" pitchFamily="34" charset="0"/>
                <a:cs typeface="Calibri" panose="020F0502020204030204" pitchFamily="34" charset="0"/>
              </a:rPr>
              <a:t>In terms of employees with poor performance, there are only about 6%. While this distribution generally reflects a positive trend of strong employee performance, it also raises the possibility of bias within the evaluation system.</a:t>
            </a:r>
          </a:p>
          <a:p>
            <a:pPr marL="139700" marR="0" lvl="0" indent="0" algn="l" defTabSz="914400" rtl="0" eaLnBrk="1" fontAlgn="auto" latinLnBrk="0" hangingPunct="1">
              <a:lnSpc>
                <a:spcPct val="100000"/>
              </a:lnSpc>
              <a:spcBef>
                <a:spcPts val="0"/>
              </a:spcBef>
              <a:spcAft>
                <a:spcPts val="0"/>
              </a:spcAft>
              <a:buClr>
                <a:srgbClr val="353535"/>
              </a:buClr>
              <a:buSzPts val="1900"/>
              <a:buFont typeface="Cabin"/>
              <a:buNone/>
              <a:tabLst/>
              <a:defRPr/>
            </a:pPr>
            <a:endParaRPr kumimoji="0" lang="en-SG" sz="1600" b="0" i="0" u="none" strike="noStrike" kern="0" cap="none" spc="0" normalizeH="0" baseline="0" noProof="0" dirty="0">
              <a:ln>
                <a:noFill/>
              </a:ln>
              <a:solidFill>
                <a:srgbClr val="EEEEEE">
                  <a:lumMod val="10000"/>
                </a:srgbClr>
              </a:solidFill>
              <a:effectLst/>
              <a:uLnTx/>
              <a:uFillTx/>
              <a:latin typeface="Calibri" panose="020F0502020204030204" pitchFamily="34" charset="0"/>
              <a:cs typeface="Calibri" panose="020F0502020204030204" pitchFamily="34" charset="0"/>
              <a:sym typeface="Cabin"/>
            </a:endParaRPr>
          </a:p>
          <a:p>
            <a:pPr marL="139700" indent="0" algn="l"/>
            <a:endParaRPr lang="en-SG" b="1" dirty="0">
              <a:solidFill>
                <a:schemeClr val="tx2">
                  <a:lumMod val="10000"/>
                </a:schemeClr>
              </a:solidFill>
              <a:latin typeface="Calibri" panose="020F0502020204030204" pitchFamily="34" charset="0"/>
              <a:cs typeface="Calibri" panose="020F0502020204030204" pitchFamily="34" charset="0"/>
            </a:endParaRPr>
          </a:p>
        </p:txBody>
      </p:sp>
      <p:sp>
        <p:nvSpPr>
          <p:cNvPr id="419" name="Google Shape;419;p46"/>
          <p:cNvSpPr txBox="1">
            <a:spLocks noGrp="1"/>
          </p:cNvSpPr>
          <p:nvPr>
            <p:ph type="subTitle" idx="3"/>
          </p:nvPr>
        </p:nvSpPr>
        <p:spPr>
          <a:xfrm rot="5400000" flipH="1">
            <a:off x="7689005" y="2452950"/>
            <a:ext cx="22242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sp>
        <p:nvSpPr>
          <p:cNvPr id="6" name="Google Shape;421;p46">
            <a:extLst>
              <a:ext uri="{FF2B5EF4-FFF2-40B4-BE49-F238E27FC236}">
                <a16:creationId xmlns:a16="http://schemas.microsoft.com/office/drawing/2014/main" id="{B2D50451-277C-3A55-A982-52E8E5247BE8}"/>
              </a:ext>
            </a:extLst>
          </p:cNvPr>
          <p:cNvSpPr txBox="1">
            <a:spLocks/>
          </p:cNvSpPr>
          <p:nvPr/>
        </p:nvSpPr>
        <p:spPr>
          <a:xfrm>
            <a:off x="461695" y="-60191"/>
            <a:ext cx="3904565" cy="91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sz="4000" b="1" dirty="0">
                <a:solidFill>
                  <a:schemeClr val="tx2">
                    <a:lumMod val="50000"/>
                  </a:schemeClr>
                </a:solidFill>
              </a:rPr>
              <a:t>EMPLOYEE</a:t>
            </a:r>
          </a:p>
        </p:txBody>
      </p:sp>
      <p:sp>
        <p:nvSpPr>
          <p:cNvPr id="7" name="Google Shape;422;p46">
            <a:extLst>
              <a:ext uri="{FF2B5EF4-FFF2-40B4-BE49-F238E27FC236}">
                <a16:creationId xmlns:a16="http://schemas.microsoft.com/office/drawing/2014/main" id="{44B5261C-461D-88C3-2C8E-7033D1F26526}"/>
              </a:ext>
            </a:extLst>
          </p:cNvPr>
          <p:cNvSpPr txBox="1">
            <a:spLocks/>
          </p:cNvSpPr>
          <p:nvPr/>
        </p:nvSpPr>
        <p:spPr>
          <a:xfrm>
            <a:off x="481830" y="398659"/>
            <a:ext cx="3823469" cy="5538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dirty="0"/>
              <a:t>PERFORMANCE</a:t>
            </a:r>
          </a:p>
        </p:txBody>
      </p:sp>
      <p:sp>
        <p:nvSpPr>
          <p:cNvPr id="30" name="TextBox 29">
            <a:extLst>
              <a:ext uri="{FF2B5EF4-FFF2-40B4-BE49-F238E27FC236}">
                <a16:creationId xmlns:a16="http://schemas.microsoft.com/office/drawing/2014/main" id="{5A0C8F63-BE4C-F540-56DD-8229C5F9B972}"/>
              </a:ext>
            </a:extLst>
          </p:cNvPr>
          <p:cNvSpPr txBox="1"/>
          <p:nvPr/>
        </p:nvSpPr>
        <p:spPr>
          <a:xfrm>
            <a:off x="2652866" y="3860549"/>
            <a:ext cx="1652433" cy="400110"/>
          </a:xfrm>
          <a:prstGeom prst="rect">
            <a:avLst/>
          </a:prstGeom>
          <a:noFill/>
        </p:spPr>
        <p:txBody>
          <a:bodyPr wrap="square" rtlCol="0">
            <a:spAutoFit/>
          </a:bodyPr>
          <a:lstStyle/>
          <a:p>
            <a:pPr algn="ctr"/>
            <a:r>
              <a:rPr lang="en-US" sz="1000" i="1" dirty="0">
                <a:latin typeface="Calibri" panose="020F0502020204030204" pitchFamily="34" charset="0"/>
                <a:cs typeface="Calibri" panose="020F0502020204030204" pitchFamily="34" charset="0"/>
              </a:rPr>
              <a:t>Figure 5: Grouped Employee Performance</a:t>
            </a:r>
          </a:p>
        </p:txBody>
      </p:sp>
      <p:sp>
        <p:nvSpPr>
          <p:cNvPr id="32" name="TextBox 31">
            <a:extLst>
              <a:ext uri="{FF2B5EF4-FFF2-40B4-BE49-F238E27FC236}">
                <a16:creationId xmlns:a16="http://schemas.microsoft.com/office/drawing/2014/main" id="{836FF8BC-430D-4E32-B786-29B0AEF1283A}"/>
              </a:ext>
            </a:extLst>
          </p:cNvPr>
          <p:cNvSpPr txBox="1"/>
          <p:nvPr/>
        </p:nvSpPr>
        <p:spPr>
          <a:xfrm>
            <a:off x="7080116" y="4881890"/>
            <a:ext cx="1664238" cy="253916"/>
          </a:xfrm>
          <a:prstGeom prst="rect">
            <a:avLst/>
          </a:prstGeom>
          <a:noFill/>
        </p:spPr>
        <p:txBody>
          <a:bodyPr wrap="none" rtlCol="0">
            <a:spAutoFit/>
          </a:bodyPr>
          <a:lstStyle/>
          <a:p>
            <a:r>
              <a:rPr lang="en-US" sz="1050" dirty="0"/>
              <a:t>*Current employees only</a:t>
            </a:r>
          </a:p>
        </p:txBody>
      </p:sp>
      <p:pic>
        <p:nvPicPr>
          <p:cNvPr id="9" name="Picture 8" descr="A graph with numbers and a bar&#10;&#10;Description automatically generated">
            <a:extLst>
              <a:ext uri="{FF2B5EF4-FFF2-40B4-BE49-F238E27FC236}">
                <a16:creationId xmlns:a16="http://schemas.microsoft.com/office/drawing/2014/main" id="{8047390B-1C3F-583E-F779-B3A51DBBB223}"/>
              </a:ext>
            </a:extLst>
          </p:cNvPr>
          <p:cNvPicPr>
            <a:picLocks noChangeAspect="1"/>
          </p:cNvPicPr>
          <p:nvPr/>
        </p:nvPicPr>
        <p:blipFill>
          <a:blip r:embed="rId3"/>
          <a:stretch>
            <a:fillRect/>
          </a:stretch>
        </p:blipFill>
        <p:spPr>
          <a:xfrm>
            <a:off x="296056" y="952500"/>
            <a:ext cx="3004305" cy="2049780"/>
          </a:xfrm>
          <a:prstGeom prst="rect">
            <a:avLst/>
          </a:prstGeom>
        </p:spPr>
      </p:pic>
      <p:sp>
        <p:nvSpPr>
          <p:cNvPr id="10" name="TextBox 9">
            <a:extLst>
              <a:ext uri="{FF2B5EF4-FFF2-40B4-BE49-F238E27FC236}">
                <a16:creationId xmlns:a16="http://schemas.microsoft.com/office/drawing/2014/main" id="{826B7054-5DDD-4188-41EB-2631AB1685F8}"/>
              </a:ext>
            </a:extLst>
          </p:cNvPr>
          <p:cNvSpPr txBox="1"/>
          <p:nvPr/>
        </p:nvSpPr>
        <p:spPr>
          <a:xfrm>
            <a:off x="3034187" y="1682344"/>
            <a:ext cx="1652433" cy="400110"/>
          </a:xfrm>
          <a:prstGeom prst="rect">
            <a:avLst/>
          </a:prstGeom>
          <a:noFill/>
        </p:spPr>
        <p:txBody>
          <a:bodyPr wrap="square" rtlCol="0">
            <a:spAutoFit/>
          </a:bodyPr>
          <a:lstStyle/>
          <a:p>
            <a:pPr algn="ctr"/>
            <a:r>
              <a:rPr lang="en-US" sz="1000" i="1" dirty="0">
                <a:latin typeface="Calibri" panose="020F0502020204030204" pitchFamily="34" charset="0"/>
                <a:cs typeface="Calibri" panose="020F0502020204030204" pitchFamily="34" charset="0"/>
              </a:rPr>
              <a:t>Figure 4: Employee Performance</a:t>
            </a:r>
          </a:p>
        </p:txBody>
      </p:sp>
      <p:pic>
        <p:nvPicPr>
          <p:cNvPr id="3" name="Picture 2" descr="A green circle with a red triangle and a red triangle&#10;&#10;Description automatically generated">
            <a:extLst>
              <a:ext uri="{FF2B5EF4-FFF2-40B4-BE49-F238E27FC236}">
                <a16:creationId xmlns:a16="http://schemas.microsoft.com/office/drawing/2014/main" id="{54973012-CBB8-671D-04EB-A86FF87A4252}"/>
              </a:ext>
            </a:extLst>
          </p:cNvPr>
          <p:cNvPicPr>
            <a:picLocks noChangeAspect="1"/>
          </p:cNvPicPr>
          <p:nvPr/>
        </p:nvPicPr>
        <p:blipFill>
          <a:blip r:embed="rId4"/>
          <a:stretch>
            <a:fillRect/>
          </a:stretch>
        </p:blipFill>
        <p:spPr>
          <a:xfrm>
            <a:off x="403836" y="2971076"/>
            <a:ext cx="2280698" cy="2164730"/>
          </a:xfrm>
          <a:prstGeom prst="rect">
            <a:avLst/>
          </a:prstGeom>
        </p:spPr>
      </p:pic>
    </p:spTree>
    <p:extLst>
      <p:ext uri="{BB962C8B-B14F-4D97-AF65-F5344CB8AC3E}">
        <p14:creationId xmlns:p14="http://schemas.microsoft.com/office/powerpoint/2010/main" val="4056681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p:nvPr/>
        </p:nvSpPr>
        <p:spPr>
          <a:xfrm>
            <a:off x="-9526" y="532800"/>
            <a:ext cx="5861681"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txBox="1">
            <a:spLocks noGrp="1"/>
          </p:cNvSpPr>
          <p:nvPr>
            <p:ph type="title" idx="2"/>
          </p:nvPr>
        </p:nvSpPr>
        <p:spPr>
          <a:xfrm>
            <a:off x="872400" y="1295425"/>
            <a:ext cx="4347300" cy="138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02</a:t>
            </a:r>
            <a:endParaRPr dirty="0">
              <a:solidFill>
                <a:schemeClr val="lt1"/>
              </a:solidFill>
            </a:endParaRPr>
          </a:p>
        </p:txBody>
      </p:sp>
      <p:sp>
        <p:nvSpPr>
          <p:cNvPr id="405" name="Google Shape;405;p45"/>
          <p:cNvSpPr txBox="1">
            <a:spLocks noGrp="1"/>
          </p:cNvSpPr>
          <p:nvPr>
            <p:ph type="title"/>
          </p:nvPr>
        </p:nvSpPr>
        <p:spPr>
          <a:xfrm>
            <a:off x="1501050" y="2122300"/>
            <a:ext cx="3871050" cy="11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RECRUITMENT SOURCE</a:t>
            </a:r>
            <a:endParaRPr dirty="0"/>
          </a:p>
        </p:txBody>
      </p:sp>
      <p:sp>
        <p:nvSpPr>
          <p:cNvPr id="406" name="Google Shape;406;p45"/>
          <p:cNvSpPr txBox="1">
            <a:spLocks noGrp="1"/>
          </p:cNvSpPr>
          <p:nvPr>
            <p:ph type="subTitle" idx="1"/>
          </p:nvPr>
        </p:nvSpPr>
        <p:spPr>
          <a:xfrm>
            <a:off x="1501050" y="3141500"/>
            <a:ext cx="3634830" cy="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i="1" dirty="0">
                <a:solidFill>
                  <a:schemeClr val="tx2">
                    <a:lumMod val="50000"/>
                  </a:schemeClr>
                </a:solidFill>
              </a:rPr>
              <a:t>What are the best recruitment sources for this company to use?</a:t>
            </a:r>
          </a:p>
        </p:txBody>
      </p:sp>
      <p:sp>
        <p:nvSpPr>
          <p:cNvPr id="407" name="Google Shape;407;p45"/>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www.slidesgo.com</a:t>
            </a:r>
            <a:endParaRPr>
              <a:solidFill>
                <a:schemeClr val="lt1"/>
              </a:solidFill>
            </a:endParaRPr>
          </a:p>
        </p:txBody>
      </p:sp>
      <p:sp>
        <p:nvSpPr>
          <p:cNvPr id="408" name="Google Shape;408;p45"/>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cxnSp>
        <p:nvCxnSpPr>
          <p:cNvPr id="409" name="Google Shape;409;p4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410" name="Google Shape;410;p4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
        <p:nvSpPr>
          <p:cNvPr id="411" name="Google Shape;411;p45"/>
          <p:cNvSpPr/>
          <p:nvPr/>
        </p:nvSpPr>
        <p:spPr>
          <a:xfrm rot="5400000">
            <a:off x="6328283" y="2488787"/>
            <a:ext cx="3952860" cy="165926"/>
          </a:xfrm>
          <a:prstGeom prst="rect">
            <a:avLst/>
          </a:prstGeom>
        </p:spPr>
        <p:txBody>
          <a:bodyPr>
            <a:prstTxWarp prst="textPlain">
              <a:avLst/>
            </a:prstTxWarp>
          </a:bodyPr>
          <a:lstStyle/>
          <a:p>
            <a:pPr lvl="0" algn="ctr"/>
            <a:r>
              <a:rPr b="1" i="0">
                <a:ln>
                  <a:noFill/>
                </a:ln>
                <a:solidFill>
                  <a:schemeClr val="lt1"/>
                </a:solidFill>
                <a:latin typeface="Cabin"/>
              </a:rPr>
              <a:t>-HUMAN RESOURCES DEVELOPMENT-</a:t>
            </a:r>
          </a:p>
        </p:txBody>
      </p:sp>
      <p:sp>
        <p:nvSpPr>
          <p:cNvPr id="412" name="Google Shape;412;p45"/>
          <p:cNvSpPr/>
          <p:nvPr/>
        </p:nvSpPr>
        <p:spPr>
          <a:xfrm rot="-5400000" flipH="1">
            <a:off x="6480683" y="2488787"/>
            <a:ext cx="3952860" cy="165926"/>
          </a:xfrm>
          <a:prstGeom prst="rect">
            <a:avLst/>
          </a:prstGeom>
        </p:spPr>
        <p:txBody>
          <a:bodyPr>
            <a:prstTxWarp prst="textPlain">
              <a:avLst/>
            </a:prstTxWarp>
          </a:bodyPr>
          <a:lstStyle/>
          <a:p>
            <a:pPr lvl="0" algn="ctr"/>
            <a:r>
              <a:rPr b="1" i="0" dirty="0">
                <a:ln>
                  <a:noFill/>
                </a:ln>
                <a:solidFill>
                  <a:srgbClr val="FFFCFC">
                    <a:alpha val="23210"/>
                  </a:srgbClr>
                </a:solidFill>
                <a:latin typeface="Cabin"/>
              </a:rPr>
              <a:t>-HUMAN RESOURCES DEVELOPMENT-</a:t>
            </a:r>
          </a:p>
        </p:txBody>
      </p:sp>
    </p:spTree>
    <p:extLst>
      <p:ext uri="{BB962C8B-B14F-4D97-AF65-F5344CB8AC3E}">
        <p14:creationId xmlns:p14="http://schemas.microsoft.com/office/powerpoint/2010/main" val="2172268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aphicFrame>
        <p:nvGraphicFramePr>
          <p:cNvPr id="35" name="Google Shape;571;p52">
            <a:extLst>
              <a:ext uri="{FF2B5EF4-FFF2-40B4-BE49-F238E27FC236}">
                <a16:creationId xmlns:a16="http://schemas.microsoft.com/office/drawing/2014/main" id="{5D7FCBB9-52BA-B120-0CF5-7641FAF5070E}"/>
              </a:ext>
            </a:extLst>
          </p:cNvPr>
          <p:cNvGraphicFramePr/>
          <p:nvPr>
            <p:extLst>
              <p:ext uri="{D42A27DB-BD31-4B8C-83A1-F6EECF244321}">
                <p14:modId xmlns:p14="http://schemas.microsoft.com/office/powerpoint/2010/main" val="1915928571"/>
              </p:ext>
            </p:extLst>
          </p:nvPr>
        </p:nvGraphicFramePr>
        <p:xfrm>
          <a:off x="1118903" y="1120387"/>
          <a:ext cx="6827520" cy="3383220"/>
        </p:xfrm>
        <a:graphic>
          <a:graphicData uri="http://schemas.openxmlformats.org/drawingml/2006/table">
            <a:tbl>
              <a:tblPr>
                <a:noFill/>
                <a:tableStyleId>{2676F118-9BFB-4D4D-A44F-59667A32F612}</a:tableStyleId>
              </a:tblPr>
              <a:tblGrid>
                <a:gridCol w="3413760">
                  <a:extLst>
                    <a:ext uri="{9D8B030D-6E8A-4147-A177-3AD203B41FA5}">
                      <a16:colId xmlns:a16="http://schemas.microsoft.com/office/drawing/2014/main" val="20000"/>
                    </a:ext>
                  </a:extLst>
                </a:gridCol>
                <a:gridCol w="3413760">
                  <a:extLst>
                    <a:ext uri="{9D8B030D-6E8A-4147-A177-3AD203B41FA5}">
                      <a16:colId xmlns:a16="http://schemas.microsoft.com/office/drawing/2014/main" val="20001"/>
                    </a:ext>
                  </a:extLst>
                </a:gridCol>
              </a:tblGrid>
              <a:tr h="600075">
                <a:tc>
                  <a:txBody>
                    <a:bodyPr/>
                    <a:lstStyle/>
                    <a:p>
                      <a:pPr marL="0" lvl="0" indent="0" algn="ctr" rtl="0">
                        <a:spcBef>
                          <a:spcPts val="0"/>
                        </a:spcBef>
                        <a:spcAft>
                          <a:spcPts val="0"/>
                        </a:spcAft>
                        <a:buClr>
                          <a:srgbClr val="000000"/>
                        </a:buClr>
                        <a:buSzPts val="1100"/>
                        <a:buFont typeface="Arial"/>
                        <a:buNone/>
                      </a:pPr>
                      <a:r>
                        <a:rPr lang="en" sz="2200" b="1" dirty="0">
                          <a:solidFill>
                            <a:schemeClr val="dk1"/>
                          </a:solidFill>
                          <a:latin typeface="Cantata One"/>
                          <a:ea typeface="Cantata One"/>
                          <a:cs typeface="Cantata One"/>
                          <a:sym typeface="Cantata One"/>
                        </a:rPr>
                        <a:t>COST EFFECTIVE</a:t>
                      </a:r>
                      <a:endParaRPr sz="2200" b="1" dirty="0">
                        <a:solidFill>
                          <a:schemeClr val="dk1"/>
                        </a:solidFill>
                        <a:latin typeface="Cantata One"/>
                        <a:ea typeface="Cantata One"/>
                        <a:cs typeface="Cantata One"/>
                        <a:sym typeface="Cantata One"/>
                      </a:endParaRPr>
                    </a:p>
                  </a:txBody>
                  <a:tcPr marL="91425" marR="91425" marT="91425" marB="91425" anchor="ctr">
                    <a:lnL w="9525" cap="flat" cmpd="sng">
                      <a:solidFill>
                        <a:srgbClr val="FFFAEC">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FFFAEC">
                          <a:alpha val="0"/>
                        </a:srgbClr>
                      </a:solidFill>
                      <a:prstDash val="solid"/>
                      <a:round/>
                      <a:headEnd type="none" w="sm" len="sm"/>
                      <a:tailEnd type="none" w="sm" len="sm"/>
                    </a:lnT>
                    <a:lnB w="9525" cap="flat" cmpd="sng">
                      <a:solidFill>
                        <a:srgbClr val="FFFAEC">
                          <a:alpha val="0"/>
                        </a:srgbClr>
                      </a:solidFill>
                      <a:prstDash val="solid"/>
                      <a:round/>
                      <a:headEnd type="none" w="sm" len="sm"/>
                      <a:tailEnd type="none" w="sm" len="sm"/>
                    </a:lnB>
                    <a:solidFill>
                      <a:schemeClr val="bg2">
                        <a:lumMod val="90000"/>
                      </a:schemeClr>
                    </a:solidFill>
                  </a:tcPr>
                </a:tc>
                <a:tc>
                  <a:txBody>
                    <a:bodyPr/>
                    <a:lstStyle/>
                    <a:p>
                      <a:pPr marL="0" lvl="0" indent="0" algn="ctr" rtl="0">
                        <a:spcBef>
                          <a:spcPts val="0"/>
                        </a:spcBef>
                        <a:spcAft>
                          <a:spcPts val="0"/>
                        </a:spcAft>
                        <a:buNone/>
                      </a:pPr>
                      <a:r>
                        <a:rPr lang="en" sz="2200" b="1" dirty="0">
                          <a:solidFill>
                            <a:schemeClr val="dk1"/>
                          </a:solidFill>
                          <a:latin typeface="Cantata One"/>
                          <a:ea typeface="Cantata One"/>
                          <a:cs typeface="Cantata One"/>
                          <a:sym typeface="Cantata One"/>
                        </a:rPr>
                        <a:t>PERFORMANCE OF HIRES</a:t>
                      </a:r>
                      <a:endParaRPr sz="2200" b="1" dirty="0">
                        <a:solidFill>
                          <a:schemeClr val="dk1"/>
                        </a:solidFill>
                        <a:latin typeface="Cantata One"/>
                        <a:ea typeface="Cantata One"/>
                        <a:cs typeface="Cantata One"/>
                        <a:sym typeface="Canta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FFFAEC">
                          <a:alpha val="0"/>
                        </a:srgbClr>
                      </a:solidFill>
                      <a:prstDash val="solid"/>
                      <a:round/>
                      <a:headEnd type="none" w="sm" len="sm"/>
                      <a:tailEnd type="none" w="sm" len="sm"/>
                    </a:lnT>
                    <a:lnB w="9525" cap="flat" cmpd="sng">
                      <a:noFill/>
                      <a:prstDash val="solid"/>
                      <a:round/>
                      <a:headEnd type="none" w="sm" len="sm"/>
                      <a:tailEnd type="none" w="sm" len="sm"/>
                    </a:lnB>
                    <a:solidFill>
                      <a:schemeClr val="bg2">
                        <a:lumMod val="90000"/>
                      </a:schemeClr>
                    </a:solidFill>
                  </a:tcPr>
                </a:tc>
                <a:extLst>
                  <a:ext uri="{0D108BD9-81ED-4DB2-BD59-A6C34878D82A}">
                    <a16:rowId xmlns:a16="http://schemas.microsoft.com/office/drawing/2014/main" val="10000"/>
                  </a:ext>
                </a:extLst>
              </a:tr>
              <a:tr h="2207225">
                <a:tc>
                  <a:txBody>
                    <a:bodyPr/>
                    <a:lstStyle/>
                    <a:p>
                      <a:pPr marL="0" lvl="0" indent="0" algn="ctr" rtl="0">
                        <a:spcBef>
                          <a:spcPts val="0"/>
                        </a:spcBef>
                        <a:spcAft>
                          <a:spcPts val="0"/>
                        </a:spcAft>
                        <a:buNone/>
                      </a:pPr>
                      <a:endParaRPr lang="en-US"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None/>
                      </a:pPr>
                      <a:r>
                        <a:rPr lang="en-US" dirty="0">
                          <a:solidFill>
                            <a:schemeClr val="dk1"/>
                          </a:solidFill>
                          <a:latin typeface="Calibri" panose="020F0502020204030204" pitchFamily="34" charset="0"/>
                          <a:ea typeface="Cabin"/>
                          <a:cs typeface="Calibri" panose="020F0502020204030204" pitchFamily="34" charset="0"/>
                          <a:sym typeface="Cabin"/>
                        </a:rPr>
                        <a:t>Hiring the most employees with the least cost</a:t>
                      </a:r>
                    </a:p>
                    <a:p>
                      <a:pPr marL="0" lvl="0" indent="0" algn="ctr" rtl="0">
                        <a:spcBef>
                          <a:spcPts val="0"/>
                        </a:spcBef>
                        <a:spcAft>
                          <a:spcPts val="0"/>
                        </a:spcAft>
                        <a:buNone/>
                      </a:pPr>
                      <a:endParaRPr lang="en-US"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None/>
                      </a:pPr>
                      <a:endParaRPr lang="en-US"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None/>
                      </a:pPr>
                      <a:endParaRPr lang="en-US" dirty="0">
                        <a:solidFill>
                          <a:schemeClr val="dk1"/>
                        </a:solidFill>
                        <a:latin typeface="Calibri" panose="020F0502020204030204" pitchFamily="34" charset="0"/>
                        <a:ea typeface="Cabin"/>
                        <a:cs typeface="Calibri" panose="020F0502020204030204" pitchFamily="34" charset="0"/>
                        <a:sym typeface="Cabin"/>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sz="1400" b="0" i="0" u="none" strike="noStrike" cap="none" dirty="0">
                          <a:solidFill>
                            <a:srgbClr val="000000"/>
                          </a:solidFill>
                          <a:effectLst/>
                          <a:latin typeface="Calibri" panose="020F0502020204030204" pitchFamily="34" charset="0"/>
                          <a:ea typeface="Arial"/>
                          <a:cs typeface="Calibri" panose="020F0502020204030204" pitchFamily="34" charset="0"/>
                          <a:sym typeface="Arial"/>
                        </a:rPr>
                        <a:t>Enables the company to allocate resources wisely, ensuring that funds are not spent on expensive recruitment channels when more affordable avenues provide similar or better results</a:t>
                      </a:r>
                      <a:endParaRPr lang="en-US" dirty="0">
                        <a:solidFill>
                          <a:schemeClr val="dk1"/>
                        </a:solidFill>
                        <a:latin typeface="Calibri" panose="020F0502020204030204" pitchFamily="34" charset="0"/>
                        <a:ea typeface="Cabin"/>
                        <a:cs typeface="Calibri" panose="020F0502020204030204" pitchFamily="34" charset="0"/>
                        <a:sym typeface="Cabin"/>
                      </a:endParaRPr>
                    </a:p>
                  </a:txBody>
                  <a:tcPr marL="91425" marR="91425" marT="91425" marB="91425" anchor="ctr">
                    <a:lnL w="9525" cap="flat" cmpd="sng">
                      <a:solidFill>
                        <a:srgbClr val="FFFAEC">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FFFAEC">
                          <a:alpha val="0"/>
                        </a:srgbClr>
                      </a:solidFill>
                      <a:prstDash val="solid"/>
                      <a:round/>
                      <a:headEnd type="none" w="sm" len="sm"/>
                      <a:tailEnd type="none" w="sm" len="sm"/>
                    </a:lnT>
                    <a:lnB w="9525" cap="flat" cmpd="sng" algn="ctr">
                      <a:solidFill>
                        <a:srgbClr val="FFFAEC">
                          <a:alpha val="0"/>
                        </a:srgb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Clr>
                          <a:srgbClr val="000000"/>
                        </a:buClr>
                        <a:buSzPts val="1100"/>
                        <a:buFont typeface="Arial"/>
                        <a:buNone/>
                      </a:pPr>
                      <a:endParaRPr lang="en-US"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Clr>
                          <a:srgbClr val="000000"/>
                        </a:buClr>
                        <a:buSzPts val="1100"/>
                        <a:buFont typeface="Arial"/>
                        <a:buNone/>
                      </a:pPr>
                      <a:r>
                        <a:rPr lang="en-SG" dirty="0">
                          <a:solidFill>
                            <a:schemeClr val="dk1"/>
                          </a:solidFill>
                          <a:latin typeface="Calibri" panose="020F0502020204030204" pitchFamily="34" charset="0"/>
                          <a:ea typeface="Cabin"/>
                          <a:cs typeface="Calibri" panose="020F0502020204030204" pitchFamily="34" charset="0"/>
                          <a:sym typeface="Cabin"/>
                        </a:rPr>
                        <a:t>Source should provide a good proportion of good performance employees</a:t>
                      </a:r>
                    </a:p>
                    <a:p>
                      <a:pPr marL="0" lvl="0" indent="0" algn="ctr" rtl="0">
                        <a:spcBef>
                          <a:spcPts val="0"/>
                        </a:spcBef>
                        <a:spcAft>
                          <a:spcPts val="0"/>
                        </a:spcAft>
                        <a:buClr>
                          <a:srgbClr val="000000"/>
                        </a:buClr>
                        <a:buSzPts val="1100"/>
                        <a:buFont typeface="Arial"/>
                        <a:buNone/>
                      </a:pPr>
                      <a:endParaRPr lang="en-SG"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Clr>
                          <a:srgbClr val="000000"/>
                        </a:buClr>
                        <a:buSzPts val="1100"/>
                        <a:buFont typeface="Arial"/>
                        <a:buNone/>
                      </a:pPr>
                      <a:endParaRPr lang="en-SG"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Clr>
                          <a:srgbClr val="000000"/>
                        </a:buClr>
                        <a:buSzPts val="1100"/>
                        <a:buFont typeface="Arial"/>
                        <a:buNone/>
                      </a:pPr>
                      <a:endParaRPr lang="en-SG" dirty="0">
                        <a:solidFill>
                          <a:schemeClr val="dk1"/>
                        </a:solidFill>
                        <a:latin typeface="Calibri" panose="020F0502020204030204" pitchFamily="34" charset="0"/>
                        <a:ea typeface="Cabin"/>
                        <a:cs typeface="Calibri" panose="020F0502020204030204" pitchFamily="34" charset="0"/>
                        <a:sym typeface="Cabin"/>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SG" dirty="0">
                          <a:solidFill>
                            <a:schemeClr val="dk1"/>
                          </a:solidFill>
                          <a:latin typeface="Calibri" panose="020F0502020204030204" pitchFamily="34" charset="0"/>
                          <a:ea typeface="Cabin"/>
                          <a:cs typeface="Calibri" panose="020F0502020204030204" pitchFamily="34" charset="0"/>
                          <a:sym typeface="Cabin"/>
                        </a:rPr>
                        <a:t>Hiring many new hires at low cost is not advantageous if it does not offer hires with high quality performance. Instead, it will bring in extra cost by restarting the hiring pipeline</a:t>
                      </a:r>
                    </a:p>
                  </a:txBody>
                  <a:tcPr marL="91425" marR="91425" marT="91425" marB="91425"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dk2"/>
                    </a:solidFill>
                  </a:tcPr>
                </a:tc>
                <a:extLst>
                  <a:ext uri="{0D108BD9-81ED-4DB2-BD59-A6C34878D82A}">
                    <a16:rowId xmlns:a16="http://schemas.microsoft.com/office/drawing/2014/main" val="10001"/>
                  </a:ext>
                </a:extLst>
              </a:tr>
            </a:tbl>
          </a:graphicData>
        </a:graphic>
      </p:graphicFrame>
      <p:sp>
        <p:nvSpPr>
          <p:cNvPr id="23" name="Rectangle 22">
            <a:extLst>
              <a:ext uri="{FF2B5EF4-FFF2-40B4-BE49-F238E27FC236}">
                <a16:creationId xmlns:a16="http://schemas.microsoft.com/office/drawing/2014/main" id="{163A3697-2FDC-A819-4080-A889ADE80604}"/>
              </a:ext>
            </a:extLst>
          </p:cNvPr>
          <p:cNvSpPr/>
          <p:nvPr/>
        </p:nvSpPr>
        <p:spPr>
          <a:xfrm>
            <a:off x="2533980" y="1991818"/>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Google Shape;483;p50"/>
          <p:cNvSpPr txBox="1">
            <a:spLocks noGrp="1"/>
          </p:cNvSpPr>
          <p:nvPr>
            <p:ph type="title"/>
          </p:nvPr>
        </p:nvSpPr>
        <p:spPr>
          <a:xfrm>
            <a:off x="714300" y="216645"/>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WHAT CLASSIFIES AS </a:t>
            </a:r>
            <a:r>
              <a:rPr lang="en" b="1" u="sng" dirty="0"/>
              <a:t>BEST</a:t>
            </a:r>
            <a:r>
              <a:rPr lang="en" dirty="0"/>
              <a:t>?</a:t>
            </a:r>
            <a:endParaRPr dirty="0"/>
          </a:p>
        </p:txBody>
      </p:sp>
      <p:sp>
        <p:nvSpPr>
          <p:cNvPr id="36" name="Google Shape;487;p50">
            <a:extLst>
              <a:ext uri="{FF2B5EF4-FFF2-40B4-BE49-F238E27FC236}">
                <a16:creationId xmlns:a16="http://schemas.microsoft.com/office/drawing/2014/main" id="{302533A3-B3DE-05D0-102C-F16F7E0F04A1}"/>
              </a:ext>
            </a:extLst>
          </p:cNvPr>
          <p:cNvSpPr txBox="1">
            <a:spLocks/>
          </p:cNvSpPr>
          <p:nvPr/>
        </p:nvSpPr>
        <p:spPr>
          <a:xfrm>
            <a:off x="4764899" y="4449171"/>
            <a:ext cx="3449461" cy="36787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sz="1100" dirty="0"/>
              <a:t>*Recruitment source must have hired &gt; 5 employees</a:t>
            </a:r>
          </a:p>
        </p:txBody>
      </p:sp>
      <p:sp>
        <p:nvSpPr>
          <p:cNvPr id="4" name="TextBox 3">
            <a:extLst>
              <a:ext uri="{FF2B5EF4-FFF2-40B4-BE49-F238E27FC236}">
                <a16:creationId xmlns:a16="http://schemas.microsoft.com/office/drawing/2014/main" id="{EB90CE54-C628-BB04-9B26-CAF2E02134BD}"/>
              </a:ext>
            </a:extLst>
          </p:cNvPr>
          <p:cNvSpPr txBox="1"/>
          <p:nvPr/>
        </p:nvSpPr>
        <p:spPr>
          <a:xfrm>
            <a:off x="4953000" y="4739640"/>
            <a:ext cx="184731" cy="307777"/>
          </a:xfrm>
          <a:prstGeom prst="rect">
            <a:avLst/>
          </a:prstGeom>
          <a:noFill/>
        </p:spPr>
        <p:txBody>
          <a:bodyPr wrap="none" rtlCol="0">
            <a:spAutoFit/>
          </a:bodyPr>
          <a:lstStyle/>
          <a:p>
            <a:endParaRPr lang="en-US" dirty="0"/>
          </a:p>
        </p:txBody>
      </p:sp>
      <p:sp>
        <p:nvSpPr>
          <p:cNvPr id="5" name="Google Shape;487;p50">
            <a:extLst>
              <a:ext uri="{FF2B5EF4-FFF2-40B4-BE49-F238E27FC236}">
                <a16:creationId xmlns:a16="http://schemas.microsoft.com/office/drawing/2014/main" id="{8E3589DC-ED50-4875-CEEB-4439E7B46E69}"/>
              </a:ext>
            </a:extLst>
          </p:cNvPr>
          <p:cNvSpPr txBox="1">
            <a:spLocks/>
          </p:cNvSpPr>
          <p:nvPr/>
        </p:nvSpPr>
        <p:spPr>
          <a:xfrm>
            <a:off x="2486839" y="1793458"/>
            <a:ext cx="721966" cy="61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What?</a:t>
            </a:r>
          </a:p>
        </p:txBody>
      </p:sp>
      <p:sp>
        <p:nvSpPr>
          <p:cNvPr id="24" name="Rectangle 23">
            <a:extLst>
              <a:ext uri="{FF2B5EF4-FFF2-40B4-BE49-F238E27FC236}">
                <a16:creationId xmlns:a16="http://schemas.microsoft.com/office/drawing/2014/main" id="{E2A76EE6-8E50-8072-F4B8-896294D10A08}"/>
              </a:ext>
            </a:extLst>
          </p:cNvPr>
          <p:cNvSpPr/>
          <p:nvPr/>
        </p:nvSpPr>
        <p:spPr>
          <a:xfrm>
            <a:off x="2536004" y="3039981"/>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oogle Shape;487;p50">
            <a:extLst>
              <a:ext uri="{FF2B5EF4-FFF2-40B4-BE49-F238E27FC236}">
                <a16:creationId xmlns:a16="http://schemas.microsoft.com/office/drawing/2014/main" id="{024D4F89-BCBB-8933-1CC9-749888A29898}"/>
              </a:ext>
            </a:extLst>
          </p:cNvPr>
          <p:cNvSpPr txBox="1">
            <a:spLocks/>
          </p:cNvSpPr>
          <p:nvPr/>
        </p:nvSpPr>
        <p:spPr>
          <a:xfrm>
            <a:off x="2545422" y="2839682"/>
            <a:ext cx="721965" cy="61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Why?</a:t>
            </a:r>
          </a:p>
        </p:txBody>
      </p:sp>
      <p:sp>
        <p:nvSpPr>
          <p:cNvPr id="28" name="Rectangle 27">
            <a:extLst>
              <a:ext uri="{FF2B5EF4-FFF2-40B4-BE49-F238E27FC236}">
                <a16:creationId xmlns:a16="http://schemas.microsoft.com/office/drawing/2014/main" id="{A59CC8EF-0D9B-9479-BE9A-24E67A0C9DA7}"/>
              </a:ext>
            </a:extLst>
          </p:cNvPr>
          <p:cNvSpPr/>
          <p:nvPr/>
        </p:nvSpPr>
        <p:spPr>
          <a:xfrm>
            <a:off x="5938234" y="1991818"/>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oogle Shape;487;p50">
            <a:extLst>
              <a:ext uri="{FF2B5EF4-FFF2-40B4-BE49-F238E27FC236}">
                <a16:creationId xmlns:a16="http://schemas.microsoft.com/office/drawing/2014/main" id="{556B7949-4260-F8C0-94DD-C03D50F1FD2D}"/>
              </a:ext>
            </a:extLst>
          </p:cNvPr>
          <p:cNvSpPr txBox="1">
            <a:spLocks/>
          </p:cNvSpPr>
          <p:nvPr/>
        </p:nvSpPr>
        <p:spPr>
          <a:xfrm>
            <a:off x="5905231" y="1793458"/>
            <a:ext cx="721966" cy="61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What?</a:t>
            </a:r>
          </a:p>
        </p:txBody>
      </p:sp>
      <p:sp>
        <p:nvSpPr>
          <p:cNvPr id="32" name="Rectangle 31">
            <a:extLst>
              <a:ext uri="{FF2B5EF4-FFF2-40B4-BE49-F238E27FC236}">
                <a16:creationId xmlns:a16="http://schemas.microsoft.com/office/drawing/2014/main" id="{9F7FBBB8-226B-D8B0-7059-9E59C71D1693}"/>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oogle Shape;487;p50">
            <a:extLst>
              <a:ext uri="{FF2B5EF4-FFF2-40B4-BE49-F238E27FC236}">
                <a16:creationId xmlns:a16="http://schemas.microsoft.com/office/drawing/2014/main" id="{43720F82-4364-0C75-31F9-9E181FAC766B}"/>
              </a:ext>
            </a:extLst>
          </p:cNvPr>
          <p:cNvSpPr txBox="1">
            <a:spLocks/>
          </p:cNvSpPr>
          <p:nvPr/>
        </p:nvSpPr>
        <p:spPr>
          <a:xfrm>
            <a:off x="5959198" y="2839682"/>
            <a:ext cx="721966" cy="61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Why?</a:t>
            </a:r>
          </a:p>
        </p:txBody>
      </p:sp>
    </p:spTree>
    <p:extLst>
      <p:ext uri="{BB962C8B-B14F-4D97-AF65-F5344CB8AC3E}">
        <p14:creationId xmlns:p14="http://schemas.microsoft.com/office/powerpoint/2010/main" val="3526892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2" name="Rectangle 1">
            <a:extLst>
              <a:ext uri="{FF2B5EF4-FFF2-40B4-BE49-F238E27FC236}">
                <a16:creationId xmlns:a16="http://schemas.microsoft.com/office/drawing/2014/main" id="{B2BD2EFE-897F-F962-4F46-0561CB021128}"/>
              </a:ext>
            </a:extLst>
          </p:cNvPr>
          <p:cNvSpPr/>
          <p:nvPr/>
        </p:nvSpPr>
        <p:spPr>
          <a:xfrm>
            <a:off x="1778725" y="3616491"/>
            <a:ext cx="5512526" cy="908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Google Shape;483;p50"/>
          <p:cNvSpPr txBox="1">
            <a:spLocks noGrp="1"/>
          </p:cNvSpPr>
          <p:nvPr>
            <p:ph type="title"/>
          </p:nvPr>
        </p:nvSpPr>
        <p:spPr>
          <a:xfrm>
            <a:off x="714300" y="618293"/>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t>BEST </a:t>
            </a:r>
            <a:r>
              <a:rPr lang="en" sz="3600" dirty="0">
                <a:solidFill>
                  <a:srgbClr val="E99A00"/>
                </a:solidFill>
              </a:rPr>
              <a:t>“NO COST” </a:t>
            </a:r>
            <a:r>
              <a:rPr lang="en" sz="3600" dirty="0"/>
              <a:t>SOURCE</a:t>
            </a:r>
            <a:endParaRPr sz="3600" dirty="0"/>
          </a:p>
        </p:txBody>
      </p:sp>
      <p:sp>
        <p:nvSpPr>
          <p:cNvPr id="489" name="Google Shape;489;p50"/>
          <p:cNvSpPr txBox="1">
            <a:spLocks noGrp="1"/>
          </p:cNvSpPr>
          <p:nvPr>
            <p:ph type="title" idx="7"/>
          </p:nvPr>
        </p:nvSpPr>
        <p:spPr>
          <a:xfrm>
            <a:off x="2850078" y="3706962"/>
            <a:ext cx="3652925" cy="32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EMPLOYEE REFERRAL</a:t>
            </a:r>
            <a:endParaRPr dirty="0"/>
          </a:p>
        </p:txBody>
      </p:sp>
      <p:sp>
        <p:nvSpPr>
          <p:cNvPr id="490" name="Google Shape;490;p50"/>
          <p:cNvSpPr txBox="1">
            <a:spLocks noGrp="1"/>
          </p:cNvSpPr>
          <p:nvPr>
            <p:ph type="subTitle" idx="8"/>
          </p:nvPr>
        </p:nvSpPr>
        <p:spPr>
          <a:xfrm>
            <a:off x="2647824" y="3002559"/>
            <a:ext cx="7715400" cy="26265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50" dirty="0">
                <a:latin typeface="Calibri" panose="020F0502020204030204" pitchFamily="34" charset="0"/>
                <a:cs typeface="Calibri" panose="020F0502020204030204" pitchFamily="34" charset="0"/>
              </a:rPr>
              <a:t>*Excludes employees who have “N/A- too early to review” &amp; sources with less than 5</a:t>
            </a:r>
            <a:endParaRPr sz="105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825F041D-D9F1-85E4-AC8E-5A42E70F6DBE}"/>
              </a:ext>
            </a:extLst>
          </p:cNvPr>
          <p:cNvPicPr>
            <a:picLocks noChangeAspect="1"/>
          </p:cNvPicPr>
          <p:nvPr/>
        </p:nvPicPr>
        <p:blipFill rotWithShape="1">
          <a:blip r:embed="rId3"/>
          <a:srcRect r="29264"/>
          <a:stretch/>
        </p:blipFill>
        <p:spPr>
          <a:xfrm>
            <a:off x="1629326" y="1394013"/>
            <a:ext cx="5711032" cy="1647532"/>
          </a:xfrm>
          <a:prstGeom prst="rect">
            <a:avLst/>
          </a:prstGeom>
        </p:spPr>
      </p:pic>
      <p:sp>
        <p:nvSpPr>
          <p:cNvPr id="7" name="Rectangle 6">
            <a:extLst>
              <a:ext uri="{FF2B5EF4-FFF2-40B4-BE49-F238E27FC236}">
                <a16:creationId xmlns:a16="http://schemas.microsoft.com/office/drawing/2014/main" id="{BC889D8B-C2B0-8415-0C69-43673DE39407}"/>
              </a:ext>
            </a:extLst>
          </p:cNvPr>
          <p:cNvSpPr/>
          <p:nvPr/>
        </p:nvSpPr>
        <p:spPr>
          <a:xfrm>
            <a:off x="1696304" y="1767282"/>
            <a:ext cx="5644053" cy="335837"/>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831BF2D-BE25-19B9-3B5E-B105D68AB4A2}"/>
              </a:ext>
            </a:extLst>
          </p:cNvPr>
          <p:cNvSpPr txBox="1"/>
          <p:nvPr/>
        </p:nvSpPr>
        <p:spPr>
          <a:xfrm>
            <a:off x="3493814" y="3160898"/>
            <a:ext cx="5455920" cy="253916"/>
          </a:xfrm>
          <a:prstGeom prst="rect">
            <a:avLst/>
          </a:prstGeom>
          <a:noFill/>
        </p:spPr>
        <p:txBody>
          <a:bodyPr wrap="square">
            <a:spAutoFit/>
          </a:bodyPr>
          <a:lstStyle/>
          <a:p>
            <a:pPr marL="0" indent="0"/>
            <a:r>
              <a:rPr lang="en-SG" sz="1050" dirty="0">
                <a:latin typeface="Calibri" panose="020F0502020204030204" pitchFamily="34" charset="0"/>
                <a:cs typeface="Calibri" panose="020F0502020204030204" pitchFamily="34" charset="0"/>
              </a:rPr>
              <a:t>**Sorted based on descending order on “Decent Performance Count”</a:t>
            </a:r>
          </a:p>
        </p:txBody>
      </p:sp>
      <p:grpSp>
        <p:nvGrpSpPr>
          <p:cNvPr id="13" name="Google Shape;8801;p80">
            <a:extLst>
              <a:ext uri="{FF2B5EF4-FFF2-40B4-BE49-F238E27FC236}">
                <a16:creationId xmlns:a16="http://schemas.microsoft.com/office/drawing/2014/main" id="{2B3FFB95-03A5-532B-1158-747B3FBEF44F}"/>
              </a:ext>
            </a:extLst>
          </p:cNvPr>
          <p:cNvGrpSpPr/>
          <p:nvPr/>
        </p:nvGrpSpPr>
        <p:grpSpPr>
          <a:xfrm>
            <a:off x="2566093" y="3672789"/>
            <a:ext cx="283985" cy="341080"/>
            <a:chOff x="1493849" y="2775533"/>
            <a:chExt cx="283985" cy="341080"/>
          </a:xfrm>
        </p:grpSpPr>
        <p:sp>
          <p:nvSpPr>
            <p:cNvPr id="14" name="Google Shape;8802;p80">
              <a:extLst>
                <a:ext uri="{FF2B5EF4-FFF2-40B4-BE49-F238E27FC236}">
                  <a16:creationId xmlns:a16="http://schemas.microsoft.com/office/drawing/2014/main" id="{910D734C-5025-3E0E-2777-38B235B8BBA0}"/>
                </a:ext>
              </a:extLst>
            </p:cNvPr>
            <p:cNvSpPr/>
            <p:nvPr/>
          </p:nvSpPr>
          <p:spPr>
            <a:xfrm>
              <a:off x="1493849" y="2775533"/>
              <a:ext cx="283985" cy="341080"/>
            </a:xfrm>
            <a:custGeom>
              <a:avLst/>
              <a:gdLst/>
              <a:ahLst/>
              <a:cxnLst/>
              <a:rect l="l" t="t" r="r" b="b"/>
              <a:pathLst>
                <a:path w="8943" h="10741" extrusionOk="0">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rgbClr val="657E93"/>
            </a:solidFill>
            <a:ln>
              <a:solidFill>
                <a:schemeClr val="bg2">
                  <a:lumMod val="1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803;p80">
              <a:extLst>
                <a:ext uri="{FF2B5EF4-FFF2-40B4-BE49-F238E27FC236}">
                  <a16:creationId xmlns:a16="http://schemas.microsoft.com/office/drawing/2014/main" id="{D8A55B93-75B4-2D2E-7DBD-1765DC1C0A84}"/>
                </a:ext>
              </a:extLst>
            </p:cNvPr>
            <p:cNvSpPr/>
            <p:nvPr/>
          </p:nvSpPr>
          <p:spPr>
            <a:xfrm>
              <a:off x="1590638" y="2834153"/>
              <a:ext cx="88501" cy="84754"/>
            </a:xfrm>
            <a:custGeom>
              <a:avLst/>
              <a:gdLst/>
              <a:ahLst/>
              <a:cxnLst/>
              <a:rect l="l" t="t" r="r" b="b"/>
              <a:pathLst>
                <a:path w="2787" h="2669" extrusionOk="0">
                  <a:moveTo>
                    <a:pt x="1358" y="488"/>
                  </a:moveTo>
                  <a:lnTo>
                    <a:pt x="1596" y="977"/>
                  </a:lnTo>
                  <a:cubicBezTo>
                    <a:pt x="1632" y="1036"/>
                    <a:pt x="1668" y="1072"/>
                    <a:pt x="1751" y="1084"/>
                  </a:cubicBezTo>
                  <a:lnTo>
                    <a:pt x="2299" y="1155"/>
                  </a:lnTo>
                  <a:lnTo>
                    <a:pt x="1929" y="1548"/>
                  </a:lnTo>
                  <a:cubicBezTo>
                    <a:pt x="1882" y="1596"/>
                    <a:pt x="1870" y="1655"/>
                    <a:pt x="1870" y="1715"/>
                  </a:cubicBezTo>
                  <a:lnTo>
                    <a:pt x="1953" y="2263"/>
                  </a:lnTo>
                  <a:lnTo>
                    <a:pt x="1465" y="2012"/>
                  </a:lnTo>
                  <a:cubicBezTo>
                    <a:pt x="1429" y="1989"/>
                    <a:pt x="1406" y="1989"/>
                    <a:pt x="1370" y="1989"/>
                  </a:cubicBezTo>
                  <a:cubicBezTo>
                    <a:pt x="1346" y="1989"/>
                    <a:pt x="1310" y="1989"/>
                    <a:pt x="1287" y="2012"/>
                  </a:cubicBezTo>
                  <a:lnTo>
                    <a:pt x="798" y="2263"/>
                  </a:lnTo>
                  <a:lnTo>
                    <a:pt x="882" y="1715"/>
                  </a:lnTo>
                  <a:cubicBezTo>
                    <a:pt x="894" y="1655"/>
                    <a:pt x="870" y="1596"/>
                    <a:pt x="822" y="1548"/>
                  </a:cubicBezTo>
                  <a:lnTo>
                    <a:pt x="417" y="1155"/>
                  </a:lnTo>
                  <a:lnTo>
                    <a:pt x="977" y="1084"/>
                  </a:lnTo>
                  <a:cubicBezTo>
                    <a:pt x="1036" y="1072"/>
                    <a:pt x="1096" y="1036"/>
                    <a:pt x="1120" y="977"/>
                  </a:cubicBezTo>
                  <a:lnTo>
                    <a:pt x="1358" y="488"/>
                  </a:lnTo>
                  <a:close/>
                  <a:moveTo>
                    <a:pt x="1406" y="0"/>
                  </a:moveTo>
                  <a:cubicBezTo>
                    <a:pt x="1334" y="0"/>
                    <a:pt x="1275" y="48"/>
                    <a:pt x="1239" y="107"/>
                  </a:cubicBezTo>
                  <a:lnTo>
                    <a:pt x="917" y="774"/>
                  </a:lnTo>
                  <a:lnTo>
                    <a:pt x="179" y="881"/>
                  </a:lnTo>
                  <a:cubicBezTo>
                    <a:pt x="108" y="893"/>
                    <a:pt x="48" y="941"/>
                    <a:pt x="36" y="1012"/>
                  </a:cubicBezTo>
                  <a:cubicBezTo>
                    <a:pt x="1" y="1084"/>
                    <a:pt x="36" y="1155"/>
                    <a:pt x="84" y="1203"/>
                  </a:cubicBezTo>
                  <a:lnTo>
                    <a:pt x="620" y="1727"/>
                  </a:lnTo>
                  <a:lnTo>
                    <a:pt x="501" y="2453"/>
                  </a:lnTo>
                  <a:cubicBezTo>
                    <a:pt x="477" y="2524"/>
                    <a:pt x="513" y="2608"/>
                    <a:pt x="572" y="2632"/>
                  </a:cubicBezTo>
                  <a:cubicBezTo>
                    <a:pt x="604" y="2657"/>
                    <a:pt x="639" y="2669"/>
                    <a:pt x="674" y="2669"/>
                  </a:cubicBezTo>
                  <a:cubicBezTo>
                    <a:pt x="705" y="2669"/>
                    <a:pt x="735" y="2660"/>
                    <a:pt x="763" y="2644"/>
                  </a:cubicBezTo>
                  <a:lnTo>
                    <a:pt x="1417" y="2310"/>
                  </a:lnTo>
                  <a:lnTo>
                    <a:pt x="2072" y="2644"/>
                  </a:lnTo>
                  <a:cubicBezTo>
                    <a:pt x="2108" y="2667"/>
                    <a:pt x="2132" y="2667"/>
                    <a:pt x="2168" y="2667"/>
                  </a:cubicBezTo>
                  <a:cubicBezTo>
                    <a:pt x="2203" y="2667"/>
                    <a:pt x="2239" y="2644"/>
                    <a:pt x="2263" y="2632"/>
                  </a:cubicBezTo>
                  <a:cubicBezTo>
                    <a:pt x="2322" y="2584"/>
                    <a:pt x="2358" y="2513"/>
                    <a:pt x="2346" y="2453"/>
                  </a:cubicBezTo>
                  <a:lnTo>
                    <a:pt x="2227" y="1727"/>
                  </a:lnTo>
                  <a:lnTo>
                    <a:pt x="2763" y="1203"/>
                  </a:lnTo>
                  <a:cubicBezTo>
                    <a:pt x="2775" y="1155"/>
                    <a:pt x="2787" y="1084"/>
                    <a:pt x="2775" y="1012"/>
                  </a:cubicBezTo>
                  <a:cubicBezTo>
                    <a:pt x="2739" y="941"/>
                    <a:pt x="2703" y="893"/>
                    <a:pt x="2620" y="881"/>
                  </a:cubicBezTo>
                  <a:lnTo>
                    <a:pt x="1894" y="774"/>
                  </a:lnTo>
                  <a:lnTo>
                    <a:pt x="1572" y="107"/>
                  </a:lnTo>
                  <a:cubicBezTo>
                    <a:pt x="1537" y="48"/>
                    <a:pt x="1465" y="0"/>
                    <a:pt x="1406" y="0"/>
                  </a:cubicBezTo>
                  <a:close/>
                </a:path>
              </a:pathLst>
            </a:custGeom>
            <a:solidFill>
              <a:srgbClr val="657E93"/>
            </a:solidFill>
            <a:ln>
              <a:solidFill>
                <a:schemeClr val="bg2">
                  <a:lumMod val="1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28CEF3AF-B6C7-2B14-E204-8781988D6E39}"/>
              </a:ext>
            </a:extLst>
          </p:cNvPr>
          <p:cNvSpPr txBox="1"/>
          <p:nvPr/>
        </p:nvSpPr>
        <p:spPr>
          <a:xfrm>
            <a:off x="1901081" y="4001987"/>
            <a:ext cx="5228625" cy="523220"/>
          </a:xfrm>
          <a:prstGeom prst="rect">
            <a:avLst/>
          </a:prstGeom>
          <a:noFill/>
        </p:spPr>
        <p:txBody>
          <a:bodyPr wrap="square" rtlCol="0">
            <a:spAutoFit/>
          </a:bodyPr>
          <a:lstStyle/>
          <a:p>
            <a:pPr algn="ctr"/>
            <a:r>
              <a:rPr lang="en-US" dirty="0">
                <a:latin typeface="Calibri" panose="020F0502020204030204" pitchFamily="34" charset="0"/>
                <a:cs typeface="Calibri" panose="020F0502020204030204" pitchFamily="34" charset="0"/>
              </a:rPr>
              <a:t>Employee referral yield the greatest number of employees at no cost and with a good proportion of them being decent performers </a:t>
            </a:r>
          </a:p>
        </p:txBody>
      </p:sp>
    </p:spTree>
    <p:extLst>
      <p:ext uri="{BB962C8B-B14F-4D97-AF65-F5344CB8AC3E}">
        <p14:creationId xmlns:p14="http://schemas.microsoft.com/office/powerpoint/2010/main" val="86410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3" name="Google Shape;483;p50"/>
          <p:cNvSpPr txBox="1">
            <a:spLocks noGrp="1"/>
          </p:cNvSpPr>
          <p:nvPr>
            <p:ph type="title"/>
          </p:nvPr>
        </p:nvSpPr>
        <p:spPr>
          <a:xfrm>
            <a:off x="714300" y="162552"/>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RECOMMENDATIONS</a:t>
            </a:r>
            <a:endParaRPr dirty="0"/>
          </a:p>
        </p:txBody>
      </p:sp>
      <p:grpSp>
        <p:nvGrpSpPr>
          <p:cNvPr id="22" name="Google Shape;714;p57">
            <a:extLst>
              <a:ext uri="{FF2B5EF4-FFF2-40B4-BE49-F238E27FC236}">
                <a16:creationId xmlns:a16="http://schemas.microsoft.com/office/drawing/2014/main" id="{46237B79-C808-E0F7-9C10-48AD8299AE74}"/>
              </a:ext>
            </a:extLst>
          </p:cNvPr>
          <p:cNvGrpSpPr/>
          <p:nvPr/>
        </p:nvGrpSpPr>
        <p:grpSpPr>
          <a:xfrm>
            <a:off x="3556312" y="1687671"/>
            <a:ext cx="2031375" cy="207600"/>
            <a:chOff x="1616163" y="1813750"/>
            <a:chExt cx="2031375" cy="207600"/>
          </a:xfrm>
        </p:grpSpPr>
        <p:sp>
          <p:nvSpPr>
            <p:cNvPr id="23" name="Google Shape;715;p57">
              <a:extLst>
                <a:ext uri="{FF2B5EF4-FFF2-40B4-BE49-F238E27FC236}">
                  <a16:creationId xmlns:a16="http://schemas.microsoft.com/office/drawing/2014/main" id="{4B3FB652-EBB0-8CC6-F68B-26869C63818E}"/>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16;p57">
              <a:extLst>
                <a:ext uri="{FF2B5EF4-FFF2-40B4-BE49-F238E27FC236}">
                  <a16:creationId xmlns:a16="http://schemas.microsoft.com/office/drawing/2014/main" id="{2B26D982-16A3-8D0A-888A-8E1BDD9D44A1}"/>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17;p57">
              <a:extLst>
                <a:ext uri="{FF2B5EF4-FFF2-40B4-BE49-F238E27FC236}">
                  <a16:creationId xmlns:a16="http://schemas.microsoft.com/office/drawing/2014/main" id="{02A00F08-8925-0FC9-F542-9E8F1A283807}"/>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18;p57">
              <a:extLst>
                <a:ext uri="{FF2B5EF4-FFF2-40B4-BE49-F238E27FC236}">
                  <a16:creationId xmlns:a16="http://schemas.microsoft.com/office/drawing/2014/main" id="{33A0A308-D639-2BD2-4080-B4581B5C6ACF}"/>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19;p57">
              <a:extLst>
                <a:ext uri="{FF2B5EF4-FFF2-40B4-BE49-F238E27FC236}">
                  <a16:creationId xmlns:a16="http://schemas.microsoft.com/office/drawing/2014/main" id="{8F21F678-64C2-9512-DAFF-1DD089574B34}"/>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TextBox 27">
            <a:extLst>
              <a:ext uri="{FF2B5EF4-FFF2-40B4-BE49-F238E27FC236}">
                <a16:creationId xmlns:a16="http://schemas.microsoft.com/office/drawing/2014/main" id="{2E9EFE77-23A5-94E1-A5F0-2C797C1148CA}"/>
              </a:ext>
            </a:extLst>
          </p:cNvPr>
          <p:cNvSpPr txBox="1"/>
          <p:nvPr/>
        </p:nvSpPr>
        <p:spPr>
          <a:xfrm>
            <a:off x="1090535" y="836415"/>
            <a:ext cx="6788545"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Since employee referrals has been successful in recruiting new hires for ABC Company. The company could further improve how employee referral is being used to garner more and high-quality hires.</a:t>
            </a:r>
          </a:p>
        </p:txBody>
      </p:sp>
      <p:sp>
        <p:nvSpPr>
          <p:cNvPr id="29" name="Google Shape;982;p66">
            <a:extLst>
              <a:ext uri="{FF2B5EF4-FFF2-40B4-BE49-F238E27FC236}">
                <a16:creationId xmlns:a16="http://schemas.microsoft.com/office/drawing/2014/main" id="{4FC202C2-C321-2F33-CAA1-0A86868FD22E}"/>
              </a:ext>
            </a:extLst>
          </p:cNvPr>
          <p:cNvSpPr txBox="1"/>
          <p:nvPr/>
        </p:nvSpPr>
        <p:spPr>
          <a:xfrm flipH="1">
            <a:off x="3895190" y="2119078"/>
            <a:ext cx="1945200" cy="33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b="1" dirty="0">
                <a:solidFill>
                  <a:schemeClr val="tx2">
                    <a:lumMod val="50000"/>
                  </a:schemeClr>
                </a:solidFill>
                <a:latin typeface="Cantata One"/>
                <a:ea typeface="Cantata One"/>
                <a:cs typeface="Cantata One"/>
                <a:sym typeface="Cantata One"/>
              </a:rPr>
              <a:t>HOW?</a:t>
            </a:r>
            <a:endParaRPr sz="2800" b="1" dirty="0">
              <a:solidFill>
                <a:schemeClr val="tx2">
                  <a:lumMod val="50000"/>
                </a:schemeClr>
              </a:solidFill>
              <a:latin typeface="Cantata One"/>
              <a:ea typeface="Cantata One"/>
              <a:cs typeface="Cantata One"/>
              <a:sym typeface="Cantata One"/>
            </a:endParaRPr>
          </a:p>
        </p:txBody>
      </p:sp>
      <p:sp>
        <p:nvSpPr>
          <p:cNvPr id="30" name="TextBox 29">
            <a:extLst>
              <a:ext uri="{FF2B5EF4-FFF2-40B4-BE49-F238E27FC236}">
                <a16:creationId xmlns:a16="http://schemas.microsoft.com/office/drawing/2014/main" id="{BBA30C03-AE6A-E3CB-F7E4-92B84DE954B7}"/>
              </a:ext>
            </a:extLst>
          </p:cNvPr>
          <p:cNvSpPr txBox="1"/>
          <p:nvPr/>
        </p:nvSpPr>
        <p:spPr>
          <a:xfrm>
            <a:off x="1017706" y="2571750"/>
            <a:ext cx="7108585" cy="2569934"/>
          </a:xfrm>
          <a:prstGeom prst="rect">
            <a:avLst/>
          </a:prstGeom>
          <a:noFill/>
        </p:spPr>
        <p:txBody>
          <a:bodyPr wrap="square" rtlCol="0">
            <a:spAutoFit/>
          </a:bodyPr>
          <a:lstStyle/>
          <a:p>
            <a:pPr marL="342900" indent="-342900">
              <a:buAutoNum type="arabicPeriod"/>
            </a:pPr>
            <a:r>
              <a:rPr lang="en-US" sz="1600" b="1" dirty="0">
                <a:latin typeface="Calibri" panose="020F0502020204030204" pitchFamily="34" charset="0"/>
                <a:cs typeface="Calibri" panose="020F0502020204030204" pitchFamily="34" charset="0"/>
              </a:rPr>
              <a:t>Monetary Rewards</a:t>
            </a:r>
          </a:p>
          <a:p>
            <a:r>
              <a:rPr lang="en-US" dirty="0">
                <a:latin typeface="Calibri" panose="020F0502020204030204" pitchFamily="34" charset="0"/>
                <a:cs typeface="Calibri" panose="020F0502020204030204" pitchFamily="34" charset="0"/>
              </a:rPr>
              <a:t>Rewarding monetary rewards to successful employee referrals to encourage current employees to refer.</a:t>
            </a:r>
          </a:p>
          <a:p>
            <a:endParaRPr lang="en-US" sz="700" dirty="0">
              <a:latin typeface="Calibri" panose="020F0502020204030204" pitchFamily="34" charset="0"/>
              <a:cs typeface="Calibri" panose="020F0502020204030204" pitchFamily="34" charset="0"/>
            </a:endParaRPr>
          </a:p>
          <a:p>
            <a:pPr marL="342900" indent="-342900">
              <a:buFont typeface="+mj-lt"/>
              <a:buAutoNum type="arabicPeriod" startAt="2"/>
            </a:pPr>
            <a:r>
              <a:rPr lang="en-US" sz="1600" b="1" dirty="0">
                <a:latin typeface="Calibri" panose="020F0502020204030204" pitchFamily="34" charset="0"/>
                <a:cs typeface="Calibri" panose="020F0502020204030204" pitchFamily="34" charset="0"/>
              </a:rPr>
              <a:t>Limit</a:t>
            </a:r>
          </a:p>
          <a:p>
            <a:r>
              <a:rPr lang="en-US" dirty="0">
                <a:latin typeface="Calibri" panose="020F0502020204030204" pitchFamily="34" charset="0"/>
                <a:cs typeface="Calibri" panose="020F0502020204030204" pitchFamily="34" charset="0"/>
              </a:rPr>
              <a:t>Limit how many referrals can be submitted by a single employee, to avoid misuse of the reward.</a:t>
            </a:r>
          </a:p>
          <a:p>
            <a:endParaRPr lang="en-US" sz="800" dirty="0">
              <a:latin typeface="Calibri" panose="020F0502020204030204" pitchFamily="34" charset="0"/>
              <a:cs typeface="Calibri" panose="020F0502020204030204" pitchFamily="34" charset="0"/>
            </a:endParaRPr>
          </a:p>
          <a:p>
            <a:pPr marL="342900" indent="-342900">
              <a:buFont typeface="+mj-lt"/>
              <a:buAutoNum type="arabicPeriod" startAt="3"/>
            </a:pPr>
            <a:r>
              <a:rPr lang="en-US" sz="1600" b="1" dirty="0">
                <a:latin typeface="Calibri" panose="020F0502020204030204" pitchFamily="34" charset="0"/>
                <a:cs typeface="Calibri" panose="020F0502020204030204" pitchFamily="34" charset="0"/>
              </a:rPr>
              <a:t>Requirements</a:t>
            </a:r>
          </a:p>
          <a:p>
            <a:r>
              <a:rPr lang="en-US" dirty="0">
                <a:latin typeface="Calibri" panose="020F0502020204030204" pitchFamily="34" charset="0"/>
                <a:cs typeface="Calibri" panose="020F0502020204030204" pitchFamily="34" charset="0"/>
              </a:rPr>
              <a:t>New hire must stay in the company for a certain tenure / employee must have a good performance score before reward is given.</a:t>
            </a:r>
          </a:p>
          <a:p>
            <a:pPr algn="just"/>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4394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2" name="Rectangle 1">
            <a:extLst>
              <a:ext uri="{FF2B5EF4-FFF2-40B4-BE49-F238E27FC236}">
                <a16:creationId xmlns:a16="http://schemas.microsoft.com/office/drawing/2014/main" id="{E6B701C2-09B4-5352-6C7A-B2DE6968686F}"/>
              </a:ext>
            </a:extLst>
          </p:cNvPr>
          <p:cNvSpPr/>
          <p:nvPr/>
        </p:nvSpPr>
        <p:spPr>
          <a:xfrm>
            <a:off x="1835331" y="3554923"/>
            <a:ext cx="5512526" cy="869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graph&#10;&#10;Description automatically generated">
            <a:extLst>
              <a:ext uri="{FF2B5EF4-FFF2-40B4-BE49-F238E27FC236}">
                <a16:creationId xmlns:a16="http://schemas.microsoft.com/office/drawing/2014/main" id="{8E122220-D596-D261-7EF7-F2403FB9138E}"/>
              </a:ext>
            </a:extLst>
          </p:cNvPr>
          <p:cNvPicPr>
            <a:picLocks noChangeAspect="1"/>
          </p:cNvPicPr>
          <p:nvPr/>
        </p:nvPicPr>
        <p:blipFill>
          <a:blip r:embed="rId3"/>
          <a:stretch>
            <a:fillRect/>
          </a:stretch>
        </p:blipFill>
        <p:spPr>
          <a:xfrm>
            <a:off x="714300" y="1369073"/>
            <a:ext cx="7772400" cy="1557659"/>
          </a:xfrm>
          <a:prstGeom prst="rect">
            <a:avLst/>
          </a:prstGeom>
        </p:spPr>
      </p:pic>
      <p:sp>
        <p:nvSpPr>
          <p:cNvPr id="483" name="Google Shape;483;p50"/>
          <p:cNvSpPr txBox="1">
            <a:spLocks noGrp="1"/>
          </p:cNvSpPr>
          <p:nvPr>
            <p:ph type="title"/>
          </p:nvPr>
        </p:nvSpPr>
        <p:spPr>
          <a:xfrm>
            <a:off x="714300" y="718812"/>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BEST </a:t>
            </a:r>
            <a:r>
              <a:rPr lang="en" dirty="0">
                <a:solidFill>
                  <a:srgbClr val="E99A00"/>
                </a:solidFill>
              </a:rPr>
              <a:t>“PAID” </a:t>
            </a:r>
            <a:r>
              <a:rPr lang="en" dirty="0"/>
              <a:t>SOURCES</a:t>
            </a:r>
            <a:endParaRPr dirty="0"/>
          </a:p>
        </p:txBody>
      </p:sp>
      <p:sp>
        <p:nvSpPr>
          <p:cNvPr id="490" name="Google Shape;490;p50"/>
          <p:cNvSpPr txBox="1">
            <a:spLocks noGrp="1"/>
          </p:cNvSpPr>
          <p:nvPr>
            <p:ph type="subTitle" idx="8"/>
          </p:nvPr>
        </p:nvSpPr>
        <p:spPr>
          <a:xfrm>
            <a:off x="3611880" y="2890011"/>
            <a:ext cx="4974147" cy="26265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50" dirty="0">
                <a:latin typeface="Calibri" panose="020F0502020204030204" pitchFamily="34" charset="0"/>
                <a:cs typeface="Calibri" panose="020F0502020204030204" pitchFamily="34" charset="0"/>
              </a:rPr>
              <a:t>*Excludes employees who have “N/A- too early to review” &amp; sources with less than 5</a:t>
            </a:r>
            <a:endParaRPr sz="1050"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BC889D8B-C2B0-8415-0C69-43673DE39407}"/>
              </a:ext>
            </a:extLst>
          </p:cNvPr>
          <p:cNvSpPr/>
          <p:nvPr/>
        </p:nvSpPr>
        <p:spPr>
          <a:xfrm>
            <a:off x="714300" y="1719174"/>
            <a:ext cx="7743900" cy="730309"/>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490;p50">
            <a:extLst>
              <a:ext uri="{FF2B5EF4-FFF2-40B4-BE49-F238E27FC236}">
                <a16:creationId xmlns:a16="http://schemas.microsoft.com/office/drawing/2014/main" id="{0FCD9D62-2DAF-65C0-D721-105C486BEAFB}"/>
              </a:ext>
            </a:extLst>
          </p:cNvPr>
          <p:cNvSpPr txBox="1">
            <a:spLocks/>
          </p:cNvSpPr>
          <p:nvPr/>
        </p:nvSpPr>
        <p:spPr>
          <a:xfrm>
            <a:off x="4382183" y="3041312"/>
            <a:ext cx="4310524" cy="2626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SG" sz="1050" dirty="0">
                <a:latin typeface="Calibri" panose="020F0502020204030204" pitchFamily="34" charset="0"/>
                <a:cs typeface="Calibri" panose="020F0502020204030204" pitchFamily="34" charset="0"/>
              </a:rPr>
              <a:t>**Sorted based on descending order on “Cost Effectiveness – Decent”</a:t>
            </a:r>
          </a:p>
        </p:txBody>
      </p:sp>
      <p:sp>
        <p:nvSpPr>
          <p:cNvPr id="18" name="TextBox 17">
            <a:extLst>
              <a:ext uri="{FF2B5EF4-FFF2-40B4-BE49-F238E27FC236}">
                <a16:creationId xmlns:a16="http://schemas.microsoft.com/office/drawing/2014/main" id="{1593FB9E-B0F6-A91D-8991-B526D79083D3}"/>
              </a:ext>
            </a:extLst>
          </p:cNvPr>
          <p:cNvSpPr txBox="1"/>
          <p:nvPr/>
        </p:nvSpPr>
        <p:spPr>
          <a:xfrm>
            <a:off x="1740844" y="3554922"/>
            <a:ext cx="5662312" cy="830997"/>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This 3 recruitment sources yield the best with cost effectiveness on new hires with good performance. Also, a good proportion of the new hires had decent performance.</a:t>
            </a:r>
          </a:p>
        </p:txBody>
      </p:sp>
    </p:spTree>
    <p:extLst>
      <p:ext uri="{BB962C8B-B14F-4D97-AF65-F5344CB8AC3E}">
        <p14:creationId xmlns:p14="http://schemas.microsoft.com/office/powerpoint/2010/main" val="475487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3" name="Google Shape;483;p50"/>
          <p:cNvSpPr txBox="1">
            <a:spLocks noGrp="1"/>
          </p:cNvSpPr>
          <p:nvPr>
            <p:ph type="title"/>
          </p:nvPr>
        </p:nvSpPr>
        <p:spPr>
          <a:xfrm>
            <a:off x="714300" y="162552"/>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RECOMMENDATIONS</a:t>
            </a:r>
            <a:endParaRPr dirty="0"/>
          </a:p>
        </p:txBody>
      </p:sp>
      <p:grpSp>
        <p:nvGrpSpPr>
          <p:cNvPr id="22" name="Google Shape;714;p57">
            <a:extLst>
              <a:ext uri="{FF2B5EF4-FFF2-40B4-BE49-F238E27FC236}">
                <a16:creationId xmlns:a16="http://schemas.microsoft.com/office/drawing/2014/main" id="{46237B79-C808-E0F7-9C10-48AD8299AE74}"/>
              </a:ext>
            </a:extLst>
          </p:cNvPr>
          <p:cNvGrpSpPr/>
          <p:nvPr/>
        </p:nvGrpSpPr>
        <p:grpSpPr>
          <a:xfrm>
            <a:off x="3556308" y="1997070"/>
            <a:ext cx="2031375" cy="207600"/>
            <a:chOff x="1616163" y="1813750"/>
            <a:chExt cx="2031375" cy="207600"/>
          </a:xfrm>
        </p:grpSpPr>
        <p:sp>
          <p:nvSpPr>
            <p:cNvPr id="23" name="Google Shape;715;p57">
              <a:extLst>
                <a:ext uri="{FF2B5EF4-FFF2-40B4-BE49-F238E27FC236}">
                  <a16:creationId xmlns:a16="http://schemas.microsoft.com/office/drawing/2014/main" id="{4B3FB652-EBB0-8CC6-F68B-26869C63818E}"/>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16;p57">
              <a:extLst>
                <a:ext uri="{FF2B5EF4-FFF2-40B4-BE49-F238E27FC236}">
                  <a16:creationId xmlns:a16="http://schemas.microsoft.com/office/drawing/2014/main" id="{2B26D982-16A3-8D0A-888A-8E1BDD9D44A1}"/>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17;p57">
              <a:extLst>
                <a:ext uri="{FF2B5EF4-FFF2-40B4-BE49-F238E27FC236}">
                  <a16:creationId xmlns:a16="http://schemas.microsoft.com/office/drawing/2014/main" id="{02A00F08-8925-0FC9-F542-9E8F1A283807}"/>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18;p57">
              <a:extLst>
                <a:ext uri="{FF2B5EF4-FFF2-40B4-BE49-F238E27FC236}">
                  <a16:creationId xmlns:a16="http://schemas.microsoft.com/office/drawing/2014/main" id="{33A0A308-D639-2BD2-4080-B4581B5C6ACF}"/>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19;p57">
              <a:extLst>
                <a:ext uri="{FF2B5EF4-FFF2-40B4-BE49-F238E27FC236}">
                  <a16:creationId xmlns:a16="http://schemas.microsoft.com/office/drawing/2014/main" id="{8F21F678-64C2-9512-DAFF-1DD089574B34}"/>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TextBox 27">
            <a:extLst>
              <a:ext uri="{FF2B5EF4-FFF2-40B4-BE49-F238E27FC236}">
                <a16:creationId xmlns:a16="http://schemas.microsoft.com/office/drawing/2014/main" id="{2E9EFE77-23A5-94E1-A5F0-2C797C1148CA}"/>
              </a:ext>
            </a:extLst>
          </p:cNvPr>
          <p:cNvSpPr txBox="1"/>
          <p:nvPr/>
        </p:nvSpPr>
        <p:spPr>
          <a:xfrm>
            <a:off x="1073924" y="735252"/>
            <a:ext cx="6788545" cy="116955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ABC Company should consider re-allocating its resources into Professional Society, search engines and pay per click as a recruitment source when looking for new employees. The company could consider focusing its recruitment costs into this 3 sources as the company do not seem to be rapidly expanding in 2017 and having a smaller pool of recruiting sources would be easier to manage.</a:t>
            </a:r>
          </a:p>
        </p:txBody>
      </p:sp>
      <p:sp>
        <p:nvSpPr>
          <p:cNvPr id="29" name="Google Shape;982;p66">
            <a:extLst>
              <a:ext uri="{FF2B5EF4-FFF2-40B4-BE49-F238E27FC236}">
                <a16:creationId xmlns:a16="http://schemas.microsoft.com/office/drawing/2014/main" id="{4FC202C2-C321-2F33-CAA1-0A86868FD22E}"/>
              </a:ext>
            </a:extLst>
          </p:cNvPr>
          <p:cNvSpPr txBox="1"/>
          <p:nvPr/>
        </p:nvSpPr>
        <p:spPr>
          <a:xfrm flipH="1">
            <a:off x="3895190" y="2350416"/>
            <a:ext cx="1945200" cy="33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b="1" dirty="0">
                <a:solidFill>
                  <a:schemeClr val="tx2">
                    <a:lumMod val="50000"/>
                  </a:schemeClr>
                </a:solidFill>
                <a:latin typeface="Cantata One"/>
                <a:ea typeface="Cantata One"/>
                <a:cs typeface="Cantata One"/>
                <a:sym typeface="Cantata One"/>
              </a:rPr>
              <a:t>HOW?</a:t>
            </a:r>
            <a:endParaRPr sz="2800" b="1" dirty="0">
              <a:solidFill>
                <a:schemeClr val="tx2">
                  <a:lumMod val="50000"/>
                </a:schemeClr>
              </a:solidFill>
              <a:latin typeface="Cantata One"/>
              <a:ea typeface="Cantata One"/>
              <a:cs typeface="Cantata One"/>
              <a:sym typeface="Cantata One"/>
            </a:endParaRPr>
          </a:p>
        </p:txBody>
      </p:sp>
      <p:sp>
        <p:nvSpPr>
          <p:cNvPr id="30" name="TextBox 29">
            <a:extLst>
              <a:ext uri="{FF2B5EF4-FFF2-40B4-BE49-F238E27FC236}">
                <a16:creationId xmlns:a16="http://schemas.microsoft.com/office/drawing/2014/main" id="{BBA30C03-AE6A-E3CB-F7E4-92B84DE954B7}"/>
              </a:ext>
            </a:extLst>
          </p:cNvPr>
          <p:cNvSpPr txBox="1"/>
          <p:nvPr/>
        </p:nvSpPr>
        <p:spPr>
          <a:xfrm>
            <a:off x="1017702" y="2754504"/>
            <a:ext cx="7108585" cy="1785104"/>
          </a:xfrm>
          <a:prstGeom prst="rect">
            <a:avLst/>
          </a:prstGeom>
          <a:noFill/>
        </p:spPr>
        <p:txBody>
          <a:bodyPr wrap="square" rtlCol="0">
            <a:spAutoFit/>
          </a:bodyPr>
          <a:lstStyle/>
          <a:p>
            <a:pPr marL="342900" indent="-342900">
              <a:buAutoNum type="arabicPeriod"/>
            </a:pPr>
            <a:r>
              <a:rPr lang="en-US" sz="1600" b="1" dirty="0">
                <a:latin typeface="Calibri" panose="020F0502020204030204" pitchFamily="34" charset="0"/>
                <a:cs typeface="Calibri" panose="020F0502020204030204" pitchFamily="34" charset="0"/>
              </a:rPr>
              <a:t>Professional Society</a:t>
            </a:r>
          </a:p>
          <a:p>
            <a:r>
              <a:rPr lang="en-US" dirty="0">
                <a:latin typeface="Calibri" panose="020F0502020204030204" pitchFamily="34" charset="0"/>
                <a:cs typeface="Calibri" panose="020F0502020204030204" pitchFamily="34" charset="0"/>
              </a:rPr>
              <a:t>More job postings can be posted on professional society-maintained job boards. Expand our reach into more professional societies for more networking opportunities.</a:t>
            </a:r>
          </a:p>
          <a:p>
            <a:endParaRPr lang="en-US" sz="800" dirty="0">
              <a:latin typeface="Calibri" panose="020F0502020204030204" pitchFamily="34" charset="0"/>
              <a:cs typeface="Calibri" panose="020F0502020204030204" pitchFamily="34" charset="0"/>
            </a:endParaRPr>
          </a:p>
          <a:p>
            <a:pPr marL="342900" indent="-342900">
              <a:buFont typeface="+mj-lt"/>
              <a:buAutoNum type="arabicPeriod" startAt="2"/>
            </a:pPr>
            <a:r>
              <a:rPr lang="en-US" sz="1600" b="1" dirty="0">
                <a:latin typeface="Calibri" panose="020F0502020204030204" pitchFamily="34" charset="0"/>
                <a:cs typeface="Calibri" panose="020F0502020204030204" pitchFamily="34" charset="0"/>
              </a:rPr>
              <a:t>Pay Per Click / Search Engine</a:t>
            </a:r>
          </a:p>
          <a:p>
            <a:r>
              <a:rPr lang="en-US" dirty="0">
                <a:latin typeface="Calibri" panose="020F0502020204030204" pitchFamily="34" charset="0"/>
                <a:cs typeface="Calibri" panose="020F0502020204030204" pitchFamily="34" charset="0"/>
              </a:rPr>
              <a:t>Increasing set budget for pay per click and increasing set number of keywords or phrases relevant to job openings.</a:t>
            </a:r>
          </a:p>
          <a:p>
            <a:r>
              <a:rPr lang="en-US" dirty="0" err="1">
                <a:latin typeface="Calibri" panose="020F0502020204030204" pitchFamily="34" charset="0"/>
                <a:cs typeface="Calibri" panose="020F0502020204030204" pitchFamily="34" charset="0"/>
              </a:rPr>
              <a:t>Utilising</a:t>
            </a:r>
            <a:r>
              <a:rPr lang="en-US" dirty="0">
                <a:latin typeface="Calibri" panose="020F0502020204030204" pitchFamily="34" charset="0"/>
                <a:cs typeface="Calibri" panose="020F0502020204030204" pitchFamily="34" charset="0"/>
              </a:rPr>
              <a:t> SEO techniques to ensure job postings appear in relevant search results.</a:t>
            </a:r>
          </a:p>
        </p:txBody>
      </p:sp>
    </p:spTree>
    <p:extLst>
      <p:ext uri="{BB962C8B-B14F-4D97-AF65-F5344CB8AC3E}">
        <p14:creationId xmlns:p14="http://schemas.microsoft.com/office/powerpoint/2010/main" val="2907195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p:nvPr/>
        </p:nvSpPr>
        <p:spPr>
          <a:xfrm>
            <a:off x="-9526" y="532800"/>
            <a:ext cx="5861681"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04;p45"/>
          <p:cNvSpPr txBox="1">
            <a:spLocks noGrp="1"/>
          </p:cNvSpPr>
          <p:nvPr>
            <p:ph type="title" idx="2"/>
          </p:nvPr>
        </p:nvSpPr>
        <p:spPr>
          <a:xfrm>
            <a:off x="872400" y="1295425"/>
            <a:ext cx="4347300" cy="138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03</a:t>
            </a:r>
            <a:endParaRPr dirty="0">
              <a:solidFill>
                <a:schemeClr val="lt1"/>
              </a:solidFill>
            </a:endParaRPr>
          </a:p>
        </p:txBody>
      </p:sp>
      <p:sp>
        <p:nvSpPr>
          <p:cNvPr id="405" name="Google Shape;405;p45"/>
          <p:cNvSpPr txBox="1">
            <a:spLocks noGrp="1"/>
          </p:cNvSpPr>
          <p:nvPr>
            <p:ph type="title"/>
          </p:nvPr>
        </p:nvSpPr>
        <p:spPr>
          <a:xfrm>
            <a:off x="1501050" y="2122300"/>
            <a:ext cx="4008210" cy="11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MANAGER PERFORMANCE</a:t>
            </a:r>
            <a:endParaRPr dirty="0"/>
          </a:p>
        </p:txBody>
      </p:sp>
      <p:sp>
        <p:nvSpPr>
          <p:cNvPr id="406" name="Google Shape;406;p45"/>
          <p:cNvSpPr txBox="1">
            <a:spLocks noGrp="1"/>
          </p:cNvSpPr>
          <p:nvPr>
            <p:ph type="subTitle" idx="1"/>
          </p:nvPr>
        </p:nvSpPr>
        <p:spPr>
          <a:xfrm>
            <a:off x="1501050" y="3141500"/>
            <a:ext cx="3634830" cy="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i="1" dirty="0">
                <a:solidFill>
                  <a:schemeClr val="tx2">
                    <a:lumMod val="50000"/>
                  </a:schemeClr>
                </a:solidFill>
              </a:rPr>
              <a:t>Who is the best and lowest performing manager?</a:t>
            </a:r>
          </a:p>
        </p:txBody>
      </p:sp>
      <p:sp>
        <p:nvSpPr>
          <p:cNvPr id="407" name="Google Shape;407;p45"/>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www.slidesgo.com</a:t>
            </a:r>
            <a:endParaRPr>
              <a:solidFill>
                <a:schemeClr val="lt1"/>
              </a:solidFill>
            </a:endParaRPr>
          </a:p>
        </p:txBody>
      </p:sp>
      <p:sp>
        <p:nvSpPr>
          <p:cNvPr id="408" name="Google Shape;408;p45"/>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HR Analysis</a:t>
            </a:r>
            <a:endParaRPr dirty="0"/>
          </a:p>
        </p:txBody>
      </p:sp>
      <p:cxnSp>
        <p:nvCxnSpPr>
          <p:cNvPr id="409" name="Google Shape;409;p4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410" name="Google Shape;410;p4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
        <p:nvSpPr>
          <p:cNvPr id="411" name="Google Shape;411;p45"/>
          <p:cNvSpPr/>
          <p:nvPr/>
        </p:nvSpPr>
        <p:spPr>
          <a:xfrm rot="5400000">
            <a:off x="6328283" y="2488787"/>
            <a:ext cx="3952860" cy="165926"/>
          </a:xfrm>
          <a:prstGeom prst="rect">
            <a:avLst/>
          </a:prstGeom>
        </p:spPr>
        <p:txBody>
          <a:bodyPr>
            <a:prstTxWarp prst="textPlain">
              <a:avLst/>
            </a:prstTxWarp>
          </a:bodyPr>
          <a:lstStyle/>
          <a:p>
            <a:pPr lvl="0" algn="ctr"/>
            <a:r>
              <a:rPr b="1" i="0">
                <a:ln>
                  <a:noFill/>
                </a:ln>
                <a:solidFill>
                  <a:schemeClr val="lt1"/>
                </a:solidFill>
                <a:latin typeface="Cabin"/>
              </a:rPr>
              <a:t>-HUMAN RESOURCES DEVELOPMENT-</a:t>
            </a:r>
          </a:p>
        </p:txBody>
      </p:sp>
      <p:sp>
        <p:nvSpPr>
          <p:cNvPr id="412" name="Google Shape;412;p45"/>
          <p:cNvSpPr/>
          <p:nvPr/>
        </p:nvSpPr>
        <p:spPr>
          <a:xfrm rot="-5400000" flipH="1">
            <a:off x="6480683" y="2488787"/>
            <a:ext cx="3952860" cy="165926"/>
          </a:xfrm>
          <a:prstGeom prst="rect">
            <a:avLst/>
          </a:prstGeom>
        </p:spPr>
        <p:txBody>
          <a:bodyPr>
            <a:prstTxWarp prst="textPlain">
              <a:avLst/>
            </a:prstTxWarp>
          </a:bodyPr>
          <a:lstStyle/>
          <a:p>
            <a:pPr lvl="0" algn="ctr"/>
            <a:r>
              <a:rPr b="1" i="0" dirty="0">
                <a:ln>
                  <a:noFill/>
                </a:ln>
                <a:solidFill>
                  <a:srgbClr val="FFFCFC">
                    <a:alpha val="23210"/>
                  </a:srgbClr>
                </a:solidFill>
                <a:latin typeface="Cabin"/>
              </a:rPr>
              <a:t>-HUMAN RESOURCES DEVELOPMENT-</a:t>
            </a:r>
          </a:p>
        </p:txBody>
      </p:sp>
    </p:spTree>
    <p:extLst>
      <p:ext uri="{BB962C8B-B14F-4D97-AF65-F5344CB8AC3E}">
        <p14:creationId xmlns:p14="http://schemas.microsoft.com/office/powerpoint/2010/main" val="1594463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aphicFrame>
        <p:nvGraphicFramePr>
          <p:cNvPr id="35" name="Google Shape;571;p52">
            <a:extLst>
              <a:ext uri="{FF2B5EF4-FFF2-40B4-BE49-F238E27FC236}">
                <a16:creationId xmlns:a16="http://schemas.microsoft.com/office/drawing/2014/main" id="{5D7FCBB9-52BA-B120-0CF5-7641FAF5070E}"/>
              </a:ext>
            </a:extLst>
          </p:cNvPr>
          <p:cNvGraphicFramePr/>
          <p:nvPr>
            <p:extLst>
              <p:ext uri="{D42A27DB-BD31-4B8C-83A1-F6EECF244321}">
                <p14:modId xmlns:p14="http://schemas.microsoft.com/office/powerpoint/2010/main" val="3963785433"/>
              </p:ext>
            </p:extLst>
          </p:nvPr>
        </p:nvGraphicFramePr>
        <p:xfrm>
          <a:off x="1171303" y="815752"/>
          <a:ext cx="6827520" cy="3821562"/>
        </p:xfrm>
        <a:graphic>
          <a:graphicData uri="http://schemas.openxmlformats.org/drawingml/2006/table">
            <a:tbl>
              <a:tblPr>
                <a:noFill/>
                <a:tableStyleId>{2676F118-9BFB-4D4D-A44F-59667A32F612}</a:tableStyleId>
              </a:tblPr>
              <a:tblGrid>
                <a:gridCol w="2275840">
                  <a:extLst>
                    <a:ext uri="{9D8B030D-6E8A-4147-A177-3AD203B41FA5}">
                      <a16:colId xmlns:a16="http://schemas.microsoft.com/office/drawing/2014/main" val="20000"/>
                    </a:ext>
                  </a:extLst>
                </a:gridCol>
                <a:gridCol w="2275840">
                  <a:extLst>
                    <a:ext uri="{9D8B030D-6E8A-4147-A177-3AD203B41FA5}">
                      <a16:colId xmlns:a16="http://schemas.microsoft.com/office/drawing/2014/main" val="20001"/>
                    </a:ext>
                  </a:extLst>
                </a:gridCol>
                <a:gridCol w="2275840">
                  <a:extLst>
                    <a:ext uri="{9D8B030D-6E8A-4147-A177-3AD203B41FA5}">
                      <a16:colId xmlns:a16="http://schemas.microsoft.com/office/drawing/2014/main" val="2408597223"/>
                    </a:ext>
                  </a:extLst>
                </a:gridCol>
              </a:tblGrid>
              <a:tr h="751770">
                <a:tc>
                  <a:txBody>
                    <a:bodyPr/>
                    <a:lstStyle/>
                    <a:p>
                      <a:pPr marL="0" lvl="0" indent="0" algn="ctr" rtl="0">
                        <a:spcBef>
                          <a:spcPts val="0"/>
                        </a:spcBef>
                        <a:spcAft>
                          <a:spcPts val="0"/>
                        </a:spcAft>
                        <a:buClr>
                          <a:srgbClr val="000000"/>
                        </a:buClr>
                        <a:buSzPts val="1100"/>
                        <a:buFont typeface="Arial"/>
                        <a:buNone/>
                      </a:pPr>
                      <a:r>
                        <a:rPr lang="en" sz="1800" b="1" dirty="0">
                          <a:solidFill>
                            <a:schemeClr val="dk1"/>
                          </a:solidFill>
                          <a:latin typeface="Cantata One"/>
                          <a:ea typeface="Cantata One"/>
                          <a:cs typeface="Cantata One"/>
                          <a:sym typeface="Cantata One"/>
                        </a:rPr>
                        <a:t>INDIVIDUAL PERFORMANCE</a:t>
                      </a:r>
                      <a:endParaRPr sz="1800" b="1" dirty="0">
                        <a:solidFill>
                          <a:schemeClr val="dk1"/>
                        </a:solidFill>
                        <a:latin typeface="Cantata One"/>
                        <a:ea typeface="Cantata One"/>
                        <a:cs typeface="Cantata One"/>
                        <a:sym typeface="Cantata One"/>
                      </a:endParaRPr>
                    </a:p>
                  </a:txBody>
                  <a:tcPr marL="91425" marR="91425" marT="91425" marB="91425" anchor="ctr">
                    <a:lnL w="9525" cap="flat" cmpd="sng">
                      <a:solidFill>
                        <a:srgbClr val="FFFAEC">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FFFAEC">
                          <a:alpha val="0"/>
                        </a:srgbClr>
                      </a:solidFill>
                      <a:prstDash val="solid"/>
                      <a:round/>
                      <a:headEnd type="none" w="sm" len="sm"/>
                      <a:tailEnd type="none" w="sm" len="sm"/>
                    </a:lnT>
                    <a:lnB w="9525" cap="flat" cmpd="sng">
                      <a:solidFill>
                        <a:srgbClr val="FFFAEC">
                          <a:alpha val="0"/>
                        </a:srgbClr>
                      </a:solidFill>
                      <a:prstDash val="solid"/>
                      <a:round/>
                      <a:headEnd type="none" w="sm" len="sm"/>
                      <a:tailEnd type="none" w="sm" len="sm"/>
                    </a:lnB>
                    <a:solidFill>
                      <a:schemeClr val="bg2">
                        <a:lumMod val="90000"/>
                      </a:schemeClr>
                    </a:solidFill>
                  </a:tcPr>
                </a:tc>
                <a:tc>
                  <a:txBody>
                    <a:bodyPr/>
                    <a:lstStyle/>
                    <a:p>
                      <a:pPr marL="0" lvl="0" indent="0" algn="ctr" rtl="0">
                        <a:spcBef>
                          <a:spcPts val="0"/>
                        </a:spcBef>
                        <a:spcAft>
                          <a:spcPts val="0"/>
                        </a:spcAft>
                        <a:buNone/>
                      </a:pPr>
                      <a:r>
                        <a:rPr lang="en" sz="1800" b="1" dirty="0">
                          <a:solidFill>
                            <a:schemeClr val="dk1"/>
                          </a:solidFill>
                          <a:latin typeface="Cantata One"/>
                          <a:ea typeface="Cantata One"/>
                          <a:cs typeface="Cantata One"/>
                          <a:sym typeface="Cantata One"/>
                        </a:rPr>
                        <a:t>TEAM PERFORMANCE</a:t>
                      </a:r>
                      <a:endParaRPr sz="1800" b="1" dirty="0">
                        <a:solidFill>
                          <a:schemeClr val="dk1"/>
                        </a:solidFill>
                        <a:latin typeface="Cantata One"/>
                        <a:ea typeface="Cantata One"/>
                        <a:cs typeface="Cantata One"/>
                        <a:sym typeface="Canta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lgn="ctr">
                      <a:solidFill>
                        <a:schemeClr val="dk1">
                          <a:alpha val="0"/>
                        </a:schemeClr>
                      </a:solidFill>
                      <a:prstDash val="solid"/>
                      <a:round/>
                      <a:headEnd type="none" w="sm" len="sm"/>
                      <a:tailEnd type="none" w="sm" len="sm"/>
                    </a:lnR>
                    <a:lnT w="9525" cap="flat" cmpd="sng">
                      <a:solidFill>
                        <a:srgbClr val="FFFAEC">
                          <a:alpha val="0"/>
                        </a:srgbClr>
                      </a:solidFill>
                      <a:prstDash val="solid"/>
                      <a:round/>
                      <a:headEnd type="none" w="sm" len="sm"/>
                      <a:tailEnd type="none" w="sm" len="sm"/>
                    </a:lnT>
                    <a:lnB w="9525" cap="flat" cmpd="sng">
                      <a:noFill/>
                      <a:prstDash val="solid"/>
                      <a:round/>
                      <a:headEnd type="none" w="sm" len="sm"/>
                      <a:tailEnd type="none" w="sm" len="sm"/>
                    </a:lnB>
                    <a:solidFill>
                      <a:schemeClr val="bg2">
                        <a:lumMod val="90000"/>
                      </a:schemeClr>
                    </a:solidFill>
                  </a:tcPr>
                </a:tc>
                <a:tc>
                  <a:txBody>
                    <a:bodyPr/>
                    <a:lstStyle/>
                    <a:p>
                      <a:pPr marL="0" lvl="0" indent="0" algn="ctr" rtl="0">
                        <a:spcBef>
                          <a:spcPts val="0"/>
                        </a:spcBef>
                        <a:spcAft>
                          <a:spcPts val="0"/>
                        </a:spcAft>
                        <a:buNone/>
                      </a:pPr>
                      <a:r>
                        <a:rPr lang="en-US" sz="1800" b="1" dirty="0">
                          <a:solidFill>
                            <a:schemeClr val="dk1"/>
                          </a:solidFill>
                          <a:latin typeface="Cantata One"/>
                          <a:ea typeface="Cantata One"/>
                          <a:cs typeface="Cantata One"/>
                          <a:sym typeface="Cantata One"/>
                        </a:rPr>
                        <a:t>TEAM RETENTION</a:t>
                      </a:r>
                      <a:endParaRPr sz="1800" b="1" dirty="0">
                        <a:solidFill>
                          <a:schemeClr val="dk1"/>
                        </a:solidFill>
                        <a:latin typeface="Cantata One"/>
                        <a:ea typeface="Cantata One"/>
                        <a:cs typeface="Cantata One"/>
                        <a:sym typeface="Canta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FFFAEC">
                          <a:alpha val="0"/>
                        </a:srgbClr>
                      </a:solidFill>
                      <a:prstDash val="solid"/>
                      <a:round/>
                      <a:headEnd type="none" w="sm" len="sm"/>
                      <a:tailEnd type="none" w="sm" len="sm"/>
                    </a:lnT>
                    <a:lnB w="9525" cap="flat" cmpd="sng">
                      <a:noFill/>
                      <a:prstDash val="solid"/>
                      <a:round/>
                      <a:headEnd type="none" w="sm" len="sm"/>
                      <a:tailEnd type="none" w="sm" len="sm"/>
                    </a:lnB>
                    <a:solidFill>
                      <a:schemeClr val="bg2">
                        <a:lumMod val="90000"/>
                      </a:schemeClr>
                    </a:solidFill>
                  </a:tcPr>
                </a:tc>
                <a:extLst>
                  <a:ext uri="{0D108BD9-81ED-4DB2-BD59-A6C34878D82A}">
                    <a16:rowId xmlns:a16="http://schemas.microsoft.com/office/drawing/2014/main" val="10000"/>
                  </a:ext>
                </a:extLst>
              </a:tr>
              <a:tr h="250597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sz="1100" b="0" i="0" u="none" strike="noStrike" cap="none" dirty="0">
                          <a:solidFill>
                            <a:schemeClr val="dk1"/>
                          </a:solidFill>
                          <a:latin typeface="Calibri" panose="020F0502020204030204" pitchFamily="34" charset="0"/>
                          <a:ea typeface="Arial"/>
                          <a:cs typeface="Calibri" panose="020F0502020204030204" pitchFamily="34" charset="0"/>
                          <a:sym typeface="Arial"/>
                        </a:rPr>
                        <a:t>Managers set the standard for performance within their teams. High individual performance from a manager serves as a role model for team members, demonstrating professionalism, and the standards expected within the company.</a:t>
                      </a:r>
                      <a:endParaRPr lang="en-US" sz="1100" b="0" i="0" u="none" strike="noStrike" cap="none" dirty="0">
                        <a:solidFill>
                          <a:schemeClr val="dk1"/>
                        </a:solidFill>
                        <a:latin typeface="Calibri" panose="020F0502020204030204" pitchFamily="34" charset="0"/>
                        <a:ea typeface="Cabin"/>
                        <a:cs typeface="Calibri" panose="020F0502020204030204" pitchFamily="34" charset="0"/>
                        <a:sym typeface="Cabin"/>
                      </a:endParaRPr>
                    </a:p>
                  </a:txBody>
                  <a:tcPr marL="91425" marR="91425" marT="91425" marB="91425" anchor="ctr">
                    <a:lnL w="9525" cap="flat" cmpd="sng">
                      <a:solidFill>
                        <a:srgbClr val="FFFAEC">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FFFAEC">
                          <a:alpha val="0"/>
                        </a:srgbClr>
                      </a:solidFill>
                      <a:prstDash val="solid"/>
                      <a:round/>
                      <a:headEnd type="none" w="sm" len="sm"/>
                      <a:tailEnd type="none" w="sm" len="sm"/>
                    </a:lnT>
                    <a:lnB w="9525" cap="flat" cmpd="sng" algn="ctr">
                      <a:solidFill>
                        <a:srgbClr val="FFFAEC">
                          <a:alpha val="0"/>
                        </a:srgb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Clr>
                          <a:srgbClr val="000000"/>
                        </a:buClr>
                        <a:buSzPts val="1100"/>
                        <a:buFont typeface="Arial"/>
                        <a:buNone/>
                      </a:pPr>
                      <a:endParaRPr lang="en-US" sz="300"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Clr>
                          <a:srgbClr val="000000"/>
                        </a:buClr>
                        <a:buSzPts val="1100"/>
                        <a:buFont typeface="Arial"/>
                        <a:buNone/>
                      </a:pPr>
                      <a:endParaRPr lang="en-SG" b="1"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Clr>
                          <a:srgbClr val="000000"/>
                        </a:buClr>
                        <a:buSzPts val="1100"/>
                        <a:buFont typeface="Arial"/>
                        <a:buNone/>
                      </a:pPr>
                      <a:endParaRPr lang="en-SG" dirty="0">
                        <a:solidFill>
                          <a:schemeClr val="dk1"/>
                        </a:solidFill>
                        <a:latin typeface="Calibri" panose="020F0502020204030204" pitchFamily="34" charset="0"/>
                        <a:ea typeface="Cabin"/>
                        <a:cs typeface="Calibri" panose="020F0502020204030204" pitchFamily="34" charset="0"/>
                        <a:sym typeface="Cabin"/>
                      </a:endParaRPr>
                    </a:p>
                    <a:p>
                      <a:pPr marL="0" lvl="0" indent="0" algn="ctr" rtl="0">
                        <a:spcBef>
                          <a:spcPts val="0"/>
                        </a:spcBef>
                        <a:spcAft>
                          <a:spcPts val="0"/>
                        </a:spcAft>
                        <a:buClr>
                          <a:srgbClr val="000000"/>
                        </a:buClr>
                        <a:buSzPts val="1100"/>
                        <a:buFont typeface="Arial"/>
                        <a:buNone/>
                      </a:pPr>
                      <a:endParaRPr lang="en-SG" dirty="0">
                        <a:solidFill>
                          <a:schemeClr val="dk1"/>
                        </a:solidFill>
                        <a:latin typeface="Calibri" panose="020F0502020204030204" pitchFamily="34" charset="0"/>
                        <a:ea typeface="Cabin"/>
                        <a:cs typeface="Calibri" panose="020F0502020204030204" pitchFamily="34" charset="0"/>
                        <a:sym typeface="Cabin"/>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SG" sz="1100" b="0" i="0" u="none" strike="noStrike" cap="none" dirty="0">
                          <a:solidFill>
                            <a:schemeClr val="dk1"/>
                          </a:solidFill>
                          <a:latin typeface="Calibri" panose="020F0502020204030204" pitchFamily="34" charset="0"/>
                          <a:ea typeface="Arial"/>
                          <a:cs typeface="Calibri" panose="020F0502020204030204" pitchFamily="34" charset="0"/>
                          <a:sym typeface="Arial"/>
                        </a:rPr>
                        <a:t>A good manager's effectiveness is often reflected in the collective output and achievements of their team. The overall team performance is a testament to the manager's leadership, coordination, and strategic planning skills. </a:t>
                      </a:r>
                      <a:endParaRPr lang="en-SG" sz="1100" b="0" i="0" u="none" strike="noStrike" cap="none" dirty="0">
                        <a:solidFill>
                          <a:schemeClr val="dk1"/>
                        </a:solidFill>
                        <a:latin typeface="Calibri" panose="020F0502020204030204" pitchFamily="34" charset="0"/>
                        <a:ea typeface="Cabin"/>
                        <a:cs typeface="Calibri" panose="020F0502020204030204" pitchFamily="34" charset="0"/>
                        <a:sym typeface="Cabin"/>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dk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SG" sz="12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SG" sz="100" b="0" i="0" u="none" strike="noStrike" cap="none" dirty="0">
                        <a:solidFill>
                          <a:schemeClr val="dk1"/>
                        </a:solidFill>
                        <a:latin typeface="Calibri" panose="020F0502020204030204" pitchFamily="34" charset="0"/>
                        <a:ea typeface="Arial"/>
                        <a:cs typeface="Calibri" panose="020F0502020204030204"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SG" sz="1100" b="0" i="0" u="none" strike="noStrike" cap="none" dirty="0">
                          <a:solidFill>
                            <a:schemeClr val="dk1"/>
                          </a:solidFill>
                          <a:latin typeface="Calibri" panose="020F0502020204030204" pitchFamily="34" charset="0"/>
                          <a:ea typeface="Arial"/>
                          <a:cs typeface="Calibri" panose="020F0502020204030204" pitchFamily="34" charset="0"/>
                          <a:sym typeface="Arial"/>
                        </a:rPr>
                        <a:t>A manager's ability to retain talent is often seen as a direct reflection of their leadership effectiveness. Retention can signal that a manager is successfully motivating their team, addressing their concerns, and providing a supportive environment.</a:t>
                      </a:r>
                      <a:endParaRPr lang="en-SG" sz="1100" b="0" i="0" u="none" strike="noStrike" cap="none" dirty="0">
                        <a:solidFill>
                          <a:schemeClr val="dk1"/>
                        </a:solidFill>
                        <a:latin typeface="Calibri" panose="020F0502020204030204" pitchFamily="34" charset="0"/>
                        <a:ea typeface="Cabin"/>
                        <a:cs typeface="Calibri" panose="020F0502020204030204" pitchFamily="34" charset="0"/>
                        <a:sym typeface="Cabin"/>
                      </a:endParaRPr>
                    </a:p>
                  </a:txBody>
                  <a:tcPr marL="91425" marR="91425" marT="91425" marB="91425"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dk2"/>
                    </a:solidFill>
                  </a:tcPr>
                </a:tc>
                <a:extLst>
                  <a:ext uri="{0D108BD9-81ED-4DB2-BD59-A6C34878D82A}">
                    <a16:rowId xmlns:a16="http://schemas.microsoft.com/office/drawing/2014/main" val="10001"/>
                  </a:ext>
                </a:extLst>
              </a:tr>
              <a:tr h="5638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400" b="0" i="0" u="none" strike="noStrike" cap="none" dirty="0">
                          <a:solidFill>
                            <a:schemeClr val="dk1"/>
                          </a:solidFill>
                          <a:latin typeface="Cantata One"/>
                          <a:ea typeface="Cabin"/>
                          <a:cs typeface="Calibri" panose="020F0502020204030204" pitchFamily="34" charset="0"/>
                          <a:sym typeface="Cabin"/>
                        </a:rPr>
                        <a:t>20%</a:t>
                      </a:r>
                    </a:p>
                  </a:txBody>
                  <a:tcPr marL="91425" marR="91425" marT="91425" marB="91425" anchor="ctr">
                    <a:lnL w="9525" cap="flat" cmpd="sng">
                      <a:solidFill>
                        <a:srgbClr val="FFFAEC">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FFFAEC">
                          <a:alpha val="0"/>
                        </a:srgbClr>
                      </a:solidFill>
                      <a:prstDash val="solid"/>
                      <a:round/>
                      <a:headEnd type="none" w="sm" len="sm"/>
                      <a:tailEnd type="none" w="sm" len="sm"/>
                    </a:lnT>
                    <a:lnB w="9525" cap="flat" cmpd="sng" algn="ctr">
                      <a:solidFill>
                        <a:srgbClr val="FFFAEC">
                          <a:alpha val="0"/>
                        </a:srgbClr>
                      </a:solidFill>
                      <a:prstDash val="solid"/>
                      <a:round/>
                      <a:headEnd type="none" w="sm" len="sm"/>
                      <a:tailEnd type="none" w="sm" len="sm"/>
                    </a:lnB>
                    <a:solidFill>
                      <a:schemeClr val="dk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2400" b="0" i="0" u="none" strike="noStrike" cap="none" dirty="0">
                          <a:solidFill>
                            <a:schemeClr val="dk1"/>
                          </a:solidFill>
                          <a:latin typeface="Cantata One"/>
                          <a:ea typeface="Cabin"/>
                          <a:cs typeface="Calibri" panose="020F0502020204030204" pitchFamily="34" charset="0"/>
                          <a:sym typeface="Cabin"/>
                        </a:rPr>
                        <a:t>40%</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dk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2400" b="0" i="0" u="none" strike="noStrike" cap="none" dirty="0">
                          <a:solidFill>
                            <a:schemeClr val="dk1"/>
                          </a:solidFill>
                          <a:latin typeface="Cantata One"/>
                          <a:ea typeface="Cabin"/>
                          <a:cs typeface="Calibri" panose="020F0502020204030204" pitchFamily="34" charset="0"/>
                          <a:sym typeface="Cabin"/>
                        </a:rPr>
                        <a:t>40%</a:t>
                      </a:r>
                    </a:p>
                  </a:txBody>
                  <a:tcPr marL="91425" marR="91425" marT="91425" marB="91425"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dk2"/>
                    </a:solidFill>
                  </a:tcPr>
                </a:tc>
                <a:extLst>
                  <a:ext uri="{0D108BD9-81ED-4DB2-BD59-A6C34878D82A}">
                    <a16:rowId xmlns:a16="http://schemas.microsoft.com/office/drawing/2014/main" val="3185528835"/>
                  </a:ext>
                </a:extLst>
              </a:tr>
            </a:tbl>
          </a:graphicData>
        </a:graphic>
      </p:graphicFrame>
      <p:sp>
        <p:nvSpPr>
          <p:cNvPr id="483" name="Google Shape;483;p50"/>
          <p:cNvSpPr txBox="1">
            <a:spLocks noGrp="1"/>
          </p:cNvSpPr>
          <p:nvPr>
            <p:ph type="title"/>
          </p:nvPr>
        </p:nvSpPr>
        <p:spPr>
          <a:xfrm>
            <a:off x="714300" y="37635"/>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METRICS FOR MANAGERS</a:t>
            </a:r>
            <a:endParaRPr dirty="0"/>
          </a:p>
        </p:txBody>
      </p:sp>
      <p:sp>
        <p:nvSpPr>
          <p:cNvPr id="4" name="TextBox 3">
            <a:extLst>
              <a:ext uri="{FF2B5EF4-FFF2-40B4-BE49-F238E27FC236}">
                <a16:creationId xmlns:a16="http://schemas.microsoft.com/office/drawing/2014/main" id="{EB90CE54-C628-BB04-9B26-CAF2E02134BD}"/>
              </a:ext>
            </a:extLst>
          </p:cNvPr>
          <p:cNvSpPr txBox="1"/>
          <p:nvPr/>
        </p:nvSpPr>
        <p:spPr>
          <a:xfrm>
            <a:off x="4953000" y="4739640"/>
            <a:ext cx="184731" cy="307777"/>
          </a:xfrm>
          <a:prstGeom prst="rect">
            <a:avLst/>
          </a:prstGeom>
          <a:noFill/>
        </p:spPr>
        <p:txBody>
          <a:bodyPr wrap="none" rtlCol="0">
            <a:spAutoFit/>
          </a:bodyPr>
          <a:lstStyle/>
          <a:p>
            <a:endParaRPr lang="en-US" dirty="0"/>
          </a:p>
        </p:txBody>
      </p:sp>
      <p:grpSp>
        <p:nvGrpSpPr>
          <p:cNvPr id="10" name="Group 9">
            <a:extLst>
              <a:ext uri="{FF2B5EF4-FFF2-40B4-BE49-F238E27FC236}">
                <a16:creationId xmlns:a16="http://schemas.microsoft.com/office/drawing/2014/main" id="{A24EC5B2-549B-A788-F798-75980DEF4F50}"/>
              </a:ext>
            </a:extLst>
          </p:cNvPr>
          <p:cNvGrpSpPr/>
          <p:nvPr/>
        </p:nvGrpSpPr>
        <p:grpSpPr>
          <a:xfrm>
            <a:off x="4278842" y="2189521"/>
            <a:ext cx="721966" cy="312913"/>
            <a:chOff x="5959992" y="2992075"/>
            <a:chExt cx="721966" cy="312913"/>
          </a:xfrm>
        </p:grpSpPr>
        <p:sp>
          <p:nvSpPr>
            <p:cNvPr id="32" name="Rectangle 31">
              <a:extLst>
                <a:ext uri="{FF2B5EF4-FFF2-40B4-BE49-F238E27FC236}">
                  <a16:creationId xmlns:a16="http://schemas.microsoft.com/office/drawing/2014/main" id="{9F7FBBB8-226B-D8B0-7059-9E59C71D1693}"/>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oogle Shape;487;p50">
              <a:extLst>
                <a:ext uri="{FF2B5EF4-FFF2-40B4-BE49-F238E27FC236}">
                  <a16:creationId xmlns:a16="http://schemas.microsoft.com/office/drawing/2014/main" id="{43720F82-4364-0C75-31F9-9E181FAC766B}"/>
                </a:ext>
              </a:extLst>
            </p:cNvPr>
            <p:cNvSpPr txBox="1">
              <a:spLocks/>
            </p:cNvSpPr>
            <p:nvPr/>
          </p:nvSpPr>
          <p:spPr>
            <a:xfrm>
              <a:off x="5959992" y="2992075"/>
              <a:ext cx="721966" cy="312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Why?</a:t>
              </a:r>
            </a:p>
          </p:txBody>
        </p:sp>
      </p:grpSp>
      <p:grpSp>
        <p:nvGrpSpPr>
          <p:cNvPr id="6" name="Group 5">
            <a:extLst>
              <a:ext uri="{FF2B5EF4-FFF2-40B4-BE49-F238E27FC236}">
                <a16:creationId xmlns:a16="http://schemas.microsoft.com/office/drawing/2014/main" id="{0F1D469A-18E0-E7AF-1A68-CDB019BC82B0}"/>
              </a:ext>
            </a:extLst>
          </p:cNvPr>
          <p:cNvGrpSpPr/>
          <p:nvPr/>
        </p:nvGrpSpPr>
        <p:grpSpPr>
          <a:xfrm>
            <a:off x="6499815" y="1566343"/>
            <a:ext cx="721966" cy="220980"/>
            <a:chOff x="6626402" y="1538006"/>
            <a:chExt cx="721966" cy="220980"/>
          </a:xfrm>
        </p:grpSpPr>
        <p:sp>
          <p:nvSpPr>
            <p:cNvPr id="2" name="Rectangle 1">
              <a:extLst>
                <a:ext uri="{FF2B5EF4-FFF2-40B4-BE49-F238E27FC236}">
                  <a16:creationId xmlns:a16="http://schemas.microsoft.com/office/drawing/2014/main" id="{03222CB1-E98A-5DA9-CD09-9EDD5B1939F0}"/>
                </a:ext>
              </a:extLst>
            </p:cNvPr>
            <p:cNvSpPr/>
            <p:nvPr/>
          </p:nvSpPr>
          <p:spPr>
            <a:xfrm>
              <a:off x="6681164" y="1538006"/>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487;p50">
              <a:extLst>
                <a:ext uri="{FF2B5EF4-FFF2-40B4-BE49-F238E27FC236}">
                  <a16:creationId xmlns:a16="http://schemas.microsoft.com/office/drawing/2014/main" id="{7B4EF423-0BF1-EA9D-B1EC-10AC0302692F}"/>
                </a:ext>
              </a:extLst>
            </p:cNvPr>
            <p:cNvSpPr txBox="1">
              <a:spLocks/>
            </p:cNvSpPr>
            <p:nvPr/>
          </p:nvSpPr>
          <p:spPr>
            <a:xfrm>
              <a:off x="6626402" y="1538006"/>
              <a:ext cx="721966" cy="2209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lgn="ctr"/>
              <a:r>
                <a:rPr lang="en-US" b="1" dirty="0">
                  <a:solidFill>
                    <a:schemeClr val="tx2">
                      <a:lumMod val="10000"/>
                    </a:schemeClr>
                  </a:solidFill>
                </a:rPr>
                <a:t>What?</a:t>
              </a:r>
            </a:p>
          </p:txBody>
        </p:sp>
      </p:grpSp>
      <p:grpSp>
        <p:nvGrpSpPr>
          <p:cNvPr id="7" name="Group 6">
            <a:extLst>
              <a:ext uri="{FF2B5EF4-FFF2-40B4-BE49-F238E27FC236}">
                <a16:creationId xmlns:a16="http://schemas.microsoft.com/office/drawing/2014/main" id="{972C74E2-D459-50E5-A702-351847EE3BD9}"/>
              </a:ext>
            </a:extLst>
          </p:cNvPr>
          <p:cNvGrpSpPr/>
          <p:nvPr/>
        </p:nvGrpSpPr>
        <p:grpSpPr>
          <a:xfrm>
            <a:off x="4224080" y="1559431"/>
            <a:ext cx="721966" cy="220980"/>
            <a:chOff x="6626402" y="1538006"/>
            <a:chExt cx="721966" cy="220980"/>
          </a:xfrm>
        </p:grpSpPr>
        <p:sp>
          <p:nvSpPr>
            <p:cNvPr id="8" name="Rectangle 7">
              <a:extLst>
                <a:ext uri="{FF2B5EF4-FFF2-40B4-BE49-F238E27FC236}">
                  <a16:creationId xmlns:a16="http://schemas.microsoft.com/office/drawing/2014/main" id="{647AC920-A1C0-E699-EFBB-6EE40B6C3BA3}"/>
                </a:ext>
              </a:extLst>
            </p:cNvPr>
            <p:cNvSpPr/>
            <p:nvPr/>
          </p:nvSpPr>
          <p:spPr>
            <a:xfrm>
              <a:off x="6681164" y="1538006"/>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487;p50">
              <a:extLst>
                <a:ext uri="{FF2B5EF4-FFF2-40B4-BE49-F238E27FC236}">
                  <a16:creationId xmlns:a16="http://schemas.microsoft.com/office/drawing/2014/main" id="{BB7D29E7-6F7B-491D-DC6D-93F27FA754E1}"/>
                </a:ext>
              </a:extLst>
            </p:cNvPr>
            <p:cNvSpPr txBox="1">
              <a:spLocks/>
            </p:cNvSpPr>
            <p:nvPr/>
          </p:nvSpPr>
          <p:spPr>
            <a:xfrm>
              <a:off x="6626402" y="1538006"/>
              <a:ext cx="721966" cy="2209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lgn="ctr"/>
              <a:r>
                <a:rPr lang="en-US" b="1" dirty="0">
                  <a:solidFill>
                    <a:schemeClr val="tx2">
                      <a:lumMod val="10000"/>
                    </a:schemeClr>
                  </a:solidFill>
                </a:rPr>
                <a:t>What?</a:t>
              </a:r>
            </a:p>
          </p:txBody>
        </p:sp>
      </p:grpSp>
      <p:grpSp>
        <p:nvGrpSpPr>
          <p:cNvPr id="15" name="Group 14">
            <a:extLst>
              <a:ext uri="{FF2B5EF4-FFF2-40B4-BE49-F238E27FC236}">
                <a16:creationId xmlns:a16="http://schemas.microsoft.com/office/drawing/2014/main" id="{D497BBC5-F4AF-C0EE-0358-78E5F65C084D}"/>
              </a:ext>
            </a:extLst>
          </p:cNvPr>
          <p:cNvGrpSpPr/>
          <p:nvPr/>
        </p:nvGrpSpPr>
        <p:grpSpPr>
          <a:xfrm>
            <a:off x="6558112" y="2195910"/>
            <a:ext cx="721966" cy="312913"/>
            <a:chOff x="5959992" y="2992075"/>
            <a:chExt cx="721966" cy="312913"/>
          </a:xfrm>
        </p:grpSpPr>
        <p:sp>
          <p:nvSpPr>
            <p:cNvPr id="16" name="Rectangle 15">
              <a:extLst>
                <a:ext uri="{FF2B5EF4-FFF2-40B4-BE49-F238E27FC236}">
                  <a16:creationId xmlns:a16="http://schemas.microsoft.com/office/drawing/2014/main" id="{F78B06BF-333B-8032-C1E4-3FA5E008EA97}"/>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oogle Shape;487;p50">
              <a:extLst>
                <a:ext uri="{FF2B5EF4-FFF2-40B4-BE49-F238E27FC236}">
                  <a16:creationId xmlns:a16="http://schemas.microsoft.com/office/drawing/2014/main" id="{6BFE858A-203C-DE5A-CEB6-7D7682E61A21}"/>
                </a:ext>
              </a:extLst>
            </p:cNvPr>
            <p:cNvSpPr txBox="1">
              <a:spLocks/>
            </p:cNvSpPr>
            <p:nvPr/>
          </p:nvSpPr>
          <p:spPr>
            <a:xfrm>
              <a:off x="5959992" y="2992075"/>
              <a:ext cx="721966" cy="312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Why?</a:t>
              </a:r>
            </a:p>
          </p:txBody>
        </p:sp>
      </p:grpSp>
      <p:grpSp>
        <p:nvGrpSpPr>
          <p:cNvPr id="18" name="Group 17">
            <a:extLst>
              <a:ext uri="{FF2B5EF4-FFF2-40B4-BE49-F238E27FC236}">
                <a16:creationId xmlns:a16="http://schemas.microsoft.com/office/drawing/2014/main" id="{71142663-6836-862A-AFF7-53EF46626CDA}"/>
              </a:ext>
            </a:extLst>
          </p:cNvPr>
          <p:cNvGrpSpPr/>
          <p:nvPr/>
        </p:nvGrpSpPr>
        <p:grpSpPr>
          <a:xfrm>
            <a:off x="2003107" y="2192944"/>
            <a:ext cx="721966" cy="312913"/>
            <a:chOff x="5959992" y="2992075"/>
            <a:chExt cx="721966" cy="312913"/>
          </a:xfrm>
        </p:grpSpPr>
        <p:sp>
          <p:nvSpPr>
            <p:cNvPr id="19" name="Rectangle 18">
              <a:extLst>
                <a:ext uri="{FF2B5EF4-FFF2-40B4-BE49-F238E27FC236}">
                  <a16:creationId xmlns:a16="http://schemas.microsoft.com/office/drawing/2014/main" id="{FEA53ED6-C8C4-AE6E-469B-F20DAFCA42D8}"/>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oogle Shape;487;p50">
              <a:extLst>
                <a:ext uri="{FF2B5EF4-FFF2-40B4-BE49-F238E27FC236}">
                  <a16:creationId xmlns:a16="http://schemas.microsoft.com/office/drawing/2014/main" id="{60D8F662-D17E-E20A-64DF-7F686183F787}"/>
                </a:ext>
              </a:extLst>
            </p:cNvPr>
            <p:cNvSpPr txBox="1">
              <a:spLocks/>
            </p:cNvSpPr>
            <p:nvPr/>
          </p:nvSpPr>
          <p:spPr>
            <a:xfrm>
              <a:off x="5959992" y="2992075"/>
              <a:ext cx="721966" cy="312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Why?</a:t>
              </a:r>
            </a:p>
          </p:txBody>
        </p:sp>
      </p:grpSp>
      <p:grpSp>
        <p:nvGrpSpPr>
          <p:cNvPr id="21" name="Group 20">
            <a:extLst>
              <a:ext uri="{FF2B5EF4-FFF2-40B4-BE49-F238E27FC236}">
                <a16:creationId xmlns:a16="http://schemas.microsoft.com/office/drawing/2014/main" id="{C9E4D1D7-6B90-CDB8-F352-D8A031E91D7D}"/>
              </a:ext>
            </a:extLst>
          </p:cNvPr>
          <p:cNvGrpSpPr/>
          <p:nvPr/>
        </p:nvGrpSpPr>
        <p:grpSpPr>
          <a:xfrm>
            <a:off x="1948345" y="1559431"/>
            <a:ext cx="721966" cy="220980"/>
            <a:chOff x="6626402" y="1538006"/>
            <a:chExt cx="721966" cy="220980"/>
          </a:xfrm>
        </p:grpSpPr>
        <p:sp>
          <p:nvSpPr>
            <p:cNvPr id="22" name="Rectangle 21">
              <a:extLst>
                <a:ext uri="{FF2B5EF4-FFF2-40B4-BE49-F238E27FC236}">
                  <a16:creationId xmlns:a16="http://schemas.microsoft.com/office/drawing/2014/main" id="{C77FE46C-AAFB-A604-FEDB-52A79F908A51}"/>
                </a:ext>
              </a:extLst>
            </p:cNvPr>
            <p:cNvSpPr/>
            <p:nvPr/>
          </p:nvSpPr>
          <p:spPr>
            <a:xfrm>
              <a:off x="6681164" y="1538006"/>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oogle Shape;487;p50">
              <a:extLst>
                <a:ext uri="{FF2B5EF4-FFF2-40B4-BE49-F238E27FC236}">
                  <a16:creationId xmlns:a16="http://schemas.microsoft.com/office/drawing/2014/main" id="{AC54764D-8005-F511-FA78-153134921261}"/>
                </a:ext>
              </a:extLst>
            </p:cNvPr>
            <p:cNvSpPr txBox="1">
              <a:spLocks/>
            </p:cNvSpPr>
            <p:nvPr/>
          </p:nvSpPr>
          <p:spPr>
            <a:xfrm>
              <a:off x="6626402" y="1538006"/>
              <a:ext cx="721966" cy="2209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lgn="ctr"/>
              <a:r>
                <a:rPr lang="en-US" b="1" dirty="0">
                  <a:solidFill>
                    <a:schemeClr val="tx2">
                      <a:lumMod val="10000"/>
                    </a:schemeClr>
                  </a:solidFill>
                </a:rPr>
                <a:t>What?</a:t>
              </a:r>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54A4673-193E-01A2-A941-5F5287B1B653}"/>
                  </a:ext>
                </a:extLst>
              </p:cNvPr>
              <p:cNvSpPr txBox="1"/>
              <p:nvPr/>
            </p:nvSpPr>
            <p:spPr>
              <a:xfrm>
                <a:off x="0" y="1810620"/>
                <a:ext cx="4598126" cy="3470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SG" sz="800" b="1" i="1" smtClean="0">
                              <a:solidFill>
                                <a:schemeClr val="dk1"/>
                              </a:solidFill>
                              <a:latin typeface="Cambria Math" panose="02040503050406030204" pitchFamily="18" charset="0"/>
                              <a:ea typeface="Cabin"/>
                              <a:cs typeface="Calibri" panose="020F0502020204030204" pitchFamily="34" charset="0"/>
                              <a:sym typeface="Cabin"/>
                            </a:rPr>
                          </m:ctrlPr>
                        </m:fPr>
                        <m:num>
                          <m:r>
                            <a:rPr lang="en-US" sz="800" b="1" i="1" smtClean="0">
                              <a:solidFill>
                                <a:schemeClr val="dk1"/>
                              </a:solidFill>
                              <a:latin typeface="Cambria Math" panose="02040503050406030204" pitchFamily="18" charset="0"/>
                              <a:ea typeface="Cabin"/>
                              <a:cs typeface="Calibri" panose="020F0502020204030204" pitchFamily="34" charset="0"/>
                              <a:sym typeface="Cabin"/>
                            </a:rPr>
                            <m:t>𝑴𝒂𝒏𝒂𝒈𝒆𝒓</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𝒊𝒏𝒅𝒊𝒗𝒊𝒅𝒖𝒂𝒍</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𝒑𝒆𝒓𝒇𝒐𝒓𝒎𝒂𝒏𝒄𝒆</m:t>
                          </m:r>
                        </m:num>
                        <m:den>
                          <m:r>
                            <a:rPr lang="en-US" sz="800" b="1" i="1" smtClean="0">
                              <a:solidFill>
                                <a:schemeClr val="dk1"/>
                              </a:solidFill>
                              <a:latin typeface="Cambria Math" panose="02040503050406030204" pitchFamily="18" charset="0"/>
                              <a:ea typeface="Cabin"/>
                              <a:cs typeface="Calibri" panose="020F0502020204030204" pitchFamily="34" charset="0"/>
                              <a:sym typeface="Cabin"/>
                            </a:rPr>
                            <m:t>𝑴𝒂𝒙𝒊𝒎𝒖𝒎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𝒂𝒄𝒉𝒊𝒆𝒗𝒂𝒃𝒍𝒆</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𝒑𝒆𝒓𝒇𝒐𝒓𝒎𝒂𝒏𝒄𝒆</m:t>
                          </m:r>
                        </m:den>
                      </m:f>
                    </m:oMath>
                  </m:oMathPara>
                </a14:m>
                <a:endParaRPr lang="en-US" sz="800" dirty="0"/>
              </a:p>
            </p:txBody>
          </p:sp>
        </mc:Choice>
        <mc:Fallback xmlns="">
          <p:sp>
            <p:nvSpPr>
              <p:cNvPr id="28" name="TextBox 27">
                <a:extLst>
                  <a:ext uri="{FF2B5EF4-FFF2-40B4-BE49-F238E27FC236}">
                    <a16:creationId xmlns:a16="http://schemas.microsoft.com/office/drawing/2014/main" id="{954A4673-193E-01A2-A941-5F5287B1B653}"/>
                  </a:ext>
                </a:extLst>
              </p:cNvPr>
              <p:cNvSpPr txBox="1">
                <a:spLocks noRot="1" noChangeAspect="1" noMove="1" noResize="1" noEditPoints="1" noAdjustHandles="1" noChangeArrowheads="1" noChangeShapeType="1" noTextEdit="1"/>
              </p:cNvSpPr>
              <p:nvPr/>
            </p:nvSpPr>
            <p:spPr>
              <a:xfrm>
                <a:off x="0" y="1810620"/>
                <a:ext cx="4598126" cy="347018"/>
              </a:xfrm>
              <a:prstGeom prst="rect">
                <a:avLst/>
              </a:prstGeom>
              <a:blipFill>
                <a:blip r:embed="rId3"/>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C21A156-3B0B-46B9-06B1-9A39F60606F1}"/>
                  </a:ext>
                </a:extLst>
              </p:cNvPr>
              <p:cNvSpPr txBox="1"/>
              <p:nvPr/>
            </p:nvSpPr>
            <p:spPr>
              <a:xfrm>
                <a:off x="5862377" y="1820770"/>
                <a:ext cx="1938080" cy="32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SG" sz="800" b="1" i="1" smtClean="0">
                              <a:solidFill>
                                <a:schemeClr val="dk1"/>
                              </a:solidFill>
                              <a:latin typeface="Cambria Math" panose="02040503050406030204" pitchFamily="18" charset="0"/>
                              <a:ea typeface="Cabin"/>
                              <a:cs typeface="Calibri" panose="020F0502020204030204" pitchFamily="34" charset="0"/>
                              <a:sym typeface="Cabin"/>
                            </a:rPr>
                          </m:ctrlPr>
                        </m:fPr>
                        <m:num>
                          <m:r>
                            <a:rPr lang="en-US" sz="800" b="1" i="1" smtClean="0">
                              <a:solidFill>
                                <a:schemeClr val="dk1"/>
                              </a:solidFill>
                              <a:latin typeface="Cambria Math" panose="02040503050406030204" pitchFamily="18" charset="0"/>
                              <a:ea typeface="Cabin"/>
                              <a:cs typeface="Calibri" panose="020F0502020204030204" pitchFamily="34" charset="0"/>
                              <a:sym typeface="Cabin"/>
                            </a:rPr>
                            <m:t>𝑪𝒖𝒓𝒓𝒆𝒏𝒕</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𝑻𝒆𝒂𝒎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𝑴𝒆𝒎𝒃𝒆𝒓</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𝑪𝒐𝒖𝒏𝒕</m:t>
                          </m:r>
                        </m:num>
                        <m:den>
                          <m:r>
                            <a:rPr lang="en-US" sz="800" b="1" i="1" smtClean="0">
                              <a:solidFill>
                                <a:schemeClr val="dk1"/>
                              </a:solidFill>
                              <a:latin typeface="Cambria Math" panose="02040503050406030204" pitchFamily="18" charset="0"/>
                              <a:ea typeface="Cabin"/>
                              <a:cs typeface="Calibri" panose="020F0502020204030204" pitchFamily="34" charset="0"/>
                              <a:sym typeface="Cabin"/>
                            </a:rPr>
                            <m:t>𝑻𝒐𝒕𝒂𝒍</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𝑻𝒆𝒂𝒎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𝑴𝒆𝒎𝒃𝒆𝒓</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𝑪𝒐𝒖𝒏𝒕</m:t>
                          </m:r>
                        </m:den>
                      </m:f>
                    </m:oMath>
                  </m:oMathPara>
                </a14:m>
                <a:endParaRPr lang="en-US" sz="800" dirty="0"/>
              </a:p>
            </p:txBody>
          </p:sp>
        </mc:Choice>
        <mc:Fallback xmlns="">
          <p:sp>
            <p:nvSpPr>
              <p:cNvPr id="31" name="TextBox 30">
                <a:extLst>
                  <a:ext uri="{FF2B5EF4-FFF2-40B4-BE49-F238E27FC236}">
                    <a16:creationId xmlns:a16="http://schemas.microsoft.com/office/drawing/2014/main" id="{4C21A156-3B0B-46B9-06B1-9A39F60606F1}"/>
                  </a:ext>
                </a:extLst>
              </p:cNvPr>
              <p:cNvSpPr txBox="1">
                <a:spLocks noRot="1" noChangeAspect="1" noMove="1" noResize="1" noEditPoints="1" noAdjustHandles="1" noChangeArrowheads="1" noChangeShapeType="1" noTextEdit="1"/>
              </p:cNvSpPr>
              <p:nvPr/>
            </p:nvSpPr>
            <p:spPr>
              <a:xfrm>
                <a:off x="5862377" y="1820770"/>
                <a:ext cx="1938080" cy="326180"/>
              </a:xfrm>
              <a:prstGeom prst="rect">
                <a:avLst/>
              </a:prstGeom>
              <a:blipFill>
                <a:blip r:embed="rId4"/>
                <a:stretch>
                  <a:fillRect b="-11538"/>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7234C8E5-D495-ED54-6F17-92A0A2B1C2F4}"/>
              </a:ext>
            </a:extLst>
          </p:cNvPr>
          <p:cNvGrpSpPr/>
          <p:nvPr/>
        </p:nvGrpSpPr>
        <p:grpSpPr>
          <a:xfrm>
            <a:off x="1786126" y="3837019"/>
            <a:ext cx="1155928" cy="312913"/>
            <a:chOff x="5959992" y="2992075"/>
            <a:chExt cx="721966" cy="312913"/>
          </a:xfrm>
        </p:grpSpPr>
        <p:sp>
          <p:nvSpPr>
            <p:cNvPr id="34" name="Rectangle 33">
              <a:extLst>
                <a:ext uri="{FF2B5EF4-FFF2-40B4-BE49-F238E27FC236}">
                  <a16:creationId xmlns:a16="http://schemas.microsoft.com/office/drawing/2014/main" id="{481AFB79-750F-BD56-7E52-22F7B10736DD}"/>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Google Shape;487;p50">
              <a:extLst>
                <a:ext uri="{FF2B5EF4-FFF2-40B4-BE49-F238E27FC236}">
                  <a16:creationId xmlns:a16="http://schemas.microsoft.com/office/drawing/2014/main" id="{0AEAC0E9-ED9B-C684-87B5-CB45DEF49A58}"/>
                </a:ext>
              </a:extLst>
            </p:cNvPr>
            <p:cNvSpPr txBox="1">
              <a:spLocks/>
            </p:cNvSpPr>
            <p:nvPr/>
          </p:nvSpPr>
          <p:spPr>
            <a:xfrm>
              <a:off x="5959992" y="2992075"/>
              <a:ext cx="721966" cy="312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Weightage</a:t>
              </a:r>
            </a:p>
          </p:txBody>
        </p:sp>
      </p:grpSp>
      <p:grpSp>
        <p:nvGrpSpPr>
          <p:cNvPr id="37" name="Group 36">
            <a:extLst>
              <a:ext uri="{FF2B5EF4-FFF2-40B4-BE49-F238E27FC236}">
                <a16:creationId xmlns:a16="http://schemas.microsoft.com/office/drawing/2014/main" id="{D5A923B8-0608-FB2D-4A6C-DDC009514B36}"/>
              </a:ext>
            </a:extLst>
          </p:cNvPr>
          <p:cNvGrpSpPr/>
          <p:nvPr/>
        </p:nvGrpSpPr>
        <p:grpSpPr>
          <a:xfrm>
            <a:off x="3981803" y="3791052"/>
            <a:ext cx="1155928" cy="312913"/>
            <a:chOff x="5959992" y="2992075"/>
            <a:chExt cx="721966" cy="312913"/>
          </a:xfrm>
        </p:grpSpPr>
        <p:sp>
          <p:nvSpPr>
            <p:cNvPr id="38" name="Rectangle 37">
              <a:extLst>
                <a:ext uri="{FF2B5EF4-FFF2-40B4-BE49-F238E27FC236}">
                  <a16:creationId xmlns:a16="http://schemas.microsoft.com/office/drawing/2014/main" id="{508528E9-A36D-5ED6-3A41-F0F9AC3CF87D}"/>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Google Shape;487;p50">
              <a:extLst>
                <a:ext uri="{FF2B5EF4-FFF2-40B4-BE49-F238E27FC236}">
                  <a16:creationId xmlns:a16="http://schemas.microsoft.com/office/drawing/2014/main" id="{7B3E930C-B3CC-7CFC-8D42-BFEEB5EBCA60}"/>
                </a:ext>
              </a:extLst>
            </p:cNvPr>
            <p:cNvSpPr txBox="1">
              <a:spLocks/>
            </p:cNvSpPr>
            <p:nvPr/>
          </p:nvSpPr>
          <p:spPr>
            <a:xfrm>
              <a:off x="5959992" y="2992075"/>
              <a:ext cx="721966" cy="312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Weightage</a:t>
              </a:r>
            </a:p>
          </p:txBody>
        </p:sp>
      </p:grpSp>
      <p:grpSp>
        <p:nvGrpSpPr>
          <p:cNvPr id="40" name="Group 39">
            <a:extLst>
              <a:ext uri="{FF2B5EF4-FFF2-40B4-BE49-F238E27FC236}">
                <a16:creationId xmlns:a16="http://schemas.microsoft.com/office/drawing/2014/main" id="{9E99A042-A89A-018C-96D9-0809D84CD52E}"/>
              </a:ext>
            </a:extLst>
          </p:cNvPr>
          <p:cNvGrpSpPr/>
          <p:nvPr/>
        </p:nvGrpSpPr>
        <p:grpSpPr>
          <a:xfrm>
            <a:off x="6341131" y="3804327"/>
            <a:ext cx="1155928" cy="312913"/>
            <a:chOff x="5959992" y="2992075"/>
            <a:chExt cx="721966" cy="312913"/>
          </a:xfrm>
        </p:grpSpPr>
        <p:sp>
          <p:nvSpPr>
            <p:cNvPr id="41" name="Rectangle 40">
              <a:extLst>
                <a:ext uri="{FF2B5EF4-FFF2-40B4-BE49-F238E27FC236}">
                  <a16:creationId xmlns:a16="http://schemas.microsoft.com/office/drawing/2014/main" id="{A63A3CC7-9004-6ACA-FEFA-02A7A027BD21}"/>
                </a:ext>
              </a:extLst>
            </p:cNvPr>
            <p:cNvSpPr/>
            <p:nvPr/>
          </p:nvSpPr>
          <p:spPr>
            <a:xfrm>
              <a:off x="5959992" y="3038042"/>
              <a:ext cx="612443" cy="22098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Google Shape;487;p50">
              <a:extLst>
                <a:ext uri="{FF2B5EF4-FFF2-40B4-BE49-F238E27FC236}">
                  <a16:creationId xmlns:a16="http://schemas.microsoft.com/office/drawing/2014/main" id="{01E1DFE5-E2B5-48BF-CFE2-5EBD19B19E82}"/>
                </a:ext>
              </a:extLst>
            </p:cNvPr>
            <p:cNvSpPr txBox="1">
              <a:spLocks/>
            </p:cNvSpPr>
            <p:nvPr/>
          </p:nvSpPr>
          <p:spPr>
            <a:xfrm>
              <a:off x="5959992" y="2992075"/>
              <a:ext cx="721966" cy="312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1400"/>
                <a:buFont typeface="Cabin"/>
                <a:buNone/>
                <a:defRPr sz="1400" b="0" i="0" u="none" strike="noStrike" cap="none">
                  <a:solidFill>
                    <a:schemeClr val="dk1"/>
                  </a:solidFill>
                  <a:latin typeface="Cabin"/>
                  <a:ea typeface="Cabin"/>
                  <a:cs typeface="Cabin"/>
                  <a:sym typeface="Cabin"/>
                </a:defRPr>
              </a:lvl9pPr>
            </a:lstStyle>
            <a:p>
              <a:pPr marL="0" indent="0"/>
              <a:r>
                <a:rPr lang="en-US" b="1" dirty="0">
                  <a:solidFill>
                    <a:schemeClr val="tx2">
                      <a:lumMod val="10000"/>
                    </a:schemeClr>
                  </a:solidFill>
                </a:rPr>
                <a:t>Weightage</a:t>
              </a:r>
            </a:p>
          </p:txBody>
        </p:sp>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546F42F-80A9-6E29-19A2-1C14A3DAAFF6}"/>
                  </a:ext>
                </a:extLst>
              </p:cNvPr>
              <p:cNvSpPr txBox="1"/>
              <p:nvPr/>
            </p:nvSpPr>
            <p:spPr>
              <a:xfrm>
                <a:off x="3177540" y="1808795"/>
                <a:ext cx="2815046" cy="3523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SG" sz="800" b="1" i="1" smtClean="0">
                              <a:solidFill>
                                <a:schemeClr val="dk1"/>
                              </a:solidFill>
                              <a:latin typeface="Cambria Math" panose="02040503050406030204" pitchFamily="18" charset="0"/>
                              <a:ea typeface="Cabin"/>
                              <a:cs typeface="Calibri" panose="020F0502020204030204" pitchFamily="34" charset="0"/>
                              <a:sym typeface="Cabin"/>
                            </a:rPr>
                          </m:ctrlPr>
                        </m:fPr>
                        <m:num>
                          <m:r>
                            <a:rPr lang="en-US" sz="800" b="1" i="1" smtClean="0">
                              <a:solidFill>
                                <a:schemeClr val="dk1"/>
                              </a:solidFill>
                              <a:latin typeface="Cambria Math" panose="02040503050406030204" pitchFamily="18" charset="0"/>
                              <a:ea typeface="Cabin"/>
                              <a:cs typeface="Calibri" panose="020F0502020204030204" pitchFamily="34" charset="0"/>
                              <a:sym typeface="Cabin"/>
                            </a:rPr>
                            <m:t>𝑺𝒖𝒎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𝒐𝒇</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𝒂𝒍𝒍</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𝒕𝒆𝒂𝒎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𝒎𝒆𝒎𝒃𝒆</m:t>
                          </m:r>
                          <m:sSup>
                            <m:sSupPr>
                              <m:ctrlPr>
                                <a:rPr lang="en-US" sz="800" b="1" i="1" smtClean="0">
                                  <a:solidFill>
                                    <a:schemeClr val="dk1"/>
                                  </a:solidFill>
                                  <a:latin typeface="Cambria Math" panose="02040503050406030204" pitchFamily="18" charset="0"/>
                                  <a:ea typeface="Cabin"/>
                                  <a:cs typeface="Calibri" panose="020F0502020204030204" pitchFamily="34" charset="0"/>
                                  <a:sym typeface="Cabin"/>
                                </a:rPr>
                              </m:ctrlPr>
                            </m:sSupPr>
                            <m:e>
                              <m:r>
                                <a:rPr lang="en-US" sz="800" b="1" i="1" smtClean="0">
                                  <a:solidFill>
                                    <a:schemeClr val="dk1"/>
                                  </a:solidFill>
                                  <a:latin typeface="Cambria Math" panose="02040503050406030204" pitchFamily="18" charset="0"/>
                                  <a:ea typeface="Cabin"/>
                                  <a:cs typeface="Calibri" panose="020F0502020204030204" pitchFamily="34" charset="0"/>
                                  <a:sym typeface="Cabin"/>
                                </a:rPr>
                                <m:t>𝒓</m:t>
                              </m:r>
                            </m:e>
                            <m:sup>
                              <m:r>
                                <a:rPr lang="en-US" sz="800" b="1" i="1" smtClean="0">
                                  <a:solidFill>
                                    <a:schemeClr val="dk1"/>
                                  </a:solidFill>
                                  <a:latin typeface="Cambria Math" panose="02040503050406030204" pitchFamily="18" charset="0"/>
                                  <a:ea typeface="Cabin"/>
                                  <a:cs typeface="Calibri" panose="020F0502020204030204" pitchFamily="34" charset="0"/>
                                  <a:sym typeface="Cabin"/>
                                </a:rPr>
                                <m:t>′</m:t>
                              </m:r>
                            </m:sup>
                          </m:sSup>
                          <m:r>
                            <a:rPr lang="en-US" sz="800" b="1" i="1" smtClean="0">
                              <a:solidFill>
                                <a:schemeClr val="dk1"/>
                              </a:solidFill>
                              <a:latin typeface="Cambria Math" panose="02040503050406030204" pitchFamily="18" charset="0"/>
                              <a:ea typeface="Cabin"/>
                              <a:cs typeface="Calibri" panose="020F0502020204030204" pitchFamily="34" charset="0"/>
                              <a:sym typeface="Cabin"/>
                            </a:rPr>
                            <m:t>𝒔</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𝒑𝒆𝒓𝒇𝒐𝒓𝒎𝒂𝒏𝒄𝒆</m:t>
                          </m:r>
                        </m:num>
                        <m:den>
                          <m:r>
                            <a:rPr lang="en-US" sz="800" b="1" i="1" smtClean="0">
                              <a:solidFill>
                                <a:schemeClr val="dk1"/>
                              </a:solidFill>
                              <a:latin typeface="Cambria Math" panose="02040503050406030204" pitchFamily="18" charset="0"/>
                              <a:ea typeface="Cabin"/>
                              <a:cs typeface="Calibri" panose="020F0502020204030204" pitchFamily="34" charset="0"/>
                              <a:sym typeface="Cabin"/>
                            </a:rPr>
                            <m:t>𝑺𝒖𝒎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𝒐𝒇</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𝒎𝒂𝒙𝒊𝒎𝒖𝒎</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𝒂𝒄𝒉𝒊𝒆𝒗𝒂𝒃𝒍𝒆</m:t>
                          </m:r>
                          <m:r>
                            <a:rPr lang="en-US" sz="800" b="1" i="1" smtClean="0">
                              <a:solidFill>
                                <a:schemeClr val="dk1"/>
                              </a:solidFill>
                              <a:latin typeface="Cambria Math" panose="02040503050406030204" pitchFamily="18" charset="0"/>
                              <a:ea typeface="Cabin"/>
                              <a:cs typeface="Calibri" panose="020F0502020204030204" pitchFamily="34" charset="0"/>
                              <a:sym typeface="Cabin"/>
                            </a:rPr>
                            <m:t> </m:t>
                          </m:r>
                          <m:r>
                            <a:rPr lang="en-US" sz="800" b="1" i="1" smtClean="0">
                              <a:solidFill>
                                <a:schemeClr val="dk1"/>
                              </a:solidFill>
                              <a:latin typeface="Cambria Math" panose="02040503050406030204" pitchFamily="18" charset="0"/>
                              <a:ea typeface="Cabin"/>
                              <a:cs typeface="Calibri" panose="020F0502020204030204" pitchFamily="34" charset="0"/>
                              <a:sym typeface="Cabin"/>
                            </a:rPr>
                            <m:t>𝒔𝒄𝒐𝒓𝒆</m:t>
                          </m:r>
                        </m:den>
                      </m:f>
                    </m:oMath>
                  </m:oMathPara>
                </a14:m>
                <a:endParaRPr lang="en-US" sz="800" dirty="0"/>
              </a:p>
            </p:txBody>
          </p:sp>
        </mc:Choice>
        <mc:Fallback xmlns="">
          <p:sp>
            <p:nvSpPr>
              <p:cNvPr id="44" name="TextBox 43">
                <a:extLst>
                  <a:ext uri="{FF2B5EF4-FFF2-40B4-BE49-F238E27FC236}">
                    <a16:creationId xmlns:a16="http://schemas.microsoft.com/office/drawing/2014/main" id="{4546F42F-80A9-6E29-19A2-1C14A3DAAFF6}"/>
                  </a:ext>
                </a:extLst>
              </p:cNvPr>
              <p:cNvSpPr txBox="1">
                <a:spLocks noRot="1" noChangeAspect="1" noMove="1" noResize="1" noEditPoints="1" noAdjustHandles="1" noChangeArrowheads="1" noChangeShapeType="1" noTextEdit="1"/>
              </p:cNvSpPr>
              <p:nvPr/>
            </p:nvSpPr>
            <p:spPr>
              <a:xfrm>
                <a:off x="3177540" y="1808795"/>
                <a:ext cx="2815046" cy="352341"/>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06049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14" name="Google Shape;568;p52">
            <a:extLst>
              <a:ext uri="{FF2B5EF4-FFF2-40B4-BE49-F238E27FC236}">
                <a16:creationId xmlns:a16="http://schemas.microsoft.com/office/drawing/2014/main" id="{45BAA7CF-A4A0-5784-2D43-08677848C7CF}"/>
              </a:ext>
            </a:extLst>
          </p:cNvPr>
          <p:cNvSpPr txBox="1">
            <a:spLocks/>
          </p:cNvSpPr>
          <p:nvPr/>
        </p:nvSpPr>
        <p:spPr>
          <a:xfrm>
            <a:off x="4838156" y="1135062"/>
            <a:ext cx="189574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sz="2800" b="1" dirty="0">
                <a:solidFill>
                  <a:schemeClr val="dk2"/>
                </a:solidFill>
              </a:rPr>
              <a:t>Manager</a:t>
            </a:r>
          </a:p>
        </p:txBody>
      </p:sp>
      <p:sp>
        <p:nvSpPr>
          <p:cNvPr id="603" name="Google Shape;603;p54"/>
          <p:cNvSpPr txBox="1">
            <a:spLocks noGrp="1"/>
          </p:cNvSpPr>
          <p:nvPr>
            <p:ph type="title"/>
          </p:nvPr>
        </p:nvSpPr>
        <p:spPr>
          <a:xfrm>
            <a:off x="713225" y="334813"/>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rgbClr val="00B050"/>
                </a:solidFill>
              </a:rPr>
              <a:t>BEST</a:t>
            </a:r>
            <a:r>
              <a:rPr lang="en" dirty="0"/>
              <a:t> PERFORMING MANAGER</a:t>
            </a:r>
            <a:endParaRPr dirty="0"/>
          </a:p>
        </p:txBody>
      </p:sp>
      <p:sp>
        <p:nvSpPr>
          <p:cNvPr id="604" name="Google Shape;604;p54"/>
          <p:cNvSpPr txBox="1"/>
          <p:nvPr/>
        </p:nvSpPr>
        <p:spPr>
          <a:xfrm>
            <a:off x="5038168" y="1490339"/>
            <a:ext cx="3126819" cy="36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200" b="1" dirty="0">
                <a:solidFill>
                  <a:schemeClr val="dk1"/>
                </a:solidFill>
                <a:latin typeface="Cantata One"/>
                <a:ea typeface="Cantata One"/>
                <a:cs typeface="Cantata One"/>
                <a:sym typeface="Cantata One"/>
              </a:rPr>
              <a:t>Eric </a:t>
            </a:r>
            <a:r>
              <a:rPr lang="en" sz="3200" b="1" dirty="0" err="1">
                <a:solidFill>
                  <a:schemeClr val="dk1"/>
                </a:solidFill>
                <a:latin typeface="Cantata One"/>
                <a:ea typeface="Cantata One"/>
                <a:cs typeface="Cantata One"/>
                <a:sym typeface="Cantata One"/>
              </a:rPr>
              <a:t>Dougall</a:t>
            </a:r>
            <a:endParaRPr sz="3200" b="1" dirty="0">
              <a:solidFill>
                <a:schemeClr val="dk1"/>
              </a:solidFill>
              <a:latin typeface="Cantata One"/>
              <a:ea typeface="Cantata One"/>
              <a:cs typeface="Cantata One"/>
              <a:sym typeface="Cantata One"/>
            </a:endParaRPr>
          </a:p>
        </p:txBody>
      </p:sp>
      <p:sp>
        <p:nvSpPr>
          <p:cNvPr id="608" name="Google Shape;608;p54"/>
          <p:cNvSpPr txBox="1"/>
          <p:nvPr/>
        </p:nvSpPr>
        <p:spPr>
          <a:xfrm>
            <a:off x="5566706" y="2434665"/>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00B050"/>
                </a:solidFill>
                <a:latin typeface="Cantata One"/>
                <a:ea typeface="Cantata One"/>
                <a:cs typeface="Cantata One"/>
                <a:sym typeface="Cantata One"/>
              </a:rPr>
              <a:t>Exceeds</a:t>
            </a:r>
            <a:endParaRPr sz="2400" b="1" dirty="0">
              <a:solidFill>
                <a:srgbClr val="00B050"/>
              </a:solidFill>
              <a:latin typeface="Cantata One"/>
              <a:ea typeface="Cantata One"/>
              <a:cs typeface="Cantata One"/>
              <a:sym typeface="Cantata One"/>
            </a:endParaRPr>
          </a:p>
        </p:txBody>
      </p:sp>
      <p:sp>
        <p:nvSpPr>
          <p:cNvPr id="611" name="Google Shape;611;p54"/>
          <p:cNvSpPr txBox="1"/>
          <p:nvPr/>
        </p:nvSpPr>
        <p:spPr>
          <a:xfrm flipH="1">
            <a:off x="823304" y="1383150"/>
            <a:ext cx="2489100" cy="36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dk1"/>
                </a:solidFill>
                <a:latin typeface="Cantata One"/>
                <a:ea typeface="Cantata One"/>
                <a:cs typeface="Cantata One"/>
                <a:sym typeface="Cantata One"/>
              </a:rPr>
              <a:t>$780.000</a:t>
            </a:r>
            <a:endParaRPr sz="3000">
              <a:solidFill>
                <a:schemeClr val="dk1"/>
              </a:solidFill>
              <a:latin typeface="Cantata One"/>
              <a:ea typeface="Cantata One"/>
              <a:cs typeface="Cantata One"/>
              <a:sym typeface="Cantata One"/>
            </a:endParaRPr>
          </a:p>
        </p:txBody>
      </p:sp>
      <p:sp>
        <p:nvSpPr>
          <p:cNvPr id="612" name="Google Shape;612;p54"/>
          <p:cNvSpPr txBox="1"/>
          <p:nvPr/>
        </p:nvSpPr>
        <p:spPr>
          <a:xfrm flipH="1">
            <a:off x="823301" y="1820850"/>
            <a:ext cx="2489100" cy="2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bin"/>
                <a:ea typeface="Cabin"/>
                <a:cs typeface="Cabin"/>
                <a:sym typeface="Cabin"/>
              </a:rPr>
              <a:t>Expected revenue in 2024</a:t>
            </a:r>
            <a:endParaRPr>
              <a:solidFill>
                <a:schemeClr val="dk1"/>
              </a:solidFill>
              <a:latin typeface="Cabin"/>
              <a:ea typeface="Cabin"/>
              <a:cs typeface="Cabin"/>
              <a:sym typeface="Cabin"/>
            </a:endParaRPr>
          </a:p>
        </p:txBody>
      </p:sp>
      <p:pic>
        <p:nvPicPr>
          <p:cNvPr id="2" name="Picture 1">
            <a:extLst>
              <a:ext uri="{FF2B5EF4-FFF2-40B4-BE49-F238E27FC236}">
                <a16:creationId xmlns:a16="http://schemas.microsoft.com/office/drawing/2014/main" id="{8AD373C6-225E-C51D-FE4E-320517527B96}"/>
              </a:ext>
            </a:extLst>
          </p:cNvPr>
          <p:cNvPicPr>
            <a:picLocks noChangeAspect="1"/>
          </p:cNvPicPr>
          <p:nvPr/>
        </p:nvPicPr>
        <p:blipFill>
          <a:blip r:embed="rId3"/>
          <a:stretch>
            <a:fillRect/>
          </a:stretch>
        </p:blipFill>
        <p:spPr>
          <a:xfrm>
            <a:off x="292316" y="1016409"/>
            <a:ext cx="4190277" cy="3605945"/>
          </a:xfrm>
          <a:prstGeom prst="rect">
            <a:avLst/>
          </a:prstGeom>
        </p:spPr>
      </p:pic>
      <p:sp>
        <p:nvSpPr>
          <p:cNvPr id="3" name="Rectangle 2">
            <a:extLst>
              <a:ext uri="{FF2B5EF4-FFF2-40B4-BE49-F238E27FC236}">
                <a16:creationId xmlns:a16="http://schemas.microsoft.com/office/drawing/2014/main" id="{20668DFC-EC2B-0663-794F-B802765BE0A7}"/>
              </a:ext>
            </a:extLst>
          </p:cNvPr>
          <p:cNvSpPr/>
          <p:nvPr/>
        </p:nvSpPr>
        <p:spPr>
          <a:xfrm>
            <a:off x="292316" y="1299755"/>
            <a:ext cx="4116398" cy="1905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750E80-B636-3A7E-D38C-E49DC2D037E0}"/>
              </a:ext>
            </a:extLst>
          </p:cNvPr>
          <p:cNvSpPr txBox="1"/>
          <p:nvPr/>
        </p:nvSpPr>
        <p:spPr>
          <a:xfrm>
            <a:off x="4883876" y="2034555"/>
            <a:ext cx="3281111" cy="400110"/>
          </a:xfrm>
          <a:prstGeom prst="rect">
            <a:avLst/>
          </a:prstGeom>
          <a:noFill/>
        </p:spPr>
        <p:txBody>
          <a:bodyPr wrap="square">
            <a:spAutoFit/>
          </a:bodyPr>
          <a:lstStyle/>
          <a:p>
            <a:pPr marL="0" lvl="0" indent="0" algn="l" rtl="0">
              <a:spcBef>
                <a:spcPts val="0"/>
              </a:spcBef>
              <a:spcAft>
                <a:spcPts val="0"/>
              </a:spcAft>
              <a:buNone/>
            </a:pPr>
            <a:r>
              <a:rPr lang="en-SG" sz="2000" dirty="0">
                <a:solidFill>
                  <a:schemeClr val="dk1"/>
                </a:solidFill>
                <a:latin typeface="Cantata One"/>
                <a:ea typeface="Cantata One"/>
                <a:cs typeface="Cantata One"/>
                <a:sym typeface="Cantata One"/>
              </a:rPr>
              <a:t>Individual Performance</a:t>
            </a:r>
          </a:p>
        </p:txBody>
      </p:sp>
      <p:grpSp>
        <p:nvGrpSpPr>
          <p:cNvPr id="7" name="Google Shape;714;p57">
            <a:extLst>
              <a:ext uri="{FF2B5EF4-FFF2-40B4-BE49-F238E27FC236}">
                <a16:creationId xmlns:a16="http://schemas.microsoft.com/office/drawing/2014/main" id="{82E72054-238F-191F-8F33-D9D5C98E658C}"/>
              </a:ext>
            </a:extLst>
          </p:cNvPr>
          <p:cNvGrpSpPr/>
          <p:nvPr/>
        </p:nvGrpSpPr>
        <p:grpSpPr>
          <a:xfrm>
            <a:off x="6177756" y="1956802"/>
            <a:ext cx="556147" cy="45719"/>
            <a:chOff x="1616163" y="1813750"/>
            <a:chExt cx="2031375" cy="207600"/>
          </a:xfrm>
        </p:grpSpPr>
        <p:sp>
          <p:nvSpPr>
            <p:cNvPr id="8" name="Google Shape;715;p57">
              <a:extLst>
                <a:ext uri="{FF2B5EF4-FFF2-40B4-BE49-F238E27FC236}">
                  <a16:creationId xmlns:a16="http://schemas.microsoft.com/office/drawing/2014/main" id="{C33A8B55-09EB-09BB-0A85-EF9E8AAA0F8E}"/>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16;p57">
              <a:extLst>
                <a:ext uri="{FF2B5EF4-FFF2-40B4-BE49-F238E27FC236}">
                  <a16:creationId xmlns:a16="http://schemas.microsoft.com/office/drawing/2014/main" id="{80C5B83E-DE32-7E0B-39BE-C15280BA6008}"/>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17;p57">
              <a:extLst>
                <a:ext uri="{FF2B5EF4-FFF2-40B4-BE49-F238E27FC236}">
                  <a16:creationId xmlns:a16="http://schemas.microsoft.com/office/drawing/2014/main" id="{B4D547C1-FC61-5CCA-63CB-A2E0B42B7FAF}"/>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18;p57">
              <a:extLst>
                <a:ext uri="{FF2B5EF4-FFF2-40B4-BE49-F238E27FC236}">
                  <a16:creationId xmlns:a16="http://schemas.microsoft.com/office/drawing/2014/main" id="{DC334680-D6D4-AFCC-6614-1F8FA8287E65}"/>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19;p57">
              <a:extLst>
                <a:ext uri="{FF2B5EF4-FFF2-40B4-BE49-F238E27FC236}">
                  <a16:creationId xmlns:a16="http://schemas.microsoft.com/office/drawing/2014/main" id="{6280BDB9-7549-B35C-17DB-95A748BDD053}"/>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608;p54">
            <a:extLst>
              <a:ext uri="{FF2B5EF4-FFF2-40B4-BE49-F238E27FC236}">
                <a16:creationId xmlns:a16="http://schemas.microsoft.com/office/drawing/2014/main" id="{989F928C-1321-4324-7C0A-1750F4FE4AD2}"/>
              </a:ext>
            </a:extLst>
          </p:cNvPr>
          <p:cNvSpPr txBox="1"/>
          <p:nvPr/>
        </p:nvSpPr>
        <p:spPr>
          <a:xfrm>
            <a:off x="5566706" y="3336523"/>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00B050"/>
                </a:solidFill>
                <a:latin typeface="Cantata One"/>
                <a:ea typeface="Cantata One"/>
                <a:cs typeface="Cantata One"/>
                <a:sym typeface="Cantata One"/>
              </a:rPr>
              <a:t>100%</a:t>
            </a:r>
            <a:endParaRPr sz="2400" b="1" dirty="0">
              <a:solidFill>
                <a:srgbClr val="00B050"/>
              </a:solidFill>
              <a:latin typeface="Cantata One"/>
              <a:ea typeface="Cantata One"/>
              <a:cs typeface="Cantata One"/>
              <a:sym typeface="Cantata One"/>
            </a:endParaRPr>
          </a:p>
        </p:txBody>
      </p:sp>
      <p:sp>
        <p:nvSpPr>
          <p:cNvPr id="16" name="TextBox 15">
            <a:extLst>
              <a:ext uri="{FF2B5EF4-FFF2-40B4-BE49-F238E27FC236}">
                <a16:creationId xmlns:a16="http://schemas.microsoft.com/office/drawing/2014/main" id="{CE439040-6DA8-78A1-E267-54F0E697B82D}"/>
              </a:ext>
            </a:extLst>
          </p:cNvPr>
          <p:cNvSpPr txBox="1"/>
          <p:nvPr/>
        </p:nvSpPr>
        <p:spPr>
          <a:xfrm>
            <a:off x="4838156" y="2905952"/>
            <a:ext cx="3281111" cy="400110"/>
          </a:xfrm>
          <a:prstGeom prst="rect">
            <a:avLst/>
          </a:prstGeom>
          <a:noFill/>
        </p:spPr>
        <p:txBody>
          <a:bodyPr wrap="square">
            <a:spAutoFit/>
          </a:bodyPr>
          <a:lstStyle/>
          <a:p>
            <a:pPr marL="0" lvl="0" indent="0" algn="ctr" rtl="0">
              <a:spcBef>
                <a:spcPts val="0"/>
              </a:spcBef>
              <a:spcAft>
                <a:spcPts val="0"/>
              </a:spcAft>
              <a:buNone/>
            </a:pPr>
            <a:r>
              <a:rPr lang="en-SG" sz="2000" dirty="0">
                <a:solidFill>
                  <a:schemeClr val="dk1"/>
                </a:solidFill>
                <a:latin typeface="Cantata One"/>
                <a:ea typeface="Cantata One"/>
                <a:cs typeface="Cantata One"/>
                <a:sym typeface="Cantata One"/>
              </a:rPr>
              <a:t>Retention</a:t>
            </a:r>
          </a:p>
        </p:txBody>
      </p:sp>
      <p:grpSp>
        <p:nvGrpSpPr>
          <p:cNvPr id="17" name="Google Shape;714;p57">
            <a:extLst>
              <a:ext uri="{FF2B5EF4-FFF2-40B4-BE49-F238E27FC236}">
                <a16:creationId xmlns:a16="http://schemas.microsoft.com/office/drawing/2014/main" id="{5B7D5078-A05F-F2C2-E0EF-721A5A913ED6}"/>
              </a:ext>
            </a:extLst>
          </p:cNvPr>
          <p:cNvGrpSpPr/>
          <p:nvPr/>
        </p:nvGrpSpPr>
        <p:grpSpPr>
          <a:xfrm>
            <a:off x="6177756" y="2860233"/>
            <a:ext cx="556147" cy="45719"/>
            <a:chOff x="1616163" y="1813750"/>
            <a:chExt cx="2031375" cy="207600"/>
          </a:xfrm>
        </p:grpSpPr>
        <p:sp>
          <p:nvSpPr>
            <p:cNvPr id="18" name="Google Shape;715;p57">
              <a:extLst>
                <a:ext uri="{FF2B5EF4-FFF2-40B4-BE49-F238E27FC236}">
                  <a16:creationId xmlns:a16="http://schemas.microsoft.com/office/drawing/2014/main" id="{565B7F67-1023-BEF2-802A-997DB08A558D}"/>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16;p57">
              <a:extLst>
                <a:ext uri="{FF2B5EF4-FFF2-40B4-BE49-F238E27FC236}">
                  <a16:creationId xmlns:a16="http://schemas.microsoft.com/office/drawing/2014/main" id="{EC6257D4-10E5-8719-F5AA-89A637C3DCD2}"/>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17;p57">
              <a:extLst>
                <a:ext uri="{FF2B5EF4-FFF2-40B4-BE49-F238E27FC236}">
                  <a16:creationId xmlns:a16="http://schemas.microsoft.com/office/drawing/2014/main" id="{CA503362-59F1-843A-5518-94F56F3DD838}"/>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18;p57">
              <a:extLst>
                <a:ext uri="{FF2B5EF4-FFF2-40B4-BE49-F238E27FC236}">
                  <a16:creationId xmlns:a16="http://schemas.microsoft.com/office/drawing/2014/main" id="{072729FC-442D-C7AB-ADBF-A3414C8DC484}"/>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19;p57">
              <a:extLst>
                <a:ext uri="{FF2B5EF4-FFF2-40B4-BE49-F238E27FC236}">
                  <a16:creationId xmlns:a16="http://schemas.microsoft.com/office/drawing/2014/main" id="{59F1CD58-8BE4-8F28-EC82-59180BCCC873}"/>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608;p54">
            <a:extLst>
              <a:ext uri="{FF2B5EF4-FFF2-40B4-BE49-F238E27FC236}">
                <a16:creationId xmlns:a16="http://schemas.microsoft.com/office/drawing/2014/main" id="{2377F423-3821-0F22-8DD3-17DF0F9FD5B7}"/>
              </a:ext>
            </a:extLst>
          </p:cNvPr>
          <p:cNvSpPr txBox="1"/>
          <p:nvPr/>
        </p:nvSpPr>
        <p:spPr>
          <a:xfrm>
            <a:off x="5538288" y="4253639"/>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00B050"/>
                </a:solidFill>
                <a:latin typeface="Cantata One"/>
                <a:ea typeface="Cantata One"/>
                <a:cs typeface="Cantata One"/>
                <a:sym typeface="Cantata One"/>
              </a:rPr>
              <a:t>BEST</a:t>
            </a:r>
            <a:endParaRPr sz="2400" b="1" dirty="0">
              <a:solidFill>
                <a:srgbClr val="00B050"/>
              </a:solidFill>
              <a:latin typeface="Cantata One"/>
              <a:ea typeface="Cantata One"/>
              <a:cs typeface="Cantata One"/>
              <a:sym typeface="Cantata One"/>
            </a:endParaRPr>
          </a:p>
        </p:txBody>
      </p:sp>
      <p:sp>
        <p:nvSpPr>
          <p:cNvPr id="24" name="TextBox 23">
            <a:extLst>
              <a:ext uri="{FF2B5EF4-FFF2-40B4-BE49-F238E27FC236}">
                <a16:creationId xmlns:a16="http://schemas.microsoft.com/office/drawing/2014/main" id="{E8B5AEEB-AB20-1F0F-3650-3FBE490785F3}"/>
              </a:ext>
            </a:extLst>
          </p:cNvPr>
          <p:cNvSpPr txBox="1"/>
          <p:nvPr/>
        </p:nvSpPr>
        <p:spPr>
          <a:xfrm>
            <a:off x="4809738" y="3823068"/>
            <a:ext cx="3281111" cy="400110"/>
          </a:xfrm>
          <a:prstGeom prst="rect">
            <a:avLst/>
          </a:prstGeom>
          <a:noFill/>
        </p:spPr>
        <p:txBody>
          <a:bodyPr wrap="square">
            <a:spAutoFit/>
          </a:bodyPr>
          <a:lstStyle/>
          <a:p>
            <a:pPr marL="0" lvl="0" indent="0" algn="ctr" rtl="0">
              <a:spcBef>
                <a:spcPts val="0"/>
              </a:spcBef>
              <a:spcAft>
                <a:spcPts val="0"/>
              </a:spcAft>
              <a:buNone/>
            </a:pPr>
            <a:r>
              <a:rPr lang="en-SG" sz="2000" dirty="0">
                <a:solidFill>
                  <a:schemeClr val="dk1"/>
                </a:solidFill>
                <a:latin typeface="Cantata One"/>
                <a:ea typeface="Cantata One"/>
                <a:cs typeface="Cantata One"/>
                <a:sym typeface="Cantata One"/>
              </a:rPr>
              <a:t>Team Performance</a:t>
            </a:r>
          </a:p>
        </p:txBody>
      </p:sp>
      <p:grpSp>
        <p:nvGrpSpPr>
          <p:cNvPr id="25" name="Google Shape;714;p57">
            <a:extLst>
              <a:ext uri="{FF2B5EF4-FFF2-40B4-BE49-F238E27FC236}">
                <a16:creationId xmlns:a16="http://schemas.microsoft.com/office/drawing/2014/main" id="{22864C65-5C98-97A3-566D-310A9A42FC51}"/>
              </a:ext>
            </a:extLst>
          </p:cNvPr>
          <p:cNvGrpSpPr/>
          <p:nvPr/>
        </p:nvGrpSpPr>
        <p:grpSpPr>
          <a:xfrm>
            <a:off x="6149338" y="3777349"/>
            <a:ext cx="556147" cy="45719"/>
            <a:chOff x="1616163" y="1813750"/>
            <a:chExt cx="2031375" cy="207600"/>
          </a:xfrm>
        </p:grpSpPr>
        <p:sp>
          <p:nvSpPr>
            <p:cNvPr id="26" name="Google Shape;715;p57">
              <a:extLst>
                <a:ext uri="{FF2B5EF4-FFF2-40B4-BE49-F238E27FC236}">
                  <a16:creationId xmlns:a16="http://schemas.microsoft.com/office/drawing/2014/main" id="{F1A81555-1CB9-C5B9-6C66-763D72C35135}"/>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16;p57">
              <a:extLst>
                <a:ext uri="{FF2B5EF4-FFF2-40B4-BE49-F238E27FC236}">
                  <a16:creationId xmlns:a16="http://schemas.microsoft.com/office/drawing/2014/main" id="{EEE43706-D66B-EB4A-9389-064B45C30BED}"/>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7;p57">
              <a:extLst>
                <a:ext uri="{FF2B5EF4-FFF2-40B4-BE49-F238E27FC236}">
                  <a16:creationId xmlns:a16="http://schemas.microsoft.com/office/drawing/2014/main" id="{A802E92A-F2B5-40B8-01FF-BAB0A96420C3}"/>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8;p57">
              <a:extLst>
                <a:ext uri="{FF2B5EF4-FFF2-40B4-BE49-F238E27FC236}">
                  <a16:creationId xmlns:a16="http://schemas.microsoft.com/office/drawing/2014/main" id="{351BF776-70E6-5733-BF43-8BEDDB46E44E}"/>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9;p57">
              <a:extLst>
                <a:ext uri="{FF2B5EF4-FFF2-40B4-BE49-F238E27FC236}">
                  <a16:creationId xmlns:a16="http://schemas.microsoft.com/office/drawing/2014/main" id="{A6FA7634-8872-1B55-1F83-CC36F4769717}"/>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07502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54"/>
          <p:cNvSpPr txBox="1">
            <a:spLocks noGrp="1"/>
          </p:cNvSpPr>
          <p:nvPr>
            <p:ph type="title"/>
          </p:nvPr>
        </p:nvSpPr>
        <p:spPr>
          <a:xfrm>
            <a:off x="713225" y="334813"/>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rgbClr val="FF0000"/>
                </a:solidFill>
              </a:rPr>
              <a:t>LOW</a:t>
            </a:r>
            <a:r>
              <a:rPr lang="en" dirty="0"/>
              <a:t> PERFORMING MANAGER</a:t>
            </a:r>
            <a:endParaRPr dirty="0"/>
          </a:p>
        </p:txBody>
      </p:sp>
      <p:sp>
        <p:nvSpPr>
          <p:cNvPr id="611" name="Google Shape;611;p54"/>
          <p:cNvSpPr txBox="1"/>
          <p:nvPr/>
        </p:nvSpPr>
        <p:spPr>
          <a:xfrm flipH="1">
            <a:off x="823304" y="1383150"/>
            <a:ext cx="2489100" cy="36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dk1"/>
                </a:solidFill>
                <a:latin typeface="Cantata One"/>
                <a:ea typeface="Cantata One"/>
                <a:cs typeface="Cantata One"/>
                <a:sym typeface="Cantata One"/>
              </a:rPr>
              <a:t>$780.000</a:t>
            </a:r>
            <a:endParaRPr sz="3000">
              <a:solidFill>
                <a:schemeClr val="dk1"/>
              </a:solidFill>
              <a:latin typeface="Cantata One"/>
              <a:ea typeface="Cantata One"/>
              <a:cs typeface="Cantata One"/>
              <a:sym typeface="Cantata One"/>
            </a:endParaRPr>
          </a:p>
        </p:txBody>
      </p:sp>
      <p:sp>
        <p:nvSpPr>
          <p:cNvPr id="612" name="Google Shape;612;p54"/>
          <p:cNvSpPr txBox="1"/>
          <p:nvPr/>
        </p:nvSpPr>
        <p:spPr>
          <a:xfrm flipH="1">
            <a:off x="823301" y="1820850"/>
            <a:ext cx="2489100" cy="2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bin"/>
                <a:ea typeface="Cabin"/>
                <a:cs typeface="Cabin"/>
                <a:sym typeface="Cabin"/>
              </a:rPr>
              <a:t>Expected revenue in 2024</a:t>
            </a:r>
            <a:endParaRPr>
              <a:solidFill>
                <a:schemeClr val="dk1"/>
              </a:solidFill>
              <a:latin typeface="Cabin"/>
              <a:ea typeface="Cabin"/>
              <a:cs typeface="Cabin"/>
              <a:sym typeface="Cabin"/>
            </a:endParaRPr>
          </a:p>
        </p:txBody>
      </p:sp>
      <p:pic>
        <p:nvPicPr>
          <p:cNvPr id="2" name="Picture 1">
            <a:extLst>
              <a:ext uri="{FF2B5EF4-FFF2-40B4-BE49-F238E27FC236}">
                <a16:creationId xmlns:a16="http://schemas.microsoft.com/office/drawing/2014/main" id="{8AD373C6-225E-C51D-FE4E-320517527B96}"/>
              </a:ext>
            </a:extLst>
          </p:cNvPr>
          <p:cNvPicPr>
            <a:picLocks noChangeAspect="1"/>
          </p:cNvPicPr>
          <p:nvPr/>
        </p:nvPicPr>
        <p:blipFill>
          <a:blip r:embed="rId3"/>
          <a:stretch>
            <a:fillRect/>
          </a:stretch>
        </p:blipFill>
        <p:spPr>
          <a:xfrm>
            <a:off x="292316" y="1016409"/>
            <a:ext cx="4190277" cy="3605945"/>
          </a:xfrm>
          <a:prstGeom prst="rect">
            <a:avLst/>
          </a:prstGeom>
        </p:spPr>
      </p:pic>
      <p:sp>
        <p:nvSpPr>
          <p:cNvPr id="5" name="Rectangle 4">
            <a:extLst>
              <a:ext uri="{FF2B5EF4-FFF2-40B4-BE49-F238E27FC236}">
                <a16:creationId xmlns:a16="http://schemas.microsoft.com/office/drawing/2014/main" id="{7E3863D8-C961-AD7E-6F26-965F97E4D6B7}"/>
              </a:ext>
            </a:extLst>
          </p:cNvPr>
          <p:cNvSpPr/>
          <p:nvPr/>
        </p:nvSpPr>
        <p:spPr>
          <a:xfrm>
            <a:off x="329255" y="4376057"/>
            <a:ext cx="4053334" cy="1588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568;p52">
            <a:extLst>
              <a:ext uri="{FF2B5EF4-FFF2-40B4-BE49-F238E27FC236}">
                <a16:creationId xmlns:a16="http://schemas.microsoft.com/office/drawing/2014/main" id="{927835BB-AF0F-1E09-D9FB-67305F761281}"/>
              </a:ext>
            </a:extLst>
          </p:cNvPr>
          <p:cNvSpPr txBox="1">
            <a:spLocks/>
          </p:cNvSpPr>
          <p:nvPr/>
        </p:nvSpPr>
        <p:spPr>
          <a:xfrm>
            <a:off x="5087270" y="1164006"/>
            <a:ext cx="189574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sz="2800" b="1" dirty="0">
                <a:solidFill>
                  <a:schemeClr val="dk2"/>
                </a:solidFill>
              </a:rPr>
              <a:t>Manager</a:t>
            </a:r>
          </a:p>
        </p:txBody>
      </p:sp>
      <p:sp>
        <p:nvSpPr>
          <p:cNvPr id="7" name="Google Shape;604;p54">
            <a:extLst>
              <a:ext uri="{FF2B5EF4-FFF2-40B4-BE49-F238E27FC236}">
                <a16:creationId xmlns:a16="http://schemas.microsoft.com/office/drawing/2014/main" id="{98E5321E-7DAB-7A58-50DD-715B9746134B}"/>
              </a:ext>
            </a:extLst>
          </p:cNvPr>
          <p:cNvSpPr txBox="1"/>
          <p:nvPr/>
        </p:nvSpPr>
        <p:spPr>
          <a:xfrm>
            <a:off x="5287282" y="1466373"/>
            <a:ext cx="3126819" cy="36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200" b="1" dirty="0">
                <a:solidFill>
                  <a:schemeClr val="dk1"/>
                </a:solidFill>
                <a:latin typeface="Cantata One"/>
                <a:ea typeface="Cantata One"/>
                <a:cs typeface="Cantata One"/>
                <a:sym typeface="Cantata One"/>
              </a:rPr>
              <a:t>Amy Dunn</a:t>
            </a:r>
            <a:endParaRPr sz="3200" b="1" dirty="0">
              <a:solidFill>
                <a:schemeClr val="dk1"/>
              </a:solidFill>
              <a:latin typeface="Cantata One"/>
              <a:ea typeface="Cantata One"/>
              <a:cs typeface="Cantata One"/>
              <a:sym typeface="Cantata One"/>
            </a:endParaRPr>
          </a:p>
        </p:txBody>
      </p:sp>
      <p:sp>
        <p:nvSpPr>
          <p:cNvPr id="8" name="Google Shape;608;p54">
            <a:extLst>
              <a:ext uri="{FF2B5EF4-FFF2-40B4-BE49-F238E27FC236}">
                <a16:creationId xmlns:a16="http://schemas.microsoft.com/office/drawing/2014/main" id="{7C4486A2-A5D9-73B3-6DAD-8A254C589F61}"/>
              </a:ext>
            </a:extLst>
          </p:cNvPr>
          <p:cNvSpPr txBox="1"/>
          <p:nvPr/>
        </p:nvSpPr>
        <p:spPr>
          <a:xfrm>
            <a:off x="5242943" y="2428089"/>
            <a:ext cx="2414700"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92D050"/>
                </a:solidFill>
                <a:latin typeface="Cantata One"/>
                <a:ea typeface="Cantata One"/>
                <a:cs typeface="Cantata One"/>
                <a:sym typeface="Cantata One"/>
              </a:rPr>
              <a:t>Fully Meets</a:t>
            </a:r>
            <a:endParaRPr sz="2400" b="1" dirty="0">
              <a:solidFill>
                <a:srgbClr val="92D050"/>
              </a:solidFill>
              <a:latin typeface="Cantata One"/>
              <a:ea typeface="Cantata One"/>
              <a:cs typeface="Cantata One"/>
              <a:sym typeface="Cantata One"/>
            </a:endParaRPr>
          </a:p>
        </p:txBody>
      </p:sp>
      <p:sp>
        <p:nvSpPr>
          <p:cNvPr id="9" name="TextBox 8">
            <a:extLst>
              <a:ext uri="{FF2B5EF4-FFF2-40B4-BE49-F238E27FC236}">
                <a16:creationId xmlns:a16="http://schemas.microsoft.com/office/drawing/2014/main" id="{53459916-E987-2526-297A-995E2ADCC86C}"/>
              </a:ext>
            </a:extLst>
          </p:cNvPr>
          <p:cNvSpPr txBox="1"/>
          <p:nvPr/>
        </p:nvSpPr>
        <p:spPr>
          <a:xfrm>
            <a:off x="4883876" y="2034555"/>
            <a:ext cx="3281111" cy="400110"/>
          </a:xfrm>
          <a:prstGeom prst="rect">
            <a:avLst/>
          </a:prstGeom>
          <a:noFill/>
        </p:spPr>
        <p:txBody>
          <a:bodyPr wrap="square">
            <a:spAutoFit/>
          </a:bodyPr>
          <a:lstStyle/>
          <a:p>
            <a:pPr marL="0" lvl="0" indent="0" algn="l" rtl="0">
              <a:spcBef>
                <a:spcPts val="0"/>
              </a:spcBef>
              <a:spcAft>
                <a:spcPts val="0"/>
              </a:spcAft>
              <a:buNone/>
            </a:pPr>
            <a:r>
              <a:rPr lang="en-SG" sz="2000" dirty="0">
                <a:solidFill>
                  <a:schemeClr val="dk1"/>
                </a:solidFill>
                <a:latin typeface="Cantata One"/>
                <a:ea typeface="Cantata One"/>
                <a:cs typeface="Cantata One"/>
                <a:sym typeface="Cantata One"/>
              </a:rPr>
              <a:t>Individual Performance</a:t>
            </a:r>
          </a:p>
        </p:txBody>
      </p:sp>
      <p:grpSp>
        <p:nvGrpSpPr>
          <p:cNvPr id="10" name="Google Shape;714;p57">
            <a:extLst>
              <a:ext uri="{FF2B5EF4-FFF2-40B4-BE49-F238E27FC236}">
                <a16:creationId xmlns:a16="http://schemas.microsoft.com/office/drawing/2014/main" id="{4F7D8EF7-0ACF-955D-8FF1-E319AD53B0B3}"/>
              </a:ext>
            </a:extLst>
          </p:cNvPr>
          <p:cNvGrpSpPr/>
          <p:nvPr/>
        </p:nvGrpSpPr>
        <p:grpSpPr>
          <a:xfrm>
            <a:off x="6177756" y="1956802"/>
            <a:ext cx="556147" cy="45719"/>
            <a:chOff x="1616163" y="1813750"/>
            <a:chExt cx="2031375" cy="207600"/>
          </a:xfrm>
        </p:grpSpPr>
        <p:sp>
          <p:nvSpPr>
            <p:cNvPr id="11" name="Google Shape;715;p57">
              <a:extLst>
                <a:ext uri="{FF2B5EF4-FFF2-40B4-BE49-F238E27FC236}">
                  <a16:creationId xmlns:a16="http://schemas.microsoft.com/office/drawing/2014/main" id="{C0E52A1C-9FDD-9EB1-C443-EC86C97398D0}"/>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16;p57">
              <a:extLst>
                <a:ext uri="{FF2B5EF4-FFF2-40B4-BE49-F238E27FC236}">
                  <a16:creationId xmlns:a16="http://schemas.microsoft.com/office/drawing/2014/main" id="{3E18B32B-EE52-24E3-647D-85255B7E5F0C}"/>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17;p57">
              <a:extLst>
                <a:ext uri="{FF2B5EF4-FFF2-40B4-BE49-F238E27FC236}">
                  <a16:creationId xmlns:a16="http://schemas.microsoft.com/office/drawing/2014/main" id="{906B7E4F-9331-1EE6-8181-2E9A4C7822EF}"/>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18;p57">
              <a:extLst>
                <a:ext uri="{FF2B5EF4-FFF2-40B4-BE49-F238E27FC236}">
                  <a16:creationId xmlns:a16="http://schemas.microsoft.com/office/drawing/2014/main" id="{30086B9A-0797-EF5A-553F-832DFBDD0E24}"/>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19;p57">
              <a:extLst>
                <a:ext uri="{FF2B5EF4-FFF2-40B4-BE49-F238E27FC236}">
                  <a16:creationId xmlns:a16="http://schemas.microsoft.com/office/drawing/2014/main" id="{930DB4F6-2766-B12B-B30E-9279D0DA1A75}"/>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608;p54">
            <a:extLst>
              <a:ext uri="{FF2B5EF4-FFF2-40B4-BE49-F238E27FC236}">
                <a16:creationId xmlns:a16="http://schemas.microsoft.com/office/drawing/2014/main" id="{36E76A73-931A-A456-4049-F0C65D543AC0}"/>
              </a:ext>
            </a:extLst>
          </p:cNvPr>
          <p:cNvSpPr txBox="1"/>
          <p:nvPr/>
        </p:nvSpPr>
        <p:spPr>
          <a:xfrm>
            <a:off x="5566706" y="3336523"/>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FF0000"/>
                </a:solidFill>
                <a:latin typeface="Cantata One"/>
                <a:ea typeface="Cantata One"/>
                <a:cs typeface="Cantata One"/>
                <a:sym typeface="Cantata One"/>
              </a:rPr>
              <a:t>38.1%</a:t>
            </a:r>
            <a:endParaRPr sz="2400" b="1" dirty="0">
              <a:solidFill>
                <a:srgbClr val="FF0000"/>
              </a:solidFill>
              <a:latin typeface="Cantata One"/>
              <a:ea typeface="Cantata One"/>
              <a:cs typeface="Cantata One"/>
              <a:sym typeface="Cantata One"/>
            </a:endParaRPr>
          </a:p>
        </p:txBody>
      </p:sp>
      <p:sp>
        <p:nvSpPr>
          <p:cNvPr id="17" name="TextBox 16">
            <a:extLst>
              <a:ext uri="{FF2B5EF4-FFF2-40B4-BE49-F238E27FC236}">
                <a16:creationId xmlns:a16="http://schemas.microsoft.com/office/drawing/2014/main" id="{EB5FB48D-F554-1D98-8DA9-4E9DF3A2A144}"/>
              </a:ext>
            </a:extLst>
          </p:cNvPr>
          <p:cNvSpPr txBox="1"/>
          <p:nvPr/>
        </p:nvSpPr>
        <p:spPr>
          <a:xfrm>
            <a:off x="4838156" y="2905952"/>
            <a:ext cx="3281111" cy="400110"/>
          </a:xfrm>
          <a:prstGeom prst="rect">
            <a:avLst/>
          </a:prstGeom>
          <a:noFill/>
        </p:spPr>
        <p:txBody>
          <a:bodyPr wrap="square">
            <a:spAutoFit/>
          </a:bodyPr>
          <a:lstStyle/>
          <a:p>
            <a:pPr marL="0" lvl="0" indent="0" algn="ctr" rtl="0">
              <a:spcBef>
                <a:spcPts val="0"/>
              </a:spcBef>
              <a:spcAft>
                <a:spcPts val="0"/>
              </a:spcAft>
              <a:buNone/>
            </a:pPr>
            <a:r>
              <a:rPr lang="en-SG" sz="2000" dirty="0">
                <a:solidFill>
                  <a:schemeClr val="dk1"/>
                </a:solidFill>
                <a:latin typeface="Cantata One"/>
                <a:ea typeface="Cantata One"/>
                <a:cs typeface="Cantata One"/>
                <a:sym typeface="Cantata One"/>
              </a:rPr>
              <a:t>Retention</a:t>
            </a:r>
          </a:p>
        </p:txBody>
      </p:sp>
      <p:grpSp>
        <p:nvGrpSpPr>
          <p:cNvPr id="18" name="Google Shape;714;p57">
            <a:extLst>
              <a:ext uri="{FF2B5EF4-FFF2-40B4-BE49-F238E27FC236}">
                <a16:creationId xmlns:a16="http://schemas.microsoft.com/office/drawing/2014/main" id="{7351715C-FA5D-AAEF-6368-BA9EC7595A55}"/>
              </a:ext>
            </a:extLst>
          </p:cNvPr>
          <p:cNvGrpSpPr/>
          <p:nvPr/>
        </p:nvGrpSpPr>
        <p:grpSpPr>
          <a:xfrm>
            <a:off x="6177756" y="2860233"/>
            <a:ext cx="556147" cy="45719"/>
            <a:chOff x="1616163" y="1813750"/>
            <a:chExt cx="2031375" cy="207600"/>
          </a:xfrm>
        </p:grpSpPr>
        <p:sp>
          <p:nvSpPr>
            <p:cNvPr id="19" name="Google Shape;715;p57">
              <a:extLst>
                <a:ext uri="{FF2B5EF4-FFF2-40B4-BE49-F238E27FC236}">
                  <a16:creationId xmlns:a16="http://schemas.microsoft.com/office/drawing/2014/main" id="{4C5B72A6-CF0D-AEB7-C54C-14C8B23ABAC6}"/>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16;p57">
              <a:extLst>
                <a:ext uri="{FF2B5EF4-FFF2-40B4-BE49-F238E27FC236}">
                  <a16:creationId xmlns:a16="http://schemas.microsoft.com/office/drawing/2014/main" id="{E0683018-94DA-FF9A-0055-50D0AC5D1918}"/>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17;p57">
              <a:extLst>
                <a:ext uri="{FF2B5EF4-FFF2-40B4-BE49-F238E27FC236}">
                  <a16:creationId xmlns:a16="http://schemas.microsoft.com/office/drawing/2014/main" id="{E9FCDBFF-AA58-9BF2-2D2A-5A048B63BF8D}"/>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18;p57">
              <a:extLst>
                <a:ext uri="{FF2B5EF4-FFF2-40B4-BE49-F238E27FC236}">
                  <a16:creationId xmlns:a16="http://schemas.microsoft.com/office/drawing/2014/main" id="{64EEC565-9E48-0070-E37E-0A1DE5157820}"/>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19;p57">
              <a:extLst>
                <a:ext uri="{FF2B5EF4-FFF2-40B4-BE49-F238E27FC236}">
                  <a16:creationId xmlns:a16="http://schemas.microsoft.com/office/drawing/2014/main" id="{4AB335D2-AF12-409A-37C9-7DA5B66E288E}"/>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608;p54">
            <a:extLst>
              <a:ext uri="{FF2B5EF4-FFF2-40B4-BE49-F238E27FC236}">
                <a16:creationId xmlns:a16="http://schemas.microsoft.com/office/drawing/2014/main" id="{447751EF-DB68-B771-4EDB-70574E9CE436}"/>
              </a:ext>
            </a:extLst>
          </p:cNvPr>
          <p:cNvSpPr txBox="1"/>
          <p:nvPr/>
        </p:nvSpPr>
        <p:spPr>
          <a:xfrm>
            <a:off x="5538288" y="4253639"/>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92D050"/>
                </a:solidFill>
                <a:latin typeface="Cantata One"/>
                <a:ea typeface="Cantata One"/>
                <a:cs typeface="Cantata One"/>
                <a:sym typeface="Cantata One"/>
              </a:rPr>
              <a:t>51.6%</a:t>
            </a:r>
            <a:endParaRPr sz="2400" b="1" dirty="0">
              <a:solidFill>
                <a:srgbClr val="92D050"/>
              </a:solidFill>
              <a:latin typeface="Cantata One"/>
              <a:ea typeface="Cantata One"/>
              <a:cs typeface="Cantata One"/>
              <a:sym typeface="Cantata One"/>
            </a:endParaRPr>
          </a:p>
        </p:txBody>
      </p:sp>
      <p:sp>
        <p:nvSpPr>
          <p:cNvPr id="25" name="TextBox 24">
            <a:extLst>
              <a:ext uri="{FF2B5EF4-FFF2-40B4-BE49-F238E27FC236}">
                <a16:creationId xmlns:a16="http://schemas.microsoft.com/office/drawing/2014/main" id="{5E2491D5-A13E-58A3-2BD6-273C6C83DEC8}"/>
              </a:ext>
            </a:extLst>
          </p:cNvPr>
          <p:cNvSpPr txBox="1"/>
          <p:nvPr/>
        </p:nvSpPr>
        <p:spPr>
          <a:xfrm>
            <a:off x="4809738" y="3823068"/>
            <a:ext cx="3281111" cy="400110"/>
          </a:xfrm>
          <a:prstGeom prst="rect">
            <a:avLst/>
          </a:prstGeom>
          <a:noFill/>
        </p:spPr>
        <p:txBody>
          <a:bodyPr wrap="square">
            <a:spAutoFit/>
          </a:bodyPr>
          <a:lstStyle/>
          <a:p>
            <a:pPr marL="0" lvl="0" indent="0" algn="ctr" rtl="0">
              <a:spcBef>
                <a:spcPts val="0"/>
              </a:spcBef>
              <a:spcAft>
                <a:spcPts val="0"/>
              </a:spcAft>
              <a:buNone/>
            </a:pPr>
            <a:r>
              <a:rPr lang="en-SG" sz="2000" dirty="0">
                <a:solidFill>
                  <a:schemeClr val="dk1"/>
                </a:solidFill>
                <a:latin typeface="Cantata One"/>
                <a:ea typeface="Cantata One"/>
                <a:cs typeface="Cantata One"/>
                <a:sym typeface="Cantata One"/>
              </a:rPr>
              <a:t>Team Performance</a:t>
            </a:r>
          </a:p>
        </p:txBody>
      </p:sp>
      <p:grpSp>
        <p:nvGrpSpPr>
          <p:cNvPr id="26" name="Google Shape;714;p57">
            <a:extLst>
              <a:ext uri="{FF2B5EF4-FFF2-40B4-BE49-F238E27FC236}">
                <a16:creationId xmlns:a16="http://schemas.microsoft.com/office/drawing/2014/main" id="{AD25D908-2217-4441-05EB-608E9CF2278D}"/>
              </a:ext>
            </a:extLst>
          </p:cNvPr>
          <p:cNvGrpSpPr/>
          <p:nvPr/>
        </p:nvGrpSpPr>
        <p:grpSpPr>
          <a:xfrm>
            <a:off x="6149338" y="3777349"/>
            <a:ext cx="556147" cy="45719"/>
            <a:chOff x="1616163" y="1813750"/>
            <a:chExt cx="2031375" cy="207600"/>
          </a:xfrm>
        </p:grpSpPr>
        <p:sp>
          <p:nvSpPr>
            <p:cNvPr id="27" name="Google Shape;715;p57">
              <a:extLst>
                <a:ext uri="{FF2B5EF4-FFF2-40B4-BE49-F238E27FC236}">
                  <a16:creationId xmlns:a16="http://schemas.microsoft.com/office/drawing/2014/main" id="{04EF7481-2831-9194-D637-6AF8FD336E3C}"/>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6;p57">
              <a:extLst>
                <a:ext uri="{FF2B5EF4-FFF2-40B4-BE49-F238E27FC236}">
                  <a16:creationId xmlns:a16="http://schemas.microsoft.com/office/drawing/2014/main" id="{F8D4552F-21BB-2A09-77B7-82E7CD4D5CDE}"/>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7;p57">
              <a:extLst>
                <a:ext uri="{FF2B5EF4-FFF2-40B4-BE49-F238E27FC236}">
                  <a16:creationId xmlns:a16="http://schemas.microsoft.com/office/drawing/2014/main" id="{3A553AE2-6A38-C147-5D3D-337E11E91872}"/>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8;p57">
              <a:extLst>
                <a:ext uri="{FF2B5EF4-FFF2-40B4-BE49-F238E27FC236}">
                  <a16:creationId xmlns:a16="http://schemas.microsoft.com/office/drawing/2014/main" id="{C70FD97D-53F4-1888-86F6-4EBCDAE1D1EE}"/>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19;p57">
              <a:extLst>
                <a:ext uri="{FF2B5EF4-FFF2-40B4-BE49-F238E27FC236}">
                  <a16:creationId xmlns:a16="http://schemas.microsoft.com/office/drawing/2014/main" id="{64CEB3B9-5EBB-F7FB-69A3-370BBC151DC8}"/>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24106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9" name="Google Shape;459;p48"/>
          <p:cNvSpPr txBox="1">
            <a:spLocks noGrp="1"/>
          </p:cNvSpPr>
          <p:nvPr>
            <p:ph type="subTitle" idx="2"/>
          </p:nvPr>
        </p:nvSpPr>
        <p:spPr>
          <a:xfrm rot="5400000" flipH="1">
            <a:off x="7689005" y="2452950"/>
            <a:ext cx="22242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HR Analysis</a:t>
            </a:r>
            <a:endParaRPr dirty="0"/>
          </a:p>
        </p:txBody>
      </p:sp>
      <p:sp>
        <p:nvSpPr>
          <p:cNvPr id="2" name="Google Shape;568;p52">
            <a:extLst>
              <a:ext uri="{FF2B5EF4-FFF2-40B4-BE49-F238E27FC236}">
                <a16:creationId xmlns:a16="http://schemas.microsoft.com/office/drawing/2014/main" id="{CB6095DD-6DB4-E7BC-F794-687F35FAA31F}"/>
              </a:ext>
            </a:extLst>
          </p:cNvPr>
          <p:cNvSpPr txBox="1">
            <a:spLocks/>
          </p:cNvSpPr>
          <p:nvPr/>
        </p:nvSpPr>
        <p:spPr>
          <a:xfrm>
            <a:off x="936544" y="773350"/>
            <a:ext cx="189574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ntata One"/>
              <a:buNone/>
              <a:defRPr sz="3200" b="0" i="0" u="none" strike="noStrike" cap="none">
                <a:solidFill>
                  <a:schemeClr val="dk1"/>
                </a:solidFill>
                <a:latin typeface="Cantata One"/>
                <a:ea typeface="Cantata One"/>
                <a:cs typeface="Cantata One"/>
                <a:sym typeface="Cantata On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SG" sz="2800" b="1" dirty="0">
                <a:solidFill>
                  <a:schemeClr val="dk2"/>
                </a:solidFill>
              </a:rPr>
              <a:t>Manager</a:t>
            </a:r>
          </a:p>
        </p:txBody>
      </p:sp>
      <p:sp>
        <p:nvSpPr>
          <p:cNvPr id="3" name="Google Shape;604;p54">
            <a:extLst>
              <a:ext uri="{FF2B5EF4-FFF2-40B4-BE49-F238E27FC236}">
                <a16:creationId xmlns:a16="http://schemas.microsoft.com/office/drawing/2014/main" id="{F8AB7516-A925-1D96-5881-6722A374D51D}"/>
              </a:ext>
            </a:extLst>
          </p:cNvPr>
          <p:cNvSpPr txBox="1"/>
          <p:nvPr/>
        </p:nvSpPr>
        <p:spPr>
          <a:xfrm>
            <a:off x="1136556" y="1128627"/>
            <a:ext cx="3126819" cy="36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200" b="1" dirty="0">
                <a:solidFill>
                  <a:schemeClr val="dk1"/>
                </a:solidFill>
                <a:latin typeface="Cantata One"/>
                <a:ea typeface="Cantata One"/>
                <a:cs typeface="Cantata One"/>
                <a:sym typeface="Cantata One"/>
              </a:rPr>
              <a:t>Amy Dunn</a:t>
            </a:r>
            <a:endParaRPr sz="3200" b="1" dirty="0">
              <a:solidFill>
                <a:schemeClr val="dk1"/>
              </a:solidFill>
              <a:latin typeface="Cantata One"/>
              <a:ea typeface="Cantata One"/>
              <a:cs typeface="Cantata One"/>
              <a:sym typeface="Cantata One"/>
            </a:endParaRPr>
          </a:p>
        </p:txBody>
      </p:sp>
      <p:sp>
        <p:nvSpPr>
          <p:cNvPr id="4" name="Google Shape;608;p54">
            <a:extLst>
              <a:ext uri="{FF2B5EF4-FFF2-40B4-BE49-F238E27FC236}">
                <a16:creationId xmlns:a16="http://schemas.microsoft.com/office/drawing/2014/main" id="{111DB9E5-8B1B-F4D5-2CF3-97EF97C477C2}"/>
              </a:ext>
            </a:extLst>
          </p:cNvPr>
          <p:cNvSpPr txBox="1"/>
          <p:nvPr/>
        </p:nvSpPr>
        <p:spPr>
          <a:xfrm>
            <a:off x="1092217" y="2090343"/>
            <a:ext cx="2414700"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92D050"/>
                </a:solidFill>
                <a:latin typeface="Cantata One"/>
                <a:ea typeface="Cantata One"/>
                <a:cs typeface="Cantata One"/>
                <a:sym typeface="Cantata One"/>
              </a:rPr>
              <a:t>Fully Meets</a:t>
            </a:r>
            <a:endParaRPr sz="2400" b="1" dirty="0">
              <a:solidFill>
                <a:srgbClr val="92D050"/>
              </a:solidFill>
              <a:latin typeface="Cantata One"/>
              <a:ea typeface="Cantata One"/>
              <a:cs typeface="Cantata One"/>
              <a:sym typeface="Cantata One"/>
            </a:endParaRPr>
          </a:p>
        </p:txBody>
      </p:sp>
      <p:sp>
        <p:nvSpPr>
          <p:cNvPr id="5" name="TextBox 4">
            <a:extLst>
              <a:ext uri="{FF2B5EF4-FFF2-40B4-BE49-F238E27FC236}">
                <a16:creationId xmlns:a16="http://schemas.microsoft.com/office/drawing/2014/main" id="{C84F9E98-A2C7-0443-32EF-34229472B011}"/>
              </a:ext>
            </a:extLst>
          </p:cNvPr>
          <p:cNvSpPr txBox="1"/>
          <p:nvPr/>
        </p:nvSpPr>
        <p:spPr>
          <a:xfrm>
            <a:off x="733150" y="1696809"/>
            <a:ext cx="3281111" cy="400110"/>
          </a:xfrm>
          <a:prstGeom prst="rect">
            <a:avLst/>
          </a:prstGeom>
          <a:noFill/>
        </p:spPr>
        <p:txBody>
          <a:bodyPr wrap="square">
            <a:spAutoFit/>
          </a:bodyPr>
          <a:lstStyle/>
          <a:p>
            <a:pPr marL="0" lvl="0" indent="0" algn="l" rtl="0">
              <a:spcBef>
                <a:spcPts val="0"/>
              </a:spcBef>
              <a:spcAft>
                <a:spcPts val="0"/>
              </a:spcAft>
              <a:buNone/>
            </a:pPr>
            <a:r>
              <a:rPr lang="en-SG" sz="2000" dirty="0">
                <a:solidFill>
                  <a:schemeClr val="dk1"/>
                </a:solidFill>
                <a:latin typeface="Cantata One"/>
                <a:ea typeface="Cantata One"/>
                <a:cs typeface="Cantata One"/>
                <a:sym typeface="Cantata One"/>
              </a:rPr>
              <a:t>Individual Performance</a:t>
            </a:r>
          </a:p>
        </p:txBody>
      </p:sp>
      <p:grpSp>
        <p:nvGrpSpPr>
          <p:cNvPr id="6" name="Google Shape;714;p57">
            <a:extLst>
              <a:ext uri="{FF2B5EF4-FFF2-40B4-BE49-F238E27FC236}">
                <a16:creationId xmlns:a16="http://schemas.microsoft.com/office/drawing/2014/main" id="{6441F418-72A8-A8B1-5B5C-E6A520CDB3FC}"/>
              </a:ext>
            </a:extLst>
          </p:cNvPr>
          <p:cNvGrpSpPr/>
          <p:nvPr/>
        </p:nvGrpSpPr>
        <p:grpSpPr>
          <a:xfrm>
            <a:off x="2027030" y="1619056"/>
            <a:ext cx="556147" cy="45719"/>
            <a:chOff x="1616163" y="1813750"/>
            <a:chExt cx="2031375" cy="207600"/>
          </a:xfrm>
        </p:grpSpPr>
        <p:sp>
          <p:nvSpPr>
            <p:cNvPr id="7" name="Google Shape;715;p57">
              <a:extLst>
                <a:ext uri="{FF2B5EF4-FFF2-40B4-BE49-F238E27FC236}">
                  <a16:creationId xmlns:a16="http://schemas.microsoft.com/office/drawing/2014/main" id="{77B17756-89FB-0B45-7B1F-37EE04875E0D}"/>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16;p57">
              <a:extLst>
                <a:ext uri="{FF2B5EF4-FFF2-40B4-BE49-F238E27FC236}">
                  <a16:creationId xmlns:a16="http://schemas.microsoft.com/office/drawing/2014/main" id="{B63889A4-217C-C682-D52B-9B91CAFD6167}"/>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17;p57">
              <a:extLst>
                <a:ext uri="{FF2B5EF4-FFF2-40B4-BE49-F238E27FC236}">
                  <a16:creationId xmlns:a16="http://schemas.microsoft.com/office/drawing/2014/main" id="{97C9159A-1854-438F-50FF-63AD3B01B8EE}"/>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18;p57">
              <a:extLst>
                <a:ext uri="{FF2B5EF4-FFF2-40B4-BE49-F238E27FC236}">
                  <a16:creationId xmlns:a16="http://schemas.microsoft.com/office/drawing/2014/main" id="{3DD85E5A-9BEA-A94D-7DED-8AC8C554D89C}"/>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19;p57">
              <a:extLst>
                <a:ext uri="{FF2B5EF4-FFF2-40B4-BE49-F238E27FC236}">
                  <a16:creationId xmlns:a16="http://schemas.microsoft.com/office/drawing/2014/main" id="{5C4DAE76-6C4D-F219-1930-16401D2F26BC}"/>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608;p54">
            <a:extLst>
              <a:ext uri="{FF2B5EF4-FFF2-40B4-BE49-F238E27FC236}">
                <a16:creationId xmlns:a16="http://schemas.microsoft.com/office/drawing/2014/main" id="{AA4A08C8-157A-FD99-6C87-971901FA1086}"/>
              </a:ext>
            </a:extLst>
          </p:cNvPr>
          <p:cNvSpPr txBox="1"/>
          <p:nvPr/>
        </p:nvSpPr>
        <p:spPr>
          <a:xfrm>
            <a:off x="1415980" y="2998777"/>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FF0000"/>
                </a:solidFill>
                <a:latin typeface="Cantata One"/>
                <a:ea typeface="Cantata One"/>
                <a:cs typeface="Cantata One"/>
                <a:sym typeface="Cantata One"/>
              </a:rPr>
              <a:t>38.1%</a:t>
            </a:r>
            <a:endParaRPr sz="2400" b="1" dirty="0">
              <a:solidFill>
                <a:srgbClr val="FF0000"/>
              </a:solidFill>
              <a:latin typeface="Cantata One"/>
              <a:ea typeface="Cantata One"/>
              <a:cs typeface="Cantata One"/>
              <a:sym typeface="Cantata One"/>
            </a:endParaRPr>
          </a:p>
        </p:txBody>
      </p:sp>
      <p:sp>
        <p:nvSpPr>
          <p:cNvPr id="13" name="TextBox 12">
            <a:extLst>
              <a:ext uri="{FF2B5EF4-FFF2-40B4-BE49-F238E27FC236}">
                <a16:creationId xmlns:a16="http://schemas.microsoft.com/office/drawing/2014/main" id="{D0BA5E6C-49E9-BFBE-1912-CA7A6A237D20}"/>
              </a:ext>
            </a:extLst>
          </p:cNvPr>
          <p:cNvSpPr txBox="1"/>
          <p:nvPr/>
        </p:nvSpPr>
        <p:spPr>
          <a:xfrm>
            <a:off x="687430" y="2568206"/>
            <a:ext cx="3281111" cy="400110"/>
          </a:xfrm>
          <a:prstGeom prst="rect">
            <a:avLst/>
          </a:prstGeom>
          <a:noFill/>
        </p:spPr>
        <p:txBody>
          <a:bodyPr wrap="square">
            <a:spAutoFit/>
          </a:bodyPr>
          <a:lstStyle/>
          <a:p>
            <a:pPr marL="0" lvl="0" indent="0" algn="ctr" rtl="0">
              <a:spcBef>
                <a:spcPts val="0"/>
              </a:spcBef>
              <a:spcAft>
                <a:spcPts val="0"/>
              </a:spcAft>
              <a:buNone/>
            </a:pPr>
            <a:r>
              <a:rPr lang="en-SG" sz="2000" dirty="0">
                <a:solidFill>
                  <a:schemeClr val="dk1"/>
                </a:solidFill>
                <a:latin typeface="Cantata One"/>
                <a:ea typeface="Cantata One"/>
                <a:cs typeface="Cantata One"/>
                <a:sym typeface="Cantata One"/>
              </a:rPr>
              <a:t>Retention</a:t>
            </a:r>
          </a:p>
        </p:txBody>
      </p:sp>
      <p:grpSp>
        <p:nvGrpSpPr>
          <p:cNvPr id="14" name="Google Shape;714;p57">
            <a:extLst>
              <a:ext uri="{FF2B5EF4-FFF2-40B4-BE49-F238E27FC236}">
                <a16:creationId xmlns:a16="http://schemas.microsoft.com/office/drawing/2014/main" id="{D5C52D72-F130-D16C-A918-C6AB06F1CBAC}"/>
              </a:ext>
            </a:extLst>
          </p:cNvPr>
          <p:cNvGrpSpPr/>
          <p:nvPr/>
        </p:nvGrpSpPr>
        <p:grpSpPr>
          <a:xfrm>
            <a:off x="2027030" y="2522487"/>
            <a:ext cx="556147" cy="45719"/>
            <a:chOff x="1616163" y="1813750"/>
            <a:chExt cx="2031375" cy="207600"/>
          </a:xfrm>
        </p:grpSpPr>
        <p:sp>
          <p:nvSpPr>
            <p:cNvPr id="15" name="Google Shape;715;p57">
              <a:extLst>
                <a:ext uri="{FF2B5EF4-FFF2-40B4-BE49-F238E27FC236}">
                  <a16:creationId xmlns:a16="http://schemas.microsoft.com/office/drawing/2014/main" id="{D2DBF80D-51DA-E37B-4D35-B811E2A8D62D}"/>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16;p57">
              <a:extLst>
                <a:ext uri="{FF2B5EF4-FFF2-40B4-BE49-F238E27FC236}">
                  <a16:creationId xmlns:a16="http://schemas.microsoft.com/office/drawing/2014/main" id="{0897EE71-12CA-ADA1-9370-B51E1C524407}"/>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17;p57">
              <a:extLst>
                <a:ext uri="{FF2B5EF4-FFF2-40B4-BE49-F238E27FC236}">
                  <a16:creationId xmlns:a16="http://schemas.microsoft.com/office/drawing/2014/main" id="{2182B871-B5E5-50B2-C686-0D1C8CBF469D}"/>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18;p57">
              <a:extLst>
                <a:ext uri="{FF2B5EF4-FFF2-40B4-BE49-F238E27FC236}">
                  <a16:creationId xmlns:a16="http://schemas.microsoft.com/office/drawing/2014/main" id="{BF000D35-98F8-AE0B-591C-5795E6184507}"/>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19;p57">
              <a:extLst>
                <a:ext uri="{FF2B5EF4-FFF2-40B4-BE49-F238E27FC236}">
                  <a16:creationId xmlns:a16="http://schemas.microsoft.com/office/drawing/2014/main" id="{C54E1239-8163-EE14-7CE6-2E87E00FDE2B}"/>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608;p54">
            <a:extLst>
              <a:ext uri="{FF2B5EF4-FFF2-40B4-BE49-F238E27FC236}">
                <a16:creationId xmlns:a16="http://schemas.microsoft.com/office/drawing/2014/main" id="{683A4C77-8361-FAD4-9615-FB3C4EA95679}"/>
              </a:ext>
            </a:extLst>
          </p:cNvPr>
          <p:cNvSpPr txBox="1"/>
          <p:nvPr/>
        </p:nvSpPr>
        <p:spPr>
          <a:xfrm>
            <a:off x="1387562" y="3915893"/>
            <a:ext cx="1778246" cy="36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92D050"/>
                </a:solidFill>
                <a:latin typeface="Cantata One"/>
                <a:ea typeface="Cantata One"/>
                <a:cs typeface="Cantata One"/>
                <a:sym typeface="Cantata One"/>
              </a:rPr>
              <a:t>51.6%</a:t>
            </a:r>
            <a:endParaRPr sz="2400" b="1" dirty="0">
              <a:solidFill>
                <a:srgbClr val="92D050"/>
              </a:solidFill>
              <a:latin typeface="Cantata One"/>
              <a:ea typeface="Cantata One"/>
              <a:cs typeface="Cantata One"/>
              <a:sym typeface="Cantata One"/>
            </a:endParaRPr>
          </a:p>
        </p:txBody>
      </p:sp>
      <p:sp>
        <p:nvSpPr>
          <p:cNvPr id="21" name="TextBox 20">
            <a:extLst>
              <a:ext uri="{FF2B5EF4-FFF2-40B4-BE49-F238E27FC236}">
                <a16:creationId xmlns:a16="http://schemas.microsoft.com/office/drawing/2014/main" id="{10022F12-A466-32EB-B533-1D1D24EF2F39}"/>
              </a:ext>
            </a:extLst>
          </p:cNvPr>
          <p:cNvSpPr txBox="1"/>
          <p:nvPr/>
        </p:nvSpPr>
        <p:spPr>
          <a:xfrm>
            <a:off x="659012" y="3485322"/>
            <a:ext cx="3281111" cy="400110"/>
          </a:xfrm>
          <a:prstGeom prst="rect">
            <a:avLst/>
          </a:prstGeom>
          <a:noFill/>
        </p:spPr>
        <p:txBody>
          <a:bodyPr wrap="square">
            <a:spAutoFit/>
          </a:bodyPr>
          <a:lstStyle/>
          <a:p>
            <a:pPr marL="0" lvl="0" indent="0" algn="ctr" rtl="0">
              <a:spcBef>
                <a:spcPts val="0"/>
              </a:spcBef>
              <a:spcAft>
                <a:spcPts val="0"/>
              </a:spcAft>
              <a:buNone/>
            </a:pPr>
            <a:r>
              <a:rPr lang="en-SG" sz="2000" dirty="0">
                <a:solidFill>
                  <a:schemeClr val="dk1"/>
                </a:solidFill>
                <a:latin typeface="Cantata One"/>
                <a:ea typeface="Cantata One"/>
                <a:cs typeface="Cantata One"/>
                <a:sym typeface="Cantata One"/>
              </a:rPr>
              <a:t>Team Performance</a:t>
            </a:r>
          </a:p>
        </p:txBody>
      </p:sp>
      <p:grpSp>
        <p:nvGrpSpPr>
          <p:cNvPr id="22" name="Google Shape;714;p57">
            <a:extLst>
              <a:ext uri="{FF2B5EF4-FFF2-40B4-BE49-F238E27FC236}">
                <a16:creationId xmlns:a16="http://schemas.microsoft.com/office/drawing/2014/main" id="{6652F0EF-FF6A-B3AA-C31E-B73E87897CB4}"/>
              </a:ext>
            </a:extLst>
          </p:cNvPr>
          <p:cNvGrpSpPr/>
          <p:nvPr/>
        </p:nvGrpSpPr>
        <p:grpSpPr>
          <a:xfrm>
            <a:off x="1998612" y="3439603"/>
            <a:ext cx="556147" cy="45719"/>
            <a:chOff x="1616163" y="1813750"/>
            <a:chExt cx="2031375" cy="207600"/>
          </a:xfrm>
        </p:grpSpPr>
        <p:sp>
          <p:nvSpPr>
            <p:cNvPr id="23" name="Google Shape;715;p57">
              <a:extLst>
                <a:ext uri="{FF2B5EF4-FFF2-40B4-BE49-F238E27FC236}">
                  <a16:creationId xmlns:a16="http://schemas.microsoft.com/office/drawing/2014/main" id="{975F607F-1D02-3016-C39F-AF73515597CA}"/>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16;p57">
              <a:extLst>
                <a:ext uri="{FF2B5EF4-FFF2-40B4-BE49-F238E27FC236}">
                  <a16:creationId xmlns:a16="http://schemas.microsoft.com/office/drawing/2014/main" id="{9F0E1C22-7979-A33D-4411-7A1BE27498C1}"/>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17;p57">
              <a:extLst>
                <a:ext uri="{FF2B5EF4-FFF2-40B4-BE49-F238E27FC236}">
                  <a16:creationId xmlns:a16="http://schemas.microsoft.com/office/drawing/2014/main" id="{CEEE3B71-BDEB-5DA6-D1CB-4CCF8E63B7E2}"/>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18;p57">
              <a:extLst>
                <a:ext uri="{FF2B5EF4-FFF2-40B4-BE49-F238E27FC236}">
                  <a16:creationId xmlns:a16="http://schemas.microsoft.com/office/drawing/2014/main" id="{19EC9CAB-7A62-9EF6-F27F-1F8D97176980}"/>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19;p57">
              <a:extLst>
                <a:ext uri="{FF2B5EF4-FFF2-40B4-BE49-F238E27FC236}">
                  <a16:creationId xmlns:a16="http://schemas.microsoft.com/office/drawing/2014/main" id="{700FD09F-A043-F504-C4ED-9DCFAE3937B6}"/>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417;p46">
            <a:extLst>
              <a:ext uri="{FF2B5EF4-FFF2-40B4-BE49-F238E27FC236}">
                <a16:creationId xmlns:a16="http://schemas.microsoft.com/office/drawing/2014/main" id="{279CD96B-ABFC-CDEC-A751-6622862CA7CC}"/>
              </a:ext>
            </a:extLst>
          </p:cNvPr>
          <p:cNvSpPr txBox="1">
            <a:spLocks/>
          </p:cNvSpPr>
          <p:nvPr/>
        </p:nvSpPr>
        <p:spPr>
          <a:xfrm>
            <a:off x="4686620" y="144177"/>
            <a:ext cx="3967395" cy="48551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rgbClr val="000000"/>
              </a:buClr>
              <a:buSzPts val="1000"/>
              <a:buFont typeface="Cabin"/>
              <a:buNone/>
              <a:defRPr sz="1200" b="1"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2pPr>
            <a:lvl3pPr marL="1371600" marR="0" lvl="2"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3pPr>
            <a:lvl4pPr marL="1828800" marR="0" lvl="3"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4pPr>
            <a:lvl5pPr marL="2286000" marR="0" lvl="4"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5pPr>
            <a:lvl6pPr marL="2743200" marR="0" lvl="5"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6pPr>
            <a:lvl7pPr marL="3200400" marR="0" lvl="6"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7pPr>
            <a:lvl8pPr marL="3657600" marR="0" lvl="7"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8pPr>
            <a:lvl9pPr marL="4114800" marR="0" lvl="8" indent="-317500" algn="ctr" rtl="0">
              <a:lnSpc>
                <a:spcPct val="100000"/>
              </a:lnSpc>
              <a:spcBef>
                <a:spcPts val="0"/>
              </a:spcBef>
              <a:spcAft>
                <a:spcPts val="0"/>
              </a:spcAft>
              <a:buClr>
                <a:srgbClr val="000000"/>
              </a:buClr>
              <a:buSzPts val="1000"/>
              <a:buFont typeface="Cabin"/>
              <a:buNone/>
              <a:defRPr sz="1000" b="0" i="0" u="none" strike="noStrike" cap="none">
                <a:solidFill>
                  <a:srgbClr val="000000"/>
                </a:solidFill>
                <a:latin typeface="Cabin"/>
                <a:ea typeface="Cabin"/>
                <a:cs typeface="Cabin"/>
                <a:sym typeface="Cabin"/>
              </a:defRPr>
            </a:lvl9pPr>
          </a:lstStyle>
          <a:p>
            <a:pPr marL="457200" lvl="1" indent="0" algn="l"/>
            <a:endParaRPr lang="en-SG" sz="1400" dirty="0">
              <a:solidFill>
                <a:schemeClr val="tx2">
                  <a:lumMod val="10000"/>
                </a:schemeClr>
              </a:solidFill>
              <a:latin typeface="Calibri" panose="020F0502020204030204" pitchFamily="34" charset="0"/>
              <a:cs typeface="Calibri" panose="020F0502020204030204" pitchFamily="34" charset="0"/>
            </a:endParaRPr>
          </a:p>
          <a:p>
            <a:pPr marL="139700" indent="0" algn="l"/>
            <a:r>
              <a:rPr lang="en-SG" sz="1800" dirty="0">
                <a:solidFill>
                  <a:schemeClr val="tx2">
                    <a:lumMod val="10000"/>
                  </a:schemeClr>
                </a:solidFill>
                <a:latin typeface="Calibri" panose="020F0502020204030204" pitchFamily="34" charset="0"/>
                <a:cs typeface="Calibri" panose="020F0502020204030204" pitchFamily="34" charset="0"/>
              </a:rPr>
              <a:t>Analysis</a:t>
            </a:r>
            <a:endParaRPr lang="en-SG" sz="1800" b="0" dirty="0">
              <a:solidFill>
                <a:schemeClr val="tx2">
                  <a:lumMod val="10000"/>
                </a:schemeClr>
              </a:solidFill>
              <a:latin typeface="Calibri" panose="020F0502020204030204" pitchFamily="34" charset="0"/>
              <a:cs typeface="Calibri" panose="020F0502020204030204" pitchFamily="34" charset="0"/>
            </a:endParaRPr>
          </a:p>
          <a:p>
            <a:pPr marL="139700" indent="0" algn="l"/>
            <a:r>
              <a:rPr lang="en-SG" sz="1400" b="0" dirty="0">
                <a:solidFill>
                  <a:schemeClr val="tx2">
                    <a:lumMod val="10000"/>
                  </a:schemeClr>
                </a:solidFill>
                <a:latin typeface="Calibri" panose="020F0502020204030204" pitchFamily="34" charset="0"/>
                <a:cs typeface="Calibri" panose="020F0502020204030204" pitchFamily="34" charset="0"/>
              </a:rPr>
              <a:t>Manager Amy Dunn manages one of the production teams in ABC company. Based on the metrics, her individual and team performance are decent, however when there is an issue when it comes to her team’s retention rate.</a:t>
            </a:r>
          </a:p>
          <a:p>
            <a:pPr marL="139700" indent="0" algn="l"/>
            <a:endParaRPr lang="en-SG" sz="1400" b="0" dirty="0">
              <a:solidFill>
                <a:schemeClr val="tx2">
                  <a:lumMod val="10000"/>
                </a:schemeClr>
              </a:solidFill>
              <a:latin typeface="Calibri" panose="020F0502020204030204" pitchFamily="34" charset="0"/>
              <a:cs typeface="Calibri" panose="020F0502020204030204" pitchFamily="34" charset="0"/>
            </a:endParaRPr>
          </a:p>
          <a:p>
            <a:pPr marL="139700" indent="0" algn="l"/>
            <a:r>
              <a:rPr lang="en-SG" sz="1400" b="0" dirty="0">
                <a:solidFill>
                  <a:schemeClr val="tx2">
                    <a:lumMod val="10000"/>
                  </a:schemeClr>
                </a:solidFill>
                <a:latin typeface="Calibri" panose="020F0502020204030204" pitchFamily="34" charset="0"/>
                <a:cs typeface="Calibri" panose="020F0502020204030204" pitchFamily="34" charset="0"/>
              </a:rPr>
              <a:t>Originally, her team consisted of 21 members but has fallen to 8 members, a total of 13 team members have left. Based on this, she may have difficulties with managing a huge team as when she has a smaller team, her team’s performance has a decent score.</a:t>
            </a:r>
          </a:p>
          <a:p>
            <a:pPr marL="139700" indent="0" algn="l"/>
            <a:endParaRPr lang="en-SG" sz="1400" b="0" dirty="0">
              <a:solidFill>
                <a:schemeClr val="tx2">
                  <a:lumMod val="10000"/>
                </a:schemeClr>
              </a:solidFill>
              <a:latin typeface="Calibri" panose="020F0502020204030204" pitchFamily="34" charset="0"/>
              <a:cs typeface="Calibri" panose="020F0502020204030204" pitchFamily="34" charset="0"/>
            </a:endParaRPr>
          </a:p>
          <a:p>
            <a:pPr marL="139700" indent="0" algn="l"/>
            <a:r>
              <a:rPr lang="en-SG" sz="1800" dirty="0">
                <a:solidFill>
                  <a:schemeClr val="tx2">
                    <a:lumMod val="10000"/>
                  </a:schemeClr>
                </a:solidFill>
                <a:latin typeface="Calibri" panose="020F0502020204030204" pitchFamily="34" charset="0"/>
                <a:cs typeface="Calibri" panose="020F0502020204030204" pitchFamily="34" charset="0"/>
              </a:rPr>
              <a:t>Recommendation</a:t>
            </a:r>
          </a:p>
          <a:p>
            <a:pPr marL="139700" indent="0" algn="l"/>
            <a:r>
              <a:rPr lang="en-SG" sz="1400" b="0" dirty="0">
                <a:solidFill>
                  <a:schemeClr val="tx2">
                    <a:lumMod val="10000"/>
                  </a:schemeClr>
                </a:solidFill>
                <a:latin typeface="Calibri" panose="020F0502020204030204" pitchFamily="34" charset="0"/>
                <a:cs typeface="Calibri" panose="020F0502020204030204" pitchFamily="34" charset="0"/>
              </a:rPr>
              <a:t>Conduct further team evaluations with the individual team members as well as Amy Dunn to find out more pain points.</a:t>
            </a:r>
          </a:p>
          <a:p>
            <a:pPr marL="139700" indent="0" algn="l">
              <a:buClr>
                <a:srgbClr val="353535"/>
              </a:buClr>
              <a:buSzPts val="1900"/>
              <a:defRPr/>
            </a:pPr>
            <a:endParaRPr lang="en-SG" sz="1600" b="0" dirty="0">
              <a:solidFill>
                <a:srgbClr val="EEEEEE">
                  <a:lumMod val="10000"/>
                </a:srgbClr>
              </a:solidFill>
              <a:latin typeface="Calibri" panose="020F0502020204030204" pitchFamily="34" charset="0"/>
              <a:cs typeface="Calibri" panose="020F0502020204030204" pitchFamily="34" charset="0"/>
            </a:endParaRPr>
          </a:p>
          <a:p>
            <a:pPr marL="139700" indent="0" algn="l"/>
            <a:endParaRPr lang="en-SG" dirty="0">
              <a:solidFill>
                <a:schemeClr val="tx2">
                  <a:lumMod val="1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98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p:nvPr/>
        </p:nvSpPr>
        <p:spPr>
          <a:xfrm>
            <a:off x="-9526" y="532800"/>
            <a:ext cx="5861681"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txBox="1">
            <a:spLocks noGrp="1"/>
          </p:cNvSpPr>
          <p:nvPr>
            <p:ph type="title" idx="2"/>
          </p:nvPr>
        </p:nvSpPr>
        <p:spPr>
          <a:xfrm>
            <a:off x="872400" y="1295425"/>
            <a:ext cx="4347300" cy="138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04</a:t>
            </a:r>
            <a:endParaRPr dirty="0">
              <a:solidFill>
                <a:schemeClr val="lt1"/>
              </a:solidFill>
            </a:endParaRPr>
          </a:p>
        </p:txBody>
      </p:sp>
      <p:sp>
        <p:nvSpPr>
          <p:cNvPr id="405" name="Google Shape;405;p45"/>
          <p:cNvSpPr txBox="1">
            <a:spLocks noGrp="1"/>
          </p:cNvSpPr>
          <p:nvPr>
            <p:ph type="title"/>
          </p:nvPr>
        </p:nvSpPr>
        <p:spPr>
          <a:xfrm>
            <a:off x="1501050" y="2122300"/>
            <a:ext cx="4008210" cy="11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PAY RATE FACTORS</a:t>
            </a:r>
            <a:endParaRPr dirty="0"/>
          </a:p>
        </p:txBody>
      </p:sp>
      <p:sp>
        <p:nvSpPr>
          <p:cNvPr id="406" name="Google Shape;406;p45"/>
          <p:cNvSpPr txBox="1">
            <a:spLocks noGrp="1"/>
          </p:cNvSpPr>
          <p:nvPr>
            <p:ph type="subTitle" idx="1"/>
          </p:nvPr>
        </p:nvSpPr>
        <p:spPr>
          <a:xfrm>
            <a:off x="1501050" y="3141500"/>
            <a:ext cx="3634830" cy="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i="1" dirty="0">
                <a:solidFill>
                  <a:schemeClr val="tx2">
                    <a:lumMod val="50000"/>
                  </a:schemeClr>
                </a:solidFill>
              </a:rPr>
              <a:t>Which factors drive pay rate the most?</a:t>
            </a:r>
          </a:p>
        </p:txBody>
      </p:sp>
      <p:sp>
        <p:nvSpPr>
          <p:cNvPr id="407" name="Google Shape;407;p45"/>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www.slidesgo.com</a:t>
            </a:r>
            <a:endParaRPr>
              <a:solidFill>
                <a:schemeClr val="lt1"/>
              </a:solidFill>
            </a:endParaRPr>
          </a:p>
        </p:txBody>
      </p:sp>
      <p:sp>
        <p:nvSpPr>
          <p:cNvPr id="408" name="Google Shape;408;p45"/>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cxnSp>
        <p:nvCxnSpPr>
          <p:cNvPr id="409" name="Google Shape;409;p4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410" name="Google Shape;410;p4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
        <p:nvSpPr>
          <p:cNvPr id="411" name="Google Shape;411;p45"/>
          <p:cNvSpPr/>
          <p:nvPr/>
        </p:nvSpPr>
        <p:spPr>
          <a:xfrm rot="5400000">
            <a:off x="6328283" y="2488787"/>
            <a:ext cx="3952860" cy="165926"/>
          </a:xfrm>
          <a:prstGeom prst="rect">
            <a:avLst/>
          </a:prstGeom>
        </p:spPr>
        <p:txBody>
          <a:bodyPr>
            <a:prstTxWarp prst="textPlain">
              <a:avLst/>
            </a:prstTxWarp>
          </a:bodyPr>
          <a:lstStyle/>
          <a:p>
            <a:pPr lvl="0" algn="ctr"/>
            <a:r>
              <a:rPr b="1" i="0">
                <a:ln>
                  <a:noFill/>
                </a:ln>
                <a:solidFill>
                  <a:schemeClr val="lt1"/>
                </a:solidFill>
                <a:latin typeface="Cabin"/>
              </a:rPr>
              <a:t>-HUMAN RESOURCES DEVELOPMENT-</a:t>
            </a:r>
          </a:p>
        </p:txBody>
      </p:sp>
      <p:sp>
        <p:nvSpPr>
          <p:cNvPr id="412" name="Google Shape;412;p45"/>
          <p:cNvSpPr/>
          <p:nvPr/>
        </p:nvSpPr>
        <p:spPr>
          <a:xfrm rot="-5400000" flipH="1">
            <a:off x="6480683" y="2488787"/>
            <a:ext cx="3952860" cy="165926"/>
          </a:xfrm>
          <a:prstGeom prst="rect">
            <a:avLst/>
          </a:prstGeom>
        </p:spPr>
        <p:txBody>
          <a:bodyPr>
            <a:prstTxWarp prst="textPlain">
              <a:avLst/>
            </a:prstTxWarp>
          </a:bodyPr>
          <a:lstStyle/>
          <a:p>
            <a:pPr lvl="0" algn="ctr"/>
            <a:r>
              <a:rPr b="1" i="0" dirty="0">
                <a:ln>
                  <a:noFill/>
                </a:ln>
                <a:solidFill>
                  <a:srgbClr val="FFFCFC">
                    <a:alpha val="23210"/>
                  </a:srgbClr>
                </a:solidFill>
                <a:latin typeface="Cabin"/>
              </a:rPr>
              <a:t>-HUMAN RESOURCES DEVELOPMENT-</a:t>
            </a:r>
          </a:p>
        </p:txBody>
      </p:sp>
    </p:spTree>
    <p:extLst>
      <p:ext uri="{BB962C8B-B14F-4D97-AF65-F5344CB8AC3E}">
        <p14:creationId xmlns:p14="http://schemas.microsoft.com/office/powerpoint/2010/main" val="3465623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4"/>
          <p:cNvSpPr txBox="1">
            <a:spLocks noGrp="1"/>
          </p:cNvSpPr>
          <p:nvPr>
            <p:ph type="title"/>
          </p:nvPr>
        </p:nvSpPr>
        <p:spPr>
          <a:xfrm>
            <a:off x="1164195" y="2497358"/>
            <a:ext cx="2175300" cy="73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t>GENDER</a:t>
            </a:r>
            <a:endParaRPr sz="2400" b="1" dirty="0"/>
          </a:p>
        </p:txBody>
      </p:sp>
      <p:sp>
        <p:nvSpPr>
          <p:cNvPr id="394" name="Google Shape;394;p44"/>
          <p:cNvSpPr txBox="1">
            <a:spLocks noGrp="1"/>
          </p:cNvSpPr>
          <p:nvPr>
            <p:ph type="title" idx="4"/>
          </p:nvPr>
        </p:nvSpPr>
        <p:spPr>
          <a:xfrm>
            <a:off x="5550400" y="2497358"/>
            <a:ext cx="2728854" cy="73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t>DEPARTMENT</a:t>
            </a:r>
            <a:endParaRPr sz="2400" b="1" dirty="0"/>
          </a:p>
        </p:txBody>
      </p:sp>
      <p:sp>
        <p:nvSpPr>
          <p:cNvPr id="395" name="Google Shape;395;p44"/>
          <p:cNvSpPr txBox="1">
            <a:spLocks noGrp="1"/>
          </p:cNvSpPr>
          <p:nvPr>
            <p:ph type="subTitle" idx="5"/>
          </p:nvPr>
        </p:nvSpPr>
        <p:spPr>
          <a:xfrm>
            <a:off x="5120144" y="3242363"/>
            <a:ext cx="3500173" cy="115724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alibri" panose="020F0502020204030204" pitchFamily="34" charset="0"/>
                <a:cs typeface="Calibri" panose="020F0502020204030204" pitchFamily="34" charset="0"/>
              </a:rPr>
              <a:t>Based on the department, there is a vast difference in pay rate. This indicates that there is a good segregation in pay rate between positions and </a:t>
            </a:r>
            <a:r>
              <a:rPr lang="en" dirty="0" err="1">
                <a:latin typeface="Calibri" panose="020F0502020204030204" pitchFamily="34" charset="0"/>
                <a:cs typeface="Calibri" panose="020F0502020204030204" pitchFamily="34" charset="0"/>
              </a:rPr>
              <a:t>speciali</a:t>
            </a:r>
            <a:r>
              <a:rPr lang="en-SG" dirty="0">
                <a:latin typeface="Calibri" panose="020F0502020204030204" pitchFamily="34" charset="0"/>
                <a:cs typeface="Calibri" panose="020F0502020204030204" pitchFamily="34" charset="0"/>
              </a:rPr>
              <a:t>s</a:t>
            </a:r>
            <a:r>
              <a:rPr lang="en" dirty="0" err="1">
                <a:latin typeface="Calibri" panose="020F0502020204030204" pitchFamily="34" charset="0"/>
                <a:cs typeface="Calibri" panose="020F0502020204030204" pitchFamily="34" charset="0"/>
              </a:rPr>
              <a:t>ations</a:t>
            </a:r>
            <a:r>
              <a:rPr lang="en" dirty="0">
                <a:latin typeface="Calibri" panose="020F0502020204030204" pitchFamily="34" charset="0"/>
                <a:cs typeface="Calibri" panose="020F0502020204030204" pitchFamily="34" charset="0"/>
              </a:rPr>
              <a:t>.</a:t>
            </a:r>
            <a:endParaRPr dirty="0">
              <a:latin typeface="Calibri" panose="020F0502020204030204" pitchFamily="34" charset="0"/>
              <a:cs typeface="Calibri" panose="020F0502020204030204" pitchFamily="34" charset="0"/>
            </a:endParaRPr>
          </a:p>
        </p:txBody>
      </p:sp>
      <p:pic>
        <p:nvPicPr>
          <p:cNvPr id="3" name="Picture 2" descr="A graph with numbers and a bar&#10;&#10;Description automatically generated with medium confidence">
            <a:extLst>
              <a:ext uri="{FF2B5EF4-FFF2-40B4-BE49-F238E27FC236}">
                <a16:creationId xmlns:a16="http://schemas.microsoft.com/office/drawing/2014/main" id="{D3F1CEFC-313C-C90D-596C-138D6367DECC}"/>
              </a:ext>
            </a:extLst>
          </p:cNvPr>
          <p:cNvPicPr>
            <a:picLocks noChangeAspect="1"/>
          </p:cNvPicPr>
          <p:nvPr/>
        </p:nvPicPr>
        <p:blipFill>
          <a:blip r:embed="rId3"/>
          <a:stretch>
            <a:fillRect/>
          </a:stretch>
        </p:blipFill>
        <p:spPr>
          <a:xfrm>
            <a:off x="504308" y="665070"/>
            <a:ext cx="3495075" cy="1771153"/>
          </a:xfrm>
          <a:prstGeom prst="rect">
            <a:avLst/>
          </a:prstGeom>
        </p:spPr>
      </p:pic>
      <p:sp>
        <p:nvSpPr>
          <p:cNvPr id="5" name="Google Shape;603;p54">
            <a:extLst>
              <a:ext uri="{FF2B5EF4-FFF2-40B4-BE49-F238E27FC236}">
                <a16:creationId xmlns:a16="http://schemas.microsoft.com/office/drawing/2014/main" id="{3516C602-E2F9-7D0D-8D4D-76087AD72375}"/>
              </a:ext>
            </a:extLst>
          </p:cNvPr>
          <p:cNvSpPr txBox="1">
            <a:spLocks/>
          </p:cNvSpPr>
          <p:nvPr/>
        </p:nvSpPr>
        <p:spPr>
          <a:xfrm>
            <a:off x="455659" y="25099"/>
            <a:ext cx="823268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Cantata One"/>
              <a:buNone/>
              <a:defRPr sz="2200" b="0" i="0" u="none" strike="noStrike" cap="none">
                <a:solidFill>
                  <a:schemeClr val="dk1"/>
                </a:solidFill>
                <a:latin typeface="Cantata One"/>
                <a:ea typeface="Cantata One"/>
                <a:cs typeface="Cantata One"/>
                <a:sym typeface="Cantata One"/>
              </a:defRPr>
            </a:lvl1pPr>
            <a:lvl2pPr marR="0" lvl="1"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Arial"/>
                <a:ea typeface="Arial"/>
                <a:cs typeface="Arial"/>
                <a:sym typeface="Arial"/>
              </a:defRPr>
            </a:lvl9pPr>
          </a:lstStyle>
          <a:p>
            <a:r>
              <a:rPr lang="en-SG" sz="3600" b="1" dirty="0">
                <a:solidFill>
                  <a:schemeClr val="tx2">
                    <a:lumMod val="10000"/>
                  </a:schemeClr>
                </a:solidFill>
              </a:rPr>
              <a:t>PAY RATE FACTORS</a:t>
            </a:r>
            <a:endParaRPr lang="en-SG" sz="3600" dirty="0">
              <a:solidFill>
                <a:schemeClr val="tx2">
                  <a:lumMod val="10000"/>
                </a:schemeClr>
              </a:solidFill>
            </a:endParaRPr>
          </a:p>
        </p:txBody>
      </p:sp>
      <p:pic>
        <p:nvPicPr>
          <p:cNvPr id="9" name="Picture 8" descr="A graph with different colored bars&#10;&#10;Description automatically generated">
            <a:extLst>
              <a:ext uri="{FF2B5EF4-FFF2-40B4-BE49-F238E27FC236}">
                <a16:creationId xmlns:a16="http://schemas.microsoft.com/office/drawing/2014/main" id="{910C20B9-99BE-C42E-61A0-D0895D9255CC}"/>
              </a:ext>
            </a:extLst>
          </p:cNvPr>
          <p:cNvPicPr>
            <a:picLocks noChangeAspect="1"/>
          </p:cNvPicPr>
          <p:nvPr/>
        </p:nvPicPr>
        <p:blipFill>
          <a:blip r:embed="rId4"/>
          <a:stretch>
            <a:fillRect/>
          </a:stretch>
        </p:blipFill>
        <p:spPr>
          <a:xfrm>
            <a:off x="4963267" y="820894"/>
            <a:ext cx="3822915" cy="1606732"/>
          </a:xfrm>
          <a:prstGeom prst="rect">
            <a:avLst/>
          </a:prstGeom>
        </p:spPr>
      </p:pic>
      <p:cxnSp>
        <p:nvCxnSpPr>
          <p:cNvPr id="11" name="Straight Connector 10">
            <a:extLst>
              <a:ext uri="{FF2B5EF4-FFF2-40B4-BE49-F238E27FC236}">
                <a16:creationId xmlns:a16="http://schemas.microsoft.com/office/drawing/2014/main" id="{C10E7618-FC71-0ECA-7AC0-7E55FD386B0F}"/>
              </a:ext>
            </a:extLst>
          </p:cNvPr>
          <p:cNvCxnSpPr>
            <a:cxnSpLocks/>
          </p:cNvCxnSpPr>
          <p:nvPr/>
        </p:nvCxnSpPr>
        <p:spPr>
          <a:xfrm>
            <a:off x="4486066" y="1095462"/>
            <a:ext cx="0" cy="3304147"/>
          </a:xfrm>
          <a:prstGeom prst="line">
            <a:avLst/>
          </a:prstGeom>
          <a:ln w="1905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Google Shape;982;p66">
            <a:extLst>
              <a:ext uri="{FF2B5EF4-FFF2-40B4-BE49-F238E27FC236}">
                <a16:creationId xmlns:a16="http://schemas.microsoft.com/office/drawing/2014/main" id="{8564E608-5DB5-1C3D-689F-A3374BC92322}"/>
              </a:ext>
            </a:extLst>
          </p:cNvPr>
          <p:cNvSpPr txBox="1"/>
          <p:nvPr/>
        </p:nvSpPr>
        <p:spPr>
          <a:xfrm flipH="1">
            <a:off x="1164195" y="3109075"/>
            <a:ext cx="2224694" cy="33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dirty="0">
                <a:solidFill>
                  <a:schemeClr val="bg2">
                    <a:lumMod val="75000"/>
                  </a:schemeClr>
                </a:solidFill>
                <a:latin typeface="Cantata One"/>
                <a:ea typeface="Cantata One"/>
                <a:cs typeface="Cantata One"/>
                <a:sym typeface="Cantata One"/>
              </a:rPr>
              <a:t>FOR EVERY</a:t>
            </a:r>
            <a:endParaRPr sz="2400" b="1" dirty="0">
              <a:solidFill>
                <a:schemeClr val="bg2">
                  <a:lumMod val="75000"/>
                </a:schemeClr>
              </a:solidFill>
              <a:latin typeface="Cantata One"/>
              <a:ea typeface="Cantata One"/>
              <a:cs typeface="Cantata One"/>
              <a:sym typeface="Cantata One"/>
            </a:endParaRPr>
          </a:p>
        </p:txBody>
      </p:sp>
      <p:sp>
        <p:nvSpPr>
          <p:cNvPr id="21" name="TextBox 20">
            <a:extLst>
              <a:ext uri="{FF2B5EF4-FFF2-40B4-BE49-F238E27FC236}">
                <a16:creationId xmlns:a16="http://schemas.microsoft.com/office/drawing/2014/main" id="{B789D5AA-93D8-DE64-3F0D-89B7A4EEC353}"/>
              </a:ext>
            </a:extLst>
          </p:cNvPr>
          <p:cNvSpPr txBox="1"/>
          <p:nvPr/>
        </p:nvSpPr>
        <p:spPr>
          <a:xfrm>
            <a:off x="1340636" y="3395910"/>
            <a:ext cx="1925527" cy="369332"/>
          </a:xfrm>
          <a:prstGeom prst="rect">
            <a:avLst/>
          </a:prstGeom>
          <a:noFill/>
        </p:spPr>
        <p:txBody>
          <a:bodyPr wrap="none" rtlCol="0">
            <a:spAutoFit/>
          </a:bodyPr>
          <a:lstStyle/>
          <a:p>
            <a:r>
              <a:rPr lang="en-US" sz="1800" b="1" u="sng" dirty="0">
                <a:solidFill>
                  <a:schemeClr val="tx2">
                    <a:lumMod val="10000"/>
                  </a:schemeClr>
                </a:solidFill>
                <a:latin typeface="Cantata One"/>
              </a:rPr>
              <a:t>$1</a:t>
            </a:r>
            <a:r>
              <a:rPr lang="en-US" sz="1800" b="1" dirty="0">
                <a:solidFill>
                  <a:schemeClr val="tx2">
                    <a:lumMod val="10000"/>
                  </a:schemeClr>
                </a:solidFill>
                <a:latin typeface="Cantata One"/>
              </a:rPr>
              <a:t> </a:t>
            </a:r>
            <a:r>
              <a:rPr lang="en-US" sz="1800" dirty="0">
                <a:solidFill>
                  <a:schemeClr val="tx2">
                    <a:lumMod val="10000"/>
                  </a:schemeClr>
                </a:solidFill>
                <a:latin typeface="Cantata One"/>
              </a:rPr>
              <a:t>Male earns,</a:t>
            </a:r>
          </a:p>
        </p:txBody>
      </p:sp>
      <p:sp>
        <p:nvSpPr>
          <p:cNvPr id="22" name="TextBox 21">
            <a:extLst>
              <a:ext uri="{FF2B5EF4-FFF2-40B4-BE49-F238E27FC236}">
                <a16:creationId xmlns:a16="http://schemas.microsoft.com/office/drawing/2014/main" id="{7A88443F-3572-2F34-3CF0-EAC42C2CEA00}"/>
              </a:ext>
            </a:extLst>
          </p:cNvPr>
          <p:cNvSpPr txBox="1"/>
          <p:nvPr/>
        </p:nvSpPr>
        <p:spPr>
          <a:xfrm>
            <a:off x="976496" y="3658555"/>
            <a:ext cx="2550698" cy="369332"/>
          </a:xfrm>
          <a:prstGeom prst="rect">
            <a:avLst/>
          </a:prstGeom>
          <a:noFill/>
        </p:spPr>
        <p:txBody>
          <a:bodyPr wrap="none" rtlCol="0">
            <a:spAutoFit/>
          </a:bodyPr>
          <a:lstStyle/>
          <a:p>
            <a:r>
              <a:rPr lang="en-US" sz="1800" dirty="0">
                <a:solidFill>
                  <a:schemeClr val="tx1"/>
                </a:solidFill>
                <a:latin typeface="Cantata One"/>
              </a:rPr>
              <a:t>Female earns </a:t>
            </a:r>
            <a:r>
              <a:rPr lang="en-US" sz="1800" b="1" u="sng" dirty="0">
                <a:solidFill>
                  <a:schemeClr val="tx1"/>
                </a:solidFill>
                <a:latin typeface="Cantata One"/>
              </a:rPr>
              <a:t>$0.87</a:t>
            </a:r>
          </a:p>
        </p:txBody>
      </p:sp>
      <p:sp>
        <p:nvSpPr>
          <p:cNvPr id="24" name="TextBox 23">
            <a:extLst>
              <a:ext uri="{FF2B5EF4-FFF2-40B4-BE49-F238E27FC236}">
                <a16:creationId xmlns:a16="http://schemas.microsoft.com/office/drawing/2014/main" id="{60D0085A-CA00-9A86-61E3-2677D40C9008}"/>
              </a:ext>
            </a:extLst>
          </p:cNvPr>
          <p:cNvSpPr txBox="1"/>
          <p:nvPr/>
        </p:nvSpPr>
        <p:spPr>
          <a:xfrm>
            <a:off x="244629" y="4114706"/>
            <a:ext cx="4014432" cy="646331"/>
          </a:xfrm>
          <a:prstGeom prst="rect">
            <a:avLst/>
          </a:prstGeom>
          <a:noFill/>
        </p:spPr>
        <p:txBody>
          <a:bodyPr wrap="square" rtlCol="0">
            <a:spAutoFit/>
          </a:bodyPr>
          <a:lstStyle/>
          <a:p>
            <a:pPr algn="ctr"/>
            <a:r>
              <a:rPr lang="en-SG" sz="1200" b="0" i="0" dirty="0">
                <a:solidFill>
                  <a:srgbClr val="000000"/>
                </a:solidFill>
                <a:effectLst/>
                <a:latin typeface="Calibri" panose="020F0502020204030204" pitchFamily="34" charset="0"/>
                <a:cs typeface="Calibri" panose="020F0502020204030204" pitchFamily="34" charset="0"/>
              </a:rPr>
              <a:t>In Massachusetts, female employees earn </a:t>
            </a:r>
            <a:r>
              <a:rPr lang="en-SG" sz="1200" b="1" i="0" u="sng" dirty="0">
                <a:solidFill>
                  <a:srgbClr val="000000"/>
                </a:solidFill>
                <a:effectLst/>
                <a:latin typeface="Calibri" panose="020F0502020204030204" pitchFamily="34" charset="0"/>
                <a:cs typeface="Calibri" panose="020F0502020204030204" pitchFamily="34" charset="0"/>
              </a:rPr>
              <a:t>80.6%</a:t>
            </a:r>
            <a:r>
              <a:rPr lang="en-SG" sz="1200" b="0" i="0" dirty="0">
                <a:solidFill>
                  <a:srgbClr val="000000"/>
                </a:solidFill>
                <a:effectLst/>
                <a:latin typeface="Calibri" panose="020F0502020204030204" pitchFamily="34" charset="0"/>
                <a:cs typeface="Calibri" panose="020F0502020204030204" pitchFamily="34" charset="0"/>
              </a:rPr>
              <a:t> of their male counterparts. ABC Company </a:t>
            </a:r>
            <a:r>
              <a:rPr lang="en-SG" sz="1200" dirty="0">
                <a:latin typeface="Calibri" panose="020F0502020204030204" pitchFamily="34" charset="0"/>
                <a:cs typeface="Calibri" panose="020F0502020204030204" pitchFamily="34" charset="0"/>
              </a:rPr>
              <a:t>has done better in terms of gender equality in pay.</a:t>
            </a:r>
            <a:endParaRPr lang="en-US" sz="12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C0FD44D-7525-694D-9CB1-EC96104AD36D}"/>
              </a:ext>
            </a:extLst>
          </p:cNvPr>
          <p:cNvSpPr txBox="1"/>
          <p:nvPr/>
        </p:nvSpPr>
        <p:spPr>
          <a:xfrm>
            <a:off x="15286" y="4905750"/>
            <a:ext cx="5904180" cy="230832"/>
          </a:xfrm>
          <a:prstGeom prst="rect">
            <a:avLst/>
          </a:prstGeom>
          <a:noFill/>
        </p:spPr>
        <p:txBody>
          <a:bodyPr wrap="none" rtlCol="0">
            <a:spAutoFit/>
          </a:bodyPr>
          <a:lstStyle/>
          <a:p>
            <a:r>
              <a:rPr lang="en-US" sz="900" dirty="0"/>
              <a:t>Info: https://</a:t>
            </a:r>
            <a:r>
              <a:rPr lang="en-US" sz="900" dirty="0" err="1"/>
              <a:t>www.bls.gov</a:t>
            </a:r>
            <a:r>
              <a:rPr lang="en-US" sz="900" dirty="0"/>
              <a:t>/regions/northeast/news-release/2018/womensearnings_massachusetts_20181005.htm</a:t>
            </a:r>
          </a:p>
        </p:txBody>
      </p:sp>
    </p:spTree>
    <p:extLst>
      <p:ext uri="{BB962C8B-B14F-4D97-AF65-F5344CB8AC3E}">
        <p14:creationId xmlns:p14="http://schemas.microsoft.com/office/powerpoint/2010/main" val="2786715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p:nvPr/>
        </p:nvSpPr>
        <p:spPr>
          <a:xfrm>
            <a:off x="-9526" y="532800"/>
            <a:ext cx="5861681"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txBox="1">
            <a:spLocks noGrp="1"/>
          </p:cNvSpPr>
          <p:nvPr>
            <p:ph type="title" idx="2"/>
          </p:nvPr>
        </p:nvSpPr>
        <p:spPr>
          <a:xfrm>
            <a:off x="872400" y="1280311"/>
            <a:ext cx="4347300" cy="138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05</a:t>
            </a:r>
            <a:endParaRPr dirty="0">
              <a:solidFill>
                <a:schemeClr val="lt1"/>
              </a:solidFill>
            </a:endParaRPr>
          </a:p>
        </p:txBody>
      </p:sp>
      <p:sp>
        <p:nvSpPr>
          <p:cNvPr id="405" name="Google Shape;405;p45"/>
          <p:cNvSpPr txBox="1">
            <a:spLocks noGrp="1"/>
          </p:cNvSpPr>
          <p:nvPr>
            <p:ph type="title"/>
          </p:nvPr>
        </p:nvSpPr>
        <p:spPr>
          <a:xfrm>
            <a:off x="1501050" y="2122300"/>
            <a:ext cx="3718800" cy="11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EMPLOYEE RETENTION</a:t>
            </a:r>
            <a:endParaRPr dirty="0"/>
          </a:p>
        </p:txBody>
      </p:sp>
      <p:sp>
        <p:nvSpPr>
          <p:cNvPr id="406" name="Google Shape;406;p45"/>
          <p:cNvSpPr txBox="1">
            <a:spLocks noGrp="1"/>
          </p:cNvSpPr>
          <p:nvPr>
            <p:ph type="subTitle" idx="1"/>
          </p:nvPr>
        </p:nvSpPr>
        <p:spPr>
          <a:xfrm>
            <a:off x="1501050" y="3141500"/>
            <a:ext cx="3634830" cy="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i="1" dirty="0">
                <a:solidFill>
                  <a:schemeClr val="tx2">
                    <a:lumMod val="50000"/>
                  </a:schemeClr>
                </a:solidFill>
              </a:rPr>
              <a:t>What are the characteristics and demography of employees that have a high probability of leaving the company in the next 3 months? </a:t>
            </a:r>
          </a:p>
        </p:txBody>
      </p:sp>
      <p:sp>
        <p:nvSpPr>
          <p:cNvPr id="407" name="Google Shape;407;p45"/>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www.slidesgo.com</a:t>
            </a:r>
            <a:endParaRPr>
              <a:solidFill>
                <a:schemeClr val="lt1"/>
              </a:solidFill>
            </a:endParaRPr>
          </a:p>
        </p:txBody>
      </p:sp>
      <p:sp>
        <p:nvSpPr>
          <p:cNvPr id="408" name="Google Shape;408;p45"/>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HR Analysis</a:t>
            </a:r>
            <a:endParaRPr dirty="0"/>
          </a:p>
        </p:txBody>
      </p:sp>
      <p:cxnSp>
        <p:nvCxnSpPr>
          <p:cNvPr id="409" name="Google Shape;409;p4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410" name="Google Shape;410;p4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
        <p:nvSpPr>
          <p:cNvPr id="411" name="Google Shape;411;p45"/>
          <p:cNvSpPr/>
          <p:nvPr/>
        </p:nvSpPr>
        <p:spPr>
          <a:xfrm rot="5400000">
            <a:off x="6328283" y="2488787"/>
            <a:ext cx="3952860" cy="165926"/>
          </a:xfrm>
          <a:prstGeom prst="rect">
            <a:avLst/>
          </a:prstGeom>
        </p:spPr>
        <p:txBody>
          <a:bodyPr>
            <a:prstTxWarp prst="textPlain">
              <a:avLst/>
            </a:prstTxWarp>
          </a:bodyPr>
          <a:lstStyle/>
          <a:p>
            <a:pPr lvl="0" algn="ctr"/>
            <a:r>
              <a:rPr b="1" i="0">
                <a:ln>
                  <a:noFill/>
                </a:ln>
                <a:solidFill>
                  <a:schemeClr val="lt1"/>
                </a:solidFill>
                <a:latin typeface="Cabin"/>
              </a:rPr>
              <a:t>-HUMAN RESOURCES DEVELOPMENT-</a:t>
            </a:r>
          </a:p>
        </p:txBody>
      </p:sp>
      <p:sp>
        <p:nvSpPr>
          <p:cNvPr id="412" name="Google Shape;412;p45"/>
          <p:cNvSpPr/>
          <p:nvPr/>
        </p:nvSpPr>
        <p:spPr>
          <a:xfrm rot="-5400000" flipH="1">
            <a:off x="6480683" y="2488787"/>
            <a:ext cx="3952860" cy="165926"/>
          </a:xfrm>
          <a:prstGeom prst="rect">
            <a:avLst/>
          </a:prstGeom>
        </p:spPr>
        <p:txBody>
          <a:bodyPr>
            <a:prstTxWarp prst="textPlain">
              <a:avLst/>
            </a:prstTxWarp>
          </a:bodyPr>
          <a:lstStyle/>
          <a:p>
            <a:pPr lvl="0" algn="ctr"/>
            <a:r>
              <a:rPr b="1" i="0" dirty="0">
                <a:ln>
                  <a:noFill/>
                </a:ln>
                <a:solidFill>
                  <a:srgbClr val="FFFCFC">
                    <a:alpha val="23210"/>
                  </a:srgbClr>
                </a:solidFill>
                <a:latin typeface="Cabin"/>
              </a:rPr>
              <a:t>-HUMAN RESOURCES DEVELOPMENT-</a:t>
            </a:r>
          </a:p>
        </p:txBody>
      </p:sp>
    </p:spTree>
    <p:extLst>
      <p:ext uri="{BB962C8B-B14F-4D97-AF65-F5344CB8AC3E}">
        <p14:creationId xmlns:p14="http://schemas.microsoft.com/office/powerpoint/2010/main" val="2443523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16" name="Rectangle 15">
            <a:extLst>
              <a:ext uri="{FF2B5EF4-FFF2-40B4-BE49-F238E27FC236}">
                <a16:creationId xmlns:a16="http://schemas.microsoft.com/office/drawing/2014/main" id="{CC1BF55D-54CF-D619-852C-EE350B874337}"/>
              </a:ext>
            </a:extLst>
          </p:cNvPr>
          <p:cNvSpPr/>
          <p:nvPr/>
        </p:nvSpPr>
        <p:spPr>
          <a:xfrm>
            <a:off x="6263640" y="0"/>
            <a:ext cx="2880360"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Google Shape;650;p55"/>
          <p:cNvSpPr txBox="1">
            <a:spLocks noGrp="1"/>
          </p:cNvSpPr>
          <p:nvPr>
            <p:ph type="title"/>
          </p:nvPr>
        </p:nvSpPr>
        <p:spPr>
          <a:xfrm>
            <a:off x="648863" y="272023"/>
            <a:ext cx="38409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dirty="0"/>
              <a:t>PAIN POINT</a:t>
            </a:r>
            <a:endParaRPr sz="2400" b="1" dirty="0"/>
          </a:p>
        </p:txBody>
      </p:sp>
      <p:sp>
        <p:nvSpPr>
          <p:cNvPr id="651" name="Google Shape;651;p55"/>
          <p:cNvSpPr txBox="1">
            <a:spLocks noGrp="1"/>
          </p:cNvSpPr>
          <p:nvPr>
            <p:ph type="subTitle" idx="1"/>
          </p:nvPr>
        </p:nvSpPr>
        <p:spPr>
          <a:xfrm>
            <a:off x="648862" y="780772"/>
            <a:ext cx="5434275" cy="738286"/>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1600" dirty="0">
                <a:latin typeface="Calibri" panose="020F0502020204030204" pitchFamily="34" charset="0"/>
                <a:cs typeface="Calibri" panose="020F0502020204030204" pitchFamily="34" charset="0"/>
              </a:rPr>
              <a:t>High number of employees with 0-2 years of tenure, consisting about 50% (54) of employees who have left the company.  (Figure 6)</a:t>
            </a:r>
            <a:endParaRPr sz="1600" dirty="0">
              <a:latin typeface="Calibri" panose="020F0502020204030204" pitchFamily="34" charset="0"/>
              <a:cs typeface="Calibri" panose="020F0502020204030204" pitchFamily="34" charset="0"/>
            </a:endParaRPr>
          </a:p>
        </p:txBody>
      </p:sp>
      <p:sp>
        <p:nvSpPr>
          <p:cNvPr id="654" name="Google Shape;654;p55"/>
          <p:cNvSpPr txBox="1">
            <a:spLocks noGrp="1"/>
          </p:cNvSpPr>
          <p:nvPr>
            <p:ph type="subTitle" idx="3"/>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pic>
        <p:nvPicPr>
          <p:cNvPr id="5" name="Picture 4" descr="A graph with numbers and a bar&#10;&#10;Description automatically generated">
            <a:extLst>
              <a:ext uri="{FF2B5EF4-FFF2-40B4-BE49-F238E27FC236}">
                <a16:creationId xmlns:a16="http://schemas.microsoft.com/office/drawing/2014/main" id="{5E4C611C-F635-7635-CB8F-182C258E068A}"/>
              </a:ext>
            </a:extLst>
          </p:cNvPr>
          <p:cNvPicPr>
            <a:picLocks noChangeAspect="1"/>
          </p:cNvPicPr>
          <p:nvPr/>
        </p:nvPicPr>
        <p:blipFill>
          <a:blip r:embed="rId3"/>
          <a:stretch>
            <a:fillRect/>
          </a:stretch>
        </p:blipFill>
        <p:spPr>
          <a:xfrm>
            <a:off x="6661302" y="55880"/>
            <a:ext cx="2362172" cy="2750820"/>
          </a:xfrm>
          <a:prstGeom prst="rect">
            <a:avLst/>
          </a:prstGeom>
        </p:spPr>
      </p:pic>
      <p:pic>
        <p:nvPicPr>
          <p:cNvPr id="7" name="Picture 6" descr="A pie chart with text on it&#10;&#10;Description automatically generated">
            <a:extLst>
              <a:ext uri="{FF2B5EF4-FFF2-40B4-BE49-F238E27FC236}">
                <a16:creationId xmlns:a16="http://schemas.microsoft.com/office/drawing/2014/main" id="{5016B3D3-AEE0-5AEC-1D7B-32297F64811E}"/>
              </a:ext>
            </a:extLst>
          </p:cNvPr>
          <p:cNvPicPr>
            <a:picLocks noChangeAspect="1"/>
          </p:cNvPicPr>
          <p:nvPr/>
        </p:nvPicPr>
        <p:blipFill>
          <a:blip r:embed="rId4"/>
          <a:stretch>
            <a:fillRect/>
          </a:stretch>
        </p:blipFill>
        <p:spPr>
          <a:xfrm>
            <a:off x="6684619" y="2981916"/>
            <a:ext cx="2235281" cy="2009184"/>
          </a:xfrm>
          <a:prstGeom prst="rect">
            <a:avLst/>
          </a:prstGeom>
        </p:spPr>
      </p:pic>
      <p:sp>
        <p:nvSpPr>
          <p:cNvPr id="11" name="Rectangle 10">
            <a:extLst>
              <a:ext uri="{FF2B5EF4-FFF2-40B4-BE49-F238E27FC236}">
                <a16:creationId xmlns:a16="http://schemas.microsoft.com/office/drawing/2014/main" id="{6DA5DEA8-7D6B-2077-DC28-6796CA884E32}"/>
              </a:ext>
            </a:extLst>
          </p:cNvPr>
          <p:cNvSpPr/>
          <p:nvPr/>
        </p:nvSpPr>
        <p:spPr>
          <a:xfrm>
            <a:off x="6873240" y="152400"/>
            <a:ext cx="593463" cy="26543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650;p55">
            <a:extLst>
              <a:ext uri="{FF2B5EF4-FFF2-40B4-BE49-F238E27FC236}">
                <a16:creationId xmlns:a16="http://schemas.microsoft.com/office/drawing/2014/main" id="{5821ED99-1F55-3698-9590-7E4BDFD85389}"/>
              </a:ext>
            </a:extLst>
          </p:cNvPr>
          <p:cNvSpPr txBox="1">
            <a:spLocks/>
          </p:cNvSpPr>
          <p:nvPr/>
        </p:nvSpPr>
        <p:spPr>
          <a:xfrm>
            <a:off x="648863" y="2162272"/>
            <a:ext cx="3840900" cy="531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200"/>
              <a:buFont typeface="Cantata One"/>
              <a:buNone/>
              <a:defRPr sz="1800" b="0" i="0" u="none" strike="noStrike" cap="none">
                <a:solidFill>
                  <a:schemeClr val="dk1"/>
                </a:solidFill>
                <a:latin typeface="Cantata One"/>
                <a:ea typeface="Cantata One"/>
                <a:cs typeface="Cantata One"/>
                <a:sym typeface="Cantata One"/>
              </a:defRPr>
            </a:lvl1pPr>
            <a:lvl2pPr marR="0" lvl="1"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r>
              <a:rPr lang="en-SG" sz="2400" b="1" dirty="0"/>
              <a:t>INSIGHTS</a:t>
            </a:r>
          </a:p>
        </p:txBody>
      </p:sp>
      <p:sp>
        <p:nvSpPr>
          <p:cNvPr id="13" name="Google Shape;651;p55">
            <a:extLst>
              <a:ext uri="{FF2B5EF4-FFF2-40B4-BE49-F238E27FC236}">
                <a16:creationId xmlns:a16="http://schemas.microsoft.com/office/drawing/2014/main" id="{BBA3E2AC-61E7-8AA4-6F64-18F61EBDFBD7}"/>
              </a:ext>
            </a:extLst>
          </p:cNvPr>
          <p:cNvSpPr txBox="1">
            <a:spLocks/>
          </p:cNvSpPr>
          <p:nvPr/>
        </p:nvSpPr>
        <p:spPr>
          <a:xfrm>
            <a:off x="642203" y="1555569"/>
            <a:ext cx="5434275" cy="6020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9pPr>
          </a:lstStyle>
          <a:p>
            <a:pPr marL="0" indent="0"/>
            <a:r>
              <a:rPr lang="en-SG" sz="1600" dirty="0">
                <a:latin typeface="Calibri" panose="020F0502020204030204" pitchFamily="34" charset="0"/>
                <a:cs typeface="Calibri" panose="020F0502020204030204" pitchFamily="34" charset="0"/>
              </a:rPr>
              <a:t>Referring to Figure 7, common factors on why employees leave are due to </a:t>
            </a:r>
            <a:r>
              <a:rPr lang="en-SG" sz="1600" b="1" dirty="0">
                <a:latin typeface="Calibri" panose="020F0502020204030204" pitchFamily="34" charset="0"/>
                <a:cs typeface="Calibri" panose="020F0502020204030204" pitchFamily="34" charset="0"/>
              </a:rPr>
              <a:t>career related </a:t>
            </a:r>
            <a:r>
              <a:rPr lang="en-SG" sz="1600" dirty="0">
                <a:latin typeface="Calibri" panose="020F0502020204030204" pitchFamily="34" charset="0"/>
                <a:cs typeface="Calibri" panose="020F0502020204030204" pitchFamily="34" charset="0"/>
              </a:rPr>
              <a:t>and </a:t>
            </a:r>
            <a:r>
              <a:rPr lang="en-SG" sz="1600" b="1" dirty="0">
                <a:latin typeface="Calibri" panose="020F0502020204030204" pitchFamily="34" charset="0"/>
                <a:cs typeface="Calibri" panose="020F0502020204030204" pitchFamily="34" charset="0"/>
              </a:rPr>
              <a:t>work-life issues</a:t>
            </a:r>
            <a:r>
              <a:rPr lang="en-SG" sz="1600" dirty="0">
                <a:latin typeface="Calibri" panose="020F0502020204030204" pitchFamily="34" charset="0"/>
                <a:cs typeface="Calibri" panose="020F0502020204030204" pitchFamily="34" charset="0"/>
              </a:rPr>
              <a:t>.</a:t>
            </a:r>
          </a:p>
        </p:txBody>
      </p:sp>
      <p:sp>
        <p:nvSpPr>
          <p:cNvPr id="14" name="TextBox 13">
            <a:extLst>
              <a:ext uri="{FF2B5EF4-FFF2-40B4-BE49-F238E27FC236}">
                <a16:creationId xmlns:a16="http://schemas.microsoft.com/office/drawing/2014/main" id="{574B16CF-AF3F-4AD3-3225-70A6F3660066}"/>
              </a:ext>
            </a:extLst>
          </p:cNvPr>
          <p:cNvSpPr txBox="1"/>
          <p:nvPr/>
        </p:nvSpPr>
        <p:spPr>
          <a:xfrm rot="16200000">
            <a:off x="5560771" y="1591611"/>
            <a:ext cx="1859280" cy="307777"/>
          </a:xfrm>
          <a:prstGeom prst="rect">
            <a:avLst/>
          </a:prstGeom>
          <a:noFill/>
        </p:spPr>
        <p:txBody>
          <a:bodyPr wrap="square" rtlCol="0">
            <a:spAutoFit/>
          </a:bodyPr>
          <a:lstStyle/>
          <a:p>
            <a:pPr algn="ctr"/>
            <a:r>
              <a:rPr lang="en-US" dirty="0"/>
              <a:t>Figure 6 </a:t>
            </a:r>
          </a:p>
        </p:txBody>
      </p:sp>
      <p:sp>
        <p:nvSpPr>
          <p:cNvPr id="15" name="Google Shape;651;p55">
            <a:extLst>
              <a:ext uri="{FF2B5EF4-FFF2-40B4-BE49-F238E27FC236}">
                <a16:creationId xmlns:a16="http://schemas.microsoft.com/office/drawing/2014/main" id="{D2F686D0-2408-9116-6049-007CD7098CD9}"/>
              </a:ext>
            </a:extLst>
          </p:cNvPr>
          <p:cNvSpPr txBox="1">
            <a:spLocks/>
          </p:cNvSpPr>
          <p:nvPr/>
        </p:nvSpPr>
        <p:spPr>
          <a:xfrm>
            <a:off x="648862" y="2571750"/>
            <a:ext cx="5434275" cy="1143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9pPr>
          </a:lstStyle>
          <a:p>
            <a:pPr marL="0" indent="0"/>
            <a:r>
              <a:rPr lang="en" sz="1600" dirty="0">
                <a:latin typeface="Calibri" panose="020F0502020204030204" pitchFamily="34" charset="0"/>
                <a:cs typeface="Calibri" panose="020F0502020204030204" pitchFamily="34" charset="0"/>
              </a:rPr>
              <a:t>1. Underlying issues with early employee turnover</a:t>
            </a:r>
          </a:p>
          <a:p>
            <a:pPr marL="0" indent="0"/>
            <a:r>
              <a:rPr lang="en-SG" sz="1600" dirty="0">
                <a:latin typeface="Calibri" panose="020F0502020204030204" pitchFamily="34" charset="0"/>
                <a:cs typeface="Calibri" panose="020F0502020204030204" pitchFamily="34" charset="0"/>
              </a:rPr>
              <a:t>2. Lack of work-life balance for employees</a:t>
            </a:r>
          </a:p>
          <a:p>
            <a:pPr marL="0" indent="0"/>
            <a:r>
              <a:rPr lang="en-SG" sz="1600" dirty="0">
                <a:latin typeface="Calibri" panose="020F0502020204030204" pitchFamily="34" charset="0"/>
                <a:cs typeface="Calibri" panose="020F0502020204030204" pitchFamily="34" charset="0"/>
              </a:rPr>
              <a:t>3. Job-role mismatch</a:t>
            </a:r>
          </a:p>
          <a:p>
            <a:pPr marL="0" indent="0"/>
            <a:r>
              <a:rPr lang="en-SG" sz="1600" dirty="0">
                <a:latin typeface="Calibri" panose="020F0502020204030204" pitchFamily="34" charset="0"/>
                <a:cs typeface="Calibri" panose="020F0502020204030204" pitchFamily="34" charset="0"/>
              </a:rPr>
              <a:t>4. Issues with onboarding</a:t>
            </a:r>
          </a:p>
        </p:txBody>
      </p:sp>
      <p:sp>
        <p:nvSpPr>
          <p:cNvPr id="18" name="Google Shape;651;p55">
            <a:extLst>
              <a:ext uri="{FF2B5EF4-FFF2-40B4-BE49-F238E27FC236}">
                <a16:creationId xmlns:a16="http://schemas.microsoft.com/office/drawing/2014/main" id="{DCFD2DF3-9197-B7D0-5D11-F4F35BFF894D}"/>
              </a:ext>
            </a:extLst>
          </p:cNvPr>
          <p:cNvSpPr txBox="1">
            <a:spLocks/>
          </p:cNvSpPr>
          <p:nvPr/>
        </p:nvSpPr>
        <p:spPr>
          <a:xfrm>
            <a:off x="642203" y="3715636"/>
            <a:ext cx="5434275" cy="950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9pPr>
          </a:lstStyle>
          <a:p>
            <a:pPr marL="0" indent="0"/>
            <a:r>
              <a:rPr lang="en-SG" sz="1600" dirty="0">
                <a:latin typeface="Calibri" panose="020F0502020204030204" pitchFamily="34" charset="0"/>
                <a:cs typeface="Calibri" panose="020F0502020204030204" pitchFamily="34" charset="0"/>
              </a:rPr>
              <a:t>Employees who just started in the company have a high possibility to leave. More emphasis should be placed on employees who had just started.</a:t>
            </a:r>
          </a:p>
        </p:txBody>
      </p:sp>
      <p:sp>
        <p:nvSpPr>
          <p:cNvPr id="19" name="TextBox 18">
            <a:extLst>
              <a:ext uri="{FF2B5EF4-FFF2-40B4-BE49-F238E27FC236}">
                <a16:creationId xmlns:a16="http://schemas.microsoft.com/office/drawing/2014/main" id="{F62401BB-7A3E-A205-6565-1702BA6F587A}"/>
              </a:ext>
            </a:extLst>
          </p:cNvPr>
          <p:cNvSpPr txBox="1"/>
          <p:nvPr/>
        </p:nvSpPr>
        <p:spPr>
          <a:xfrm rot="16200000">
            <a:off x="5627323" y="3582451"/>
            <a:ext cx="1859280" cy="307777"/>
          </a:xfrm>
          <a:prstGeom prst="rect">
            <a:avLst/>
          </a:prstGeom>
          <a:noFill/>
        </p:spPr>
        <p:txBody>
          <a:bodyPr wrap="square" rtlCol="0">
            <a:spAutoFit/>
          </a:bodyPr>
          <a:lstStyle/>
          <a:p>
            <a:pPr algn="ctr"/>
            <a:r>
              <a:rPr lang="en-US" dirty="0"/>
              <a:t>Figure 7</a:t>
            </a:r>
          </a:p>
        </p:txBody>
      </p:sp>
      <p:pic>
        <p:nvPicPr>
          <p:cNvPr id="3" name="Picture 2" descr="A pie chart with text on it&#10;&#10;Description automatically generated">
            <a:extLst>
              <a:ext uri="{FF2B5EF4-FFF2-40B4-BE49-F238E27FC236}">
                <a16:creationId xmlns:a16="http://schemas.microsoft.com/office/drawing/2014/main" id="{703A2710-A54C-03F2-723A-7E0737FD4761}"/>
              </a:ext>
            </a:extLst>
          </p:cNvPr>
          <p:cNvPicPr>
            <a:picLocks noChangeAspect="1"/>
          </p:cNvPicPr>
          <p:nvPr/>
        </p:nvPicPr>
        <p:blipFill>
          <a:blip r:embed="rId5"/>
          <a:stretch>
            <a:fillRect/>
          </a:stretch>
        </p:blipFill>
        <p:spPr>
          <a:xfrm>
            <a:off x="6688240" y="2895568"/>
            <a:ext cx="2335234" cy="2219846"/>
          </a:xfrm>
          <a:prstGeom prst="rect">
            <a:avLst/>
          </a:prstGeom>
        </p:spPr>
      </p:pic>
    </p:spTree>
    <p:extLst>
      <p:ext uri="{BB962C8B-B14F-4D97-AF65-F5344CB8AC3E}">
        <p14:creationId xmlns:p14="http://schemas.microsoft.com/office/powerpoint/2010/main" val="33115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16" name="Google Shape;651;p55">
            <a:extLst>
              <a:ext uri="{FF2B5EF4-FFF2-40B4-BE49-F238E27FC236}">
                <a16:creationId xmlns:a16="http://schemas.microsoft.com/office/drawing/2014/main" id="{628C7538-D578-DC13-A0DE-5E2395DA6C76}"/>
              </a:ext>
            </a:extLst>
          </p:cNvPr>
          <p:cNvSpPr txBox="1">
            <a:spLocks noGrp="1"/>
          </p:cNvSpPr>
          <p:nvPr>
            <p:ph type="subTitle" idx="1"/>
          </p:nvPr>
        </p:nvSpPr>
        <p:spPr>
          <a:xfrm>
            <a:off x="327154" y="3549529"/>
            <a:ext cx="5434275" cy="1181261"/>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1600" dirty="0">
                <a:latin typeface="Calibri" panose="020F0502020204030204" pitchFamily="34" charset="0"/>
                <a:cs typeface="Calibri" panose="020F0502020204030204" pitchFamily="34" charset="0"/>
              </a:rPr>
              <a:t>Within ABC Company, </a:t>
            </a:r>
            <a:r>
              <a:rPr lang="en" sz="1600" b="1" u="sng" dirty="0">
                <a:latin typeface="Calibri" panose="020F0502020204030204" pitchFamily="34" charset="0"/>
                <a:cs typeface="Calibri" panose="020F0502020204030204" pitchFamily="34" charset="0"/>
              </a:rPr>
              <a:t>50%</a:t>
            </a:r>
            <a:r>
              <a:rPr lang="en" sz="1600" dirty="0">
                <a:latin typeface="Calibri" panose="020F0502020204030204" pitchFamily="34" charset="0"/>
                <a:cs typeface="Calibri" panose="020F0502020204030204" pitchFamily="34" charset="0"/>
              </a:rPr>
              <a:t> of it’s employees have 2-4 years of tenure with the company. Though it does not face huge turnover as compared to their earlier counterparts, emphasis should also be placed in retaining them as they make up the core of the company.</a:t>
            </a:r>
            <a:endParaRPr sz="16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82ED58A8-5B66-8383-1CBC-7345A1C945D5}"/>
              </a:ext>
            </a:extLst>
          </p:cNvPr>
          <p:cNvSpPr/>
          <p:nvPr/>
        </p:nvSpPr>
        <p:spPr>
          <a:xfrm rot="16200000">
            <a:off x="3145642" y="-3148100"/>
            <a:ext cx="2852716" cy="914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140FEFC2-A3CF-C792-35DF-D5AB75AE8DC5}"/>
              </a:ext>
            </a:extLst>
          </p:cNvPr>
          <p:cNvGrpSpPr/>
          <p:nvPr/>
        </p:nvGrpSpPr>
        <p:grpSpPr>
          <a:xfrm>
            <a:off x="327154" y="-14362"/>
            <a:ext cx="2416046" cy="2565512"/>
            <a:chOff x="1040539" y="0"/>
            <a:chExt cx="2362172" cy="2752427"/>
          </a:xfrm>
        </p:grpSpPr>
        <p:pic>
          <p:nvPicPr>
            <p:cNvPr id="5" name="Picture 4" descr="A graph with numbers and a bar&#10;&#10;Description automatically generated">
              <a:extLst>
                <a:ext uri="{FF2B5EF4-FFF2-40B4-BE49-F238E27FC236}">
                  <a16:creationId xmlns:a16="http://schemas.microsoft.com/office/drawing/2014/main" id="{1EC83808-DF11-3496-AC12-492DFD71C371}"/>
                </a:ext>
              </a:extLst>
            </p:cNvPr>
            <p:cNvPicPr>
              <a:picLocks noChangeAspect="1"/>
            </p:cNvPicPr>
            <p:nvPr/>
          </p:nvPicPr>
          <p:blipFill>
            <a:blip r:embed="rId3"/>
            <a:stretch>
              <a:fillRect/>
            </a:stretch>
          </p:blipFill>
          <p:spPr>
            <a:xfrm>
              <a:off x="1040539" y="0"/>
              <a:ext cx="2362172" cy="2750820"/>
            </a:xfrm>
            <a:prstGeom prst="rect">
              <a:avLst/>
            </a:prstGeom>
          </p:spPr>
        </p:pic>
        <p:sp>
          <p:nvSpPr>
            <p:cNvPr id="6" name="Rectangle 5">
              <a:extLst>
                <a:ext uri="{FF2B5EF4-FFF2-40B4-BE49-F238E27FC236}">
                  <a16:creationId xmlns:a16="http://schemas.microsoft.com/office/drawing/2014/main" id="{7BBFA7D1-C46D-5393-395A-1DF2BABE7228}"/>
                </a:ext>
              </a:extLst>
            </p:cNvPr>
            <p:cNvSpPr/>
            <p:nvPr/>
          </p:nvSpPr>
          <p:spPr>
            <a:xfrm>
              <a:off x="1866900" y="1165077"/>
              <a:ext cx="593463" cy="158735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816242C0-2AF2-5F18-F9D7-4C6EB0543741}"/>
              </a:ext>
            </a:extLst>
          </p:cNvPr>
          <p:cNvSpPr txBox="1"/>
          <p:nvPr/>
        </p:nvSpPr>
        <p:spPr>
          <a:xfrm>
            <a:off x="546221" y="2552866"/>
            <a:ext cx="1859280" cy="307777"/>
          </a:xfrm>
          <a:prstGeom prst="rect">
            <a:avLst/>
          </a:prstGeom>
          <a:noFill/>
        </p:spPr>
        <p:txBody>
          <a:bodyPr wrap="square" rtlCol="0">
            <a:spAutoFit/>
          </a:bodyPr>
          <a:lstStyle/>
          <a:p>
            <a:pPr algn="ctr"/>
            <a:r>
              <a:rPr lang="en-US" dirty="0"/>
              <a:t>Figure 8</a:t>
            </a:r>
          </a:p>
        </p:txBody>
      </p:sp>
      <p:sp>
        <p:nvSpPr>
          <p:cNvPr id="10" name="TextBox 9">
            <a:extLst>
              <a:ext uri="{FF2B5EF4-FFF2-40B4-BE49-F238E27FC236}">
                <a16:creationId xmlns:a16="http://schemas.microsoft.com/office/drawing/2014/main" id="{55381B0F-FAC2-088D-946F-C185D27B884A}"/>
              </a:ext>
            </a:extLst>
          </p:cNvPr>
          <p:cNvSpPr txBox="1"/>
          <p:nvPr/>
        </p:nvSpPr>
        <p:spPr>
          <a:xfrm>
            <a:off x="3812564" y="2565995"/>
            <a:ext cx="1859280" cy="307777"/>
          </a:xfrm>
          <a:prstGeom prst="rect">
            <a:avLst/>
          </a:prstGeom>
          <a:noFill/>
        </p:spPr>
        <p:txBody>
          <a:bodyPr wrap="square" rtlCol="0">
            <a:spAutoFit/>
          </a:bodyPr>
          <a:lstStyle/>
          <a:p>
            <a:pPr algn="ctr"/>
            <a:r>
              <a:rPr lang="en-US" dirty="0"/>
              <a:t>Figure 9</a:t>
            </a:r>
          </a:p>
        </p:txBody>
      </p:sp>
      <p:sp>
        <p:nvSpPr>
          <p:cNvPr id="15" name="Google Shape;650;p55">
            <a:extLst>
              <a:ext uri="{FF2B5EF4-FFF2-40B4-BE49-F238E27FC236}">
                <a16:creationId xmlns:a16="http://schemas.microsoft.com/office/drawing/2014/main" id="{319C23D9-678E-F9B3-59C8-29B48B869F7F}"/>
              </a:ext>
            </a:extLst>
          </p:cNvPr>
          <p:cNvSpPr txBox="1">
            <a:spLocks noGrp="1"/>
          </p:cNvSpPr>
          <p:nvPr>
            <p:ph type="title"/>
          </p:nvPr>
        </p:nvSpPr>
        <p:spPr>
          <a:xfrm>
            <a:off x="1869060" y="2959459"/>
            <a:ext cx="2350461"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dirty="0"/>
              <a:t>ANALYSIS</a:t>
            </a:r>
            <a:endParaRPr sz="2400" b="1" dirty="0"/>
          </a:p>
        </p:txBody>
      </p:sp>
      <p:sp>
        <p:nvSpPr>
          <p:cNvPr id="17" name="Google Shape;650;p55">
            <a:extLst>
              <a:ext uri="{FF2B5EF4-FFF2-40B4-BE49-F238E27FC236}">
                <a16:creationId xmlns:a16="http://schemas.microsoft.com/office/drawing/2014/main" id="{10393CC5-C802-7A30-21AE-85755D5E25D1}"/>
              </a:ext>
            </a:extLst>
          </p:cNvPr>
          <p:cNvSpPr txBox="1">
            <a:spLocks/>
          </p:cNvSpPr>
          <p:nvPr/>
        </p:nvSpPr>
        <p:spPr>
          <a:xfrm>
            <a:off x="6656069" y="2853473"/>
            <a:ext cx="1920449" cy="531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200"/>
              <a:buFont typeface="Cantata One"/>
              <a:buNone/>
              <a:defRPr sz="1800" b="0" i="0" u="none" strike="noStrike" cap="none">
                <a:solidFill>
                  <a:schemeClr val="dk1"/>
                </a:solidFill>
                <a:latin typeface="Cantata One"/>
                <a:ea typeface="Cantata One"/>
                <a:cs typeface="Cantata One"/>
                <a:sym typeface="Cantata One"/>
              </a:defRPr>
            </a:lvl1pPr>
            <a:lvl2pPr marR="0" lvl="1"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r>
              <a:rPr lang="en-SG" sz="2400" b="1" dirty="0"/>
              <a:t>INSIGHTS</a:t>
            </a:r>
          </a:p>
        </p:txBody>
      </p:sp>
      <p:sp>
        <p:nvSpPr>
          <p:cNvPr id="19" name="Google Shape;651;p55">
            <a:extLst>
              <a:ext uri="{FF2B5EF4-FFF2-40B4-BE49-F238E27FC236}">
                <a16:creationId xmlns:a16="http://schemas.microsoft.com/office/drawing/2014/main" id="{D4F61EFC-6F99-4D7E-267F-872C727F8751}"/>
              </a:ext>
            </a:extLst>
          </p:cNvPr>
          <p:cNvSpPr txBox="1">
            <a:spLocks/>
          </p:cNvSpPr>
          <p:nvPr/>
        </p:nvSpPr>
        <p:spPr>
          <a:xfrm>
            <a:off x="685574" y="5187893"/>
            <a:ext cx="5434275" cy="1143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1pPr>
            <a:lvl2pPr marL="914400" marR="0" lvl="1"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2pPr>
            <a:lvl3pPr marL="1371600" marR="0" lvl="2"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3pPr>
            <a:lvl4pPr marL="1828800" marR="0" lvl="3"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4pPr>
            <a:lvl5pPr marL="2286000" marR="0" lvl="4"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5pPr>
            <a:lvl6pPr marL="2743200" marR="0" lvl="5"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6pPr>
            <a:lvl7pPr marL="3200400" marR="0" lvl="6"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7pPr>
            <a:lvl8pPr marL="3657600" marR="0" lvl="7"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8pPr>
            <a:lvl9pPr marL="4114800" marR="0" lvl="8" indent="-317500" algn="ctr" rtl="0">
              <a:lnSpc>
                <a:spcPct val="100000"/>
              </a:lnSpc>
              <a:spcBef>
                <a:spcPts val="0"/>
              </a:spcBef>
              <a:spcAft>
                <a:spcPts val="0"/>
              </a:spcAft>
              <a:buClr>
                <a:schemeClr val="dk1"/>
              </a:buClr>
              <a:buSzPts val="3000"/>
              <a:buFont typeface="Cabin"/>
              <a:buNone/>
              <a:defRPr sz="3000" b="0" i="0" u="none" strike="noStrike" cap="none">
                <a:solidFill>
                  <a:schemeClr val="dk1"/>
                </a:solidFill>
                <a:latin typeface="Cabin"/>
                <a:ea typeface="Cabin"/>
                <a:cs typeface="Cabin"/>
                <a:sym typeface="Cabin"/>
              </a:defRPr>
            </a:lvl9pPr>
          </a:lstStyle>
          <a:p>
            <a:pPr marL="0" indent="0"/>
            <a:r>
              <a:rPr lang="en" sz="1600" dirty="0">
                <a:latin typeface="Calibri" panose="020F0502020204030204" pitchFamily="34" charset="0"/>
                <a:cs typeface="Calibri" panose="020F0502020204030204" pitchFamily="34" charset="0"/>
              </a:rPr>
              <a:t>1. Underlying issues with early employee turnover.</a:t>
            </a:r>
          </a:p>
          <a:p>
            <a:pPr marL="0" indent="0"/>
            <a:r>
              <a:rPr lang="en-SG" sz="1600" dirty="0">
                <a:latin typeface="Calibri" panose="020F0502020204030204" pitchFamily="34" charset="0"/>
                <a:cs typeface="Calibri" panose="020F0502020204030204" pitchFamily="34" charset="0"/>
              </a:rPr>
              <a:t>2. Lacking work-life balance for employees</a:t>
            </a:r>
          </a:p>
          <a:p>
            <a:pPr marL="0" indent="0"/>
            <a:r>
              <a:rPr lang="en-SG" sz="1600" dirty="0">
                <a:latin typeface="Calibri" panose="020F0502020204030204" pitchFamily="34" charset="0"/>
                <a:cs typeface="Calibri" panose="020F0502020204030204" pitchFamily="34" charset="0"/>
              </a:rPr>
              <a:t>3. Job-role mismatch</a:t>
            </a:r>
          </a:p>
          <a:p>
            <a:pPr marL="0" indent="0"/>
            <a:r>
              <a:rPr lang="en-SG" sz="1600" dirty="0">
                <a:latin typeface="Calibri" panose="020F0502020204030204" pitchFamily="34" charset="0"/>
                <a:cs typeface="Calibri" panose="020F0502020204030204" pitchFamily="34" charset="0"/>
              </a:rPr>
              <a:t>4. Issues with onboarding</a:t>
            </a:r>
          </a:p>
        </p:txBody>
      </p:sp>
      <p:pic>
        <p:nvPicPr>
          <p:cNvPr id="23" name="Picture 22" descr="A graph of different colored bars&#10;&#10;Description automatically generated">
            <a:extLst>
              <a:ext uri="{FF2B5EF4-FFF2-40B4-BE49-F238E27FC236}">
                <a16:creationId xmlns:a16="http://schemas.microsoft.com/office/drawing/2014/main" id="{05E3BC9F-2006-210F-9205-E462E0AEC546}"/>
              </a:ext>
            </a:extLst>
          </p:cNvPr>
          <p:cNvPicPr>
            <a:picLocks noChangeAspect="1"/>
          </p:cNvPicPr>
          <p:nvPr/>
        </p:nvPicPr>
        <p:blipFill>
          <a:blip r:embed="rId4"/>
          <a:stretch>
            <a:fillRect/>
          </a:stretch>
        </p:blipFill>
        <p:spPr>
          <a:xfrm>
            <a:off x="2951722" y="73076"/>
            <a:ext cx="3704347" cy="2507242"/>
          </a:xfrm>
          <a:prstGeom prst="rect">
            <a:avLst/>
          </a:prstGeom>
        </p:spPr>
      </p:pic>
      <p:pic>
        <p:nvPicPr>
          <p:cNvPr id="3" name="Picture 2" descr="A pie chart with numbers and text&#10;&#10;Description automatically generated">
            <a:extLst>
              <a:ext uri="{FF2B5EF4-FFF2-40B4-BE49-F238E27FC236}">
                <a16:creationId xmlns:a16="http://schemas.microsoft.com/office/drawing/2014/main" id="{59A21E7D-3DF5-E51A-05DE-28145219B202}"/>
              </a:ext>
            </a:extLst>
          </p:cNvPr>
          <p:cNvPicPr>
            <a:picLocks noChangeAspect="1"/>
          </p:cNvPicPr>
          <p:nvPr/>
        </p:nvPicPr>
        <p:blipFill>
          <a:blip r:embed="rId5"/>
          <a:stretch>
            <a:fillRect/>
          </a:stretch>
        </p:blipFill>
        <p:spPr>
          <a:xfrm>
            <a:off x="6694665" y="324294"/>
            <a:ext cx="2205287" cy="2226855"/>
          </a:xfrm>
          <a:prstGeom prst="rect">
            <a:avLst/>
          </a:prstGeom>
        </p:spPr>
      </p:pic>
      <p:sp>
        <p:nvSpPr>
          <p:cNvPr id="7" name="TextBox 6">
            <a:extLst>
              <a:ext uri="{FF2B5EF4-FFF2-40B4-BE49-F238E27FC236}">
                <a16:creationId xmlns:a16="http://schemas.microsoft.com/office/drawing/2014/main" id="{75A2BCDE-3119-2E5A-5B78-7BCA647A6BB3}"/>
              </a:ext>
            </a:extLst>
          </p:cNvPr>
          <p:cNvSpPr txBox="1"/>
          <p:nvPr/>
        </p:nvSpPr>
        <p:spPr>
          <a:xfrm>
            <a:off x="6837000" y="2538149"/>
            <a:ext cx="1859280" cy="307777"/>
          </a:xfrm>
          <a:prstGeom prst="rect">
            <a:avLst/>
          </a:prstGeom>
          <a:noFill/>
        </p:spPr>
        <p:txBody>
          <a:bodyPr wrap="square" rtlCol="0">
            <a:spAutoFit/>
          </a:bodyPr>
          <a:lstStyle/>
          <a:p>
            <a:pPr algn="ctr"/>
            <a:r>
              <a:rPr lang="en-US" dirty="0"/>
              <a:t>Figure 10</a:t>
            </a:r>
          </a:p>
        </p:txBody>
      </p:sp>
      <p:sp>
        <p:nvSpPr>
          <p:cNvPr id="14" name="Rectangle 13">
            <a:extLst>
              <a:ext uri="{FF2B5EF4-FFF2-40B4-BE49-F238E27FC236}">
                <a16:creationId xmlns:a16="http://schemas.microsoft.com/office/drawing/2014/main" id="{62636E3E-0DCD-A1D2-FD24-6D5946FF4A5B}"/>
              </a:ext>
            </a:extLst>
          </p:cNvPr>
          <p:cNvSpPr/>
          <p:nvPr/>
        </p:nvSpPr>
        <p:spPr>
          <a:xfrm>
            <a:off x="3800714" y="228361"/>
            <a:ext cx="606998" cy="2247113"/>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75289903-643E-43CB-AE47-7893F465E8A0}"/>
              </a:ext>
            </a:extLst>
          </p:cNvPr>
          <p:cNvCxnSpPr>
            <a:cxnSpLocks/>
          </p:cNvCxnSpPr>
          <p:nvPr/>
        </p:nvCxnSpPr>
        <p:spPr>
          <a:xfrm>
            <a:off x="6006494" y="3189064"/>
            <a:ext cx="0" cy="1583192"/>
          </a:xfrm>
          <a:prstGeom prst="line">
            <a:avLst/>
          </a:prstGeom>
          <a:ln w="1905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ED9B726-6317-62B1-4522-F26076E6C6F0}"/>
              </a:ext>
            </a:extLst>
          </p:cNvPr>
          <p:cNvSpPr txBox="1"/>
          <p:nvPr/>
        </p:nvSpPr>
        <p:spPr>
          <a:xfrm>
            <a:off x="6251560" y="3280412"/>
            <a:ext cx="2648392"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Similarly, employees commonly leave due to career related and work-life issues.</a:t>
            </a:r>
          </a:p>
        </p:txBody>
      </p:sp>
      <p:sp>
        <p:nvSpPr>
          <p:cNvPr id="25" name="TextBox 24">
            <a:extLst>
              <a:ext uri="{FF2B5EF4-FFF2-40B4-BE49-F238E27FC236}">
                <a16:creationId xmlns:a16="http://schemas.microsoft.com/office/drawing/2014/main" id="{432C3599-FCBC-E986-2191-04DDBB02E847}"/>
              </a:ext>
            </a:extLst>
          </p:cNvPr>
          <p:cNvSpPr txBox="1"/>
          <p:nvPr/>
        </p:nvSpPr>
        <p:spPr>
          <a:xfrm>
            <a:off x="6211669" y="4019076"/>
            <a:ext cx="2809247" cy="954107"/>
          </a:xfrm>
          <a:prstGeom prst="rect">
            <a:avLst/>
          </a:prstGeom>
          <a:noFill/>
        </p:spPr>
        <p:txBody>
          <a:bodyPr wrap="square">
            <a:spAutoFit/>
          </a:bodyPr>
          <a:lstStyle/>
          <a:p>
            <a:pPr marL="0" indent="0"/>
            <a:r>
              <a:rPr lang="en" sz="1400" dirty="0">
                <a:latin typeface="Calibri" panose="020F0502020204030204" pitchFamily="34" charset="0"/>
                <a:cs typeface="Calibri" panose="020F0502020204030204" pitchFamily="34" charset="0"/>
              </a:rPr>
              <a:t>1. Lack of career advancement / development opportunities</a:t>
            </a:r>
          </a:p>
          <a:p>
            <a:pPr marL="0" indent="0"/>
            <a:r>
              <a:rPr lang="en-SG" sz="1400" dirty="0">
                <a:latin typeface="Calibri" panose="020F0502020204030204" pitchFamily="34" charset="0"/>
                <a:cs typeface="Calibri" panose="020F0502020204030204" pitchFamily="34" charset="0"/>
              </a:rPr>
              <a:t>2. Lack of work-life balance for employees</a:t>
            </a:r>
          </a:p>
        </p:txBody>
      </p:sp>
    </p:spTree>
    <p:extLst>
      <p:ext uri="{BB962C8B-B14F-4D97-AF65-F5344CB8AC3E}">
        <p14:creationId xmlns:p14="http://schemas.microsoft.com/office/powerpoint/2010/main" val="3076820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3" name="Google Shape;483;p50"/>
          <p:cNvSpPr txBox="1">
            <a:spLocks noGrp="1"/>
          </p:cNvSpPr>
          <p:nvPr>
            <p:ph type="title"/>
          </p:nvPr>
        </p:nvSpPr>
        <p:spPr>
          <a:xfrm>
            <a:off x="714300" y="162552"/>
            <a:ext cx="7715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RECOMMENDATIONS</a:t>
            </a:r>
            <a:endParaRPr dirty="0"/>
          </a:p>
        </p:txBody>
      </p:sp>
      <p:grpSp>
        <p:nvGrpSpPr>
          <p:cNvPr id="22" name="Google Shape;714;p57">
            <a:extLst>
              <a:ext uri="{FF2B5EF4-FFF2-40B4-BE49-F238E27FC236}">
                <a16:creationId xmlns:a16="http://schemas.microsoft.com/office/drawing/2014/main" id="{46237B79-C808-E0F7-9C10-48AD8299AE74}"/>
              </a:ext>
            </a:extLst>
          </p:cNvPr>
          <p:cNvGrpSpPr/>
          <p:nvPr/>
        </p:nvGrpSpPr>
        <p:grpSpPr>
          <a:xfrm>
            <a:off x="3556310" y="1923468"/>
            <a:ext cx="2031375" cy="207600"/>
            <a:chOff x="1616163" y="1813750"/>
            <a:chExt cx="2031375" cy="207600"/>
          </a:xfrm>
        </p:grpSpPr>
        <p:sp>
          <p:nvSpPr>
            <p:cNvPr id="23" name="Google Shape;715;p57">
              <a:extLst>
                <a:ext uri="{FF2B5EF4-FFF2-40B4-BE49-F238E27FC236}">
                  <a16:creationId xmlns:a16="http://schemas.microsoft.com/office/drawing/2014/main" id="{4B3FB652-EBB0-8CC6-F68B-26869C63818E}"/>
                </a:ext>
              </a:extLst>
            </p:cNvPr>
            <p:cNvSpPr/>
            <p:nvPr/>
          </p:nvSpPr>
          <p:spPr>
            <a:xfrm>
              <a:off x="1616163"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16;p57">
              <a:extLst>
                <a:ext uri="{FF2B5EF4-FFF2-40B4-BE49-F238E27FC236}">
                  <a16:creationId xmlns:a16="http://schemas.microsoft.com/office/drawing/2014/main" id="{2B26D982-16A3-8D0A-888A-8E1BDD9D44A1}"/>
                </a:ext>
              </a:extLst>
            </p:cNvPr>
            <p:cNvSpPr/>
            <p:nvPr/>
          </p:nvSpPr>
          <p:spPr>
            <a:xfrm>
              <a:off x="2072106"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17;p57">
              <a:extLst>
                <a:ext uri="{FF2B5EF4-FFF2-40B4-BE49-F238E27FC236}">
                  <a16:creationId xmlns:a16="http://schemas.microsoft.com/office/drawing/2014/main" id="{02A00F08-8925-0FC9-F542-9E8F1A283807}"/>
                </a:ext>
              </a:extLst>
            </p:cNvPr>
            <p:cNvSpPr/>
            <p:nvPr/>
          </p:nvSpPr>
          <p:spPr>
            <a:xfrm>
              <a:off x="2528050"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18;p57">
              <a:extLst>
                <a:ext uri="{FF2B5EF4-FFF2-40B4-BE49-F238E27FC236}">
                  <a16:creationId xmlns:a16="http://schemas.microsoft.com/office/drawing/2014/main" id="{33A0A308-D639-2BD2-4080-B4581B5C6ACF}"/>
                </a:ext>
              </a:extLst>
            </p:cNvPr>
            <p:cNvSpPr/>
            <p:nvPr/>
          </p:nvSpPr>
          <p:spPr>
            <a:xfrm>
              <a:off x="2983994"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19;p57">
              <a:extLst>
                <a:ext uri="{FF2B5EF4-FFF2-40B4-BE49-F238E27FC236}">
                  <a16:creationId xmlns:a16="http://schemas.microsoft.com/office/drawing/2014/main" id="{8F21F678-64C2-9512-DAFF-1DD089574B34}"/>
                </a:ext>
              </a:extLst>
            </p:cNvPr>
            <p:cNvSpPr/>
            <p:nvPr/>
          </p:nvSpPr>
          <p:spPr>
            <a:xfrm>
              <a:off x="3439938" y="1813750"/>
              <a:ext cx="207600" cy="2076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TextBox 27">
            <a:extLst>
              <a:ext uri="{FF2B5EF4-FFF2-40B4-BE49-F238E27FC236}">
                <a16:creationId xmlns:a16="http://schemas.microsoft.com/office/drawing/2014/main" id="{2E9EFE77-23A5-94E1-A5F0-2C797C1148CA}"/>
              </a:ext>
            </a:extLst>
          </p:cNvPr>
          <p:cNvSpPr txBox="1"/>
          <p:nvPr/>
        </p:nvSpPr>
        <p:spPr>
          <a:xfrm>
            <a:off x="1090535" y="836415"/>
            <a:ext cx="6788545" cy="954107"/>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Majority of employees who left in either tenure groups of 0-2 years and 2-4 years, terminated due to career related or work-related issues. Showing signs that current strategies used to develop and advance employees are lacking. Work-life benefits given to employees should also be revamped to improve retention within the company.</a:t>
            </a:r>
          </a:p>
        </p:txBody>
      </p:sp>
      <p:sp>
        <p:nvSpPr>
          <p:cNvPr id="29" name="Google Shape;982;p66">
            <a:extLst>
              <a:ext uri="{FF2B5EF4-FFF2-40B4-BE49-F238E27FC236}">
                <a16:creationId xmlns:a16="http://schemas.microsoft.com/office/drawing/2014/main" id="{4FC202C2-C321-2F33-CAA1-0A86868FD22E}"/>
              </a:ext>
            </a:extLst>
          </p:cNvPr>
          <p:cNvSpPr txBox="1"/>
          <p:nvPr/>
        </p:nvSpPr>
        <p:spPr>
          <a:xfrm flipH="1">
            <a:off x="3885926" y="2264014"/>
            <a:ext cx="1945200" cy="33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b="1" dirty="0">
                <a:solidFill>
                  <a:schemeClr val="tx2">
                    <a:lumMod val="50000"/>
                  </a:schemeClr>
                </a:solidFill>
                <a:latin typeface="Cantata One"/>
                <a:ea typeface="Cantata One"/>
                <a:cs typeface="Cantata One"/>
                <a:sym typeface="Cantata One"/>
              </a:rPr>
              <a:t>HOW?</a:t>
            </a:r>
            <a:endParaRPr sz="2800" b="1" dirty="0">
              <a:solidFill>
                <a:schemeClr val="tx2">
                  <a:lumMod val="50000"/>
                </a:schemeClr>
              </a:solidFill>
              <a:latin typeface="Cantata One"/>
              <a:ea typeface="Cantata One"/>
              <a:cs typeface="Cantata One"/>
              <a:sym typeface="Cantata One"/>
            </a:endParaRPr>
          </a:p>
        </p:txBody>
      </p:sp>
      <p:sp>
        <p:nvSpPr>
          <p:cNvPr id="30" name="TextBox 29">
            <a:extLst>
              <a:ext uri="{FF2B5EF4-FFF2-40B4-BE49-F238E27FC236}">
                <a16:creationId xmlns:a16="http://schemas.microsoft.com/office/drawing/2014/main" id="{BBA30C03-AE6A-E3CB-F7E4-92B84DE954B7}"/>
              </a:ext>
            </a:extLst>
          </p:cNvPr>
          <p:cNvSpPr txBox="1"/>
          <p:nvPr/>
        </p:nvSpPr>
        <p:spPr>
          <a:xfrm>
            <a:off x="1017704" y="2609214"/>
            <a:ext cx="7108585" cy="2416046"/>
          </a:xfrm>
          <a:prstGeom prst="rect">
            <a:avLst/>
          </a:prstGeom>
          <a:noFill/>
        </p:spPr>
        <p:txBody>
          <a:bodyPr wrap="square" rtlCol="0">
            <a:spAutoFit/>
          </a:bodyPr>
          <a:lstStyle/>
          <a:p>
            <a:pPr marL="342900" indent="-342900">
              <a:buAutoNum type="arabicPeriod"/>
            </a:pPr>
            <a:r>
              <a:rPr lang="en-US" sz="1600" b="1" dirty="0">
                <a:latin typeface="Calibri" panose="020F0502020204030204" pitchFamily="34" charset="0"/>
                <a:cs typeface="Calibri" panose="020F0502020204030204" pitchFamily="34" charset="0"/>
              </a:rPr>
              <a:t>Career Advancement / Development Opportunities</a:t>
            </a:r>
          </a:p>
          <a:p>
            <a:r>
              <a:rPr lang="en-US" dirty="0">
                <a:latin typeface="Calibri" panose="020F0502020204030204" pitchFamily="34" charset="0"/>
                <a:cs typeface="Calibri" panose="020F0502020204030204" pitchFamily="34" charset="0"/>
              </a:rPr>
              <a:t>- Establishment of mentoring program, by pairing employees with experienced mentors can provide guidance, support and knowledge transfer.</a:t>
            </a:r>
          </a:p>
          <a:p>
            <a:r>
              <a:rPr lang="en-US" dirty="0">
                <a:latin typeface="Calibri" panose="020F0502020204030204" pitchFamily="34" charset="0"/>
                <a:cs typeface="Calibri" panose="020F0502020204030204" pitchFamily="34" charset="0"/>
              </a:rPr>
              <a:t>- Development of succession planning, by </a:t>
            </a:r>
            <a:r>
              <a:rPr lang="en-SG" dirty="0">
                <a:latin typeface="Calibri" panose="020F0502020204030204" pitchFamily="34" charset="0"/>
                <a:cs typeface="Calibri" panose="020F0502020204030204" pitchFamily="34" charset="0"/>
              </a:rPr>
              <a:t>identifying and preparing high-potential employees for future leadership roles ensures a talent pipeline within the company and gives employees clear advancement prospects.</a:t>
            </a:r>
            <a:endParaRPr lang="en-US" dirty="0">
              <a:latin typeface="Calibri" panose="020F0502020204030204" pitchFamily="34" charset="0"/>
              <a:cs typeface="Calibri" panose="020F0502020204030204" pitchFamily="34" charset="0"/>
            </a:endParaRPr>
          </a:p>
          <a:p>
            <a:endParaRPr lang="en-US" sz="700" dirty="0">
              <a:latin typeface="Calibri" panose="020F0502020204030204" pitchFamily="34" charset="0"/>
              <a:cs typeface="Calibri" panose="020F0502020204030204" pitchFamily="34" charset="0"/>
            </a:endParaRPr>
          </a:p>
          <a:p>
            <a:pPr marL="342900" indent="-342900">
              <a:buFont typeface="+mj-lt"/>
              <a:buAutoNum type="arabicPeriod" startAt="2"/>
            </a:pPr>
            <a:r>
              <a:rPr lang="en-US" sz="1600" b="1" dirty="0">
                <a:latin typeface="Calibri" panose="020F0502020204030204" pitchFamily="34" charset="0"/>
                <a:cs typeface="Calibri" panose="020F0502020204030204" pitchFamily="34" charset="0"/>
              </a:rPr>
              <a:t>Improved Work-life balance</a:t>
            </a:r>
          </a:p>
          <a:p>
            <a:r>
              <a:rPr lang="en-US" dirty="0">
                <a:latin typeface="Calibri" panose="020F0502020204030204" pitchFamily="34" charset="0"/>
                <a:cs typeface="Calibri" panose="020F0502020204030204" pitchFamily="34" charset="0"/>
              </a:rPr>
              <a:t>- Providing the option of remote work, allowing employees to work from home.</a:t>
            </a:r>
          </a:p>
          <a:p>
            <a:r>
              <a:rPr lang="en-US" dirty="0">
                <a:latin typeface="Calibri" panose="020F0502020204030204" pitchFamily="34" charset="0"/>
                <a:cs typeface="Calibri" panose="020F0502020204030204" pitchFamily="34" charset="0"/>
              </a:rPr>
              <a:t>- Wellness programs can be provided to employees, such as initiatives like gym memberships, fitness classes and health screenings.</a:t>
            </a:r>
          </a:p>
        </p:txBody>
      </p:sp>
    </p:spTree>
    <p:extLst>
      <p:ext uri="{BB962C8B-B14F-4D97-AF65-F5344CB8AC3E}">
        <p14:creationId xmlns:p14="http://schemas.microsoft.com/office/powerpoint/2010/main" val="2724427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p:nvPr/>
        </p:nvSpPr>
        <p:spPr>
          <a:xfrm>
            <a:off x="-9526" y="532800"/>
            <a:ext cx="5861681" cy="40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txBox="1">
            <a:spLocks noGrp="1"/>
          </p:cNvSpPr>
          <p:nvPr>
            <p:ph type="title" idx="2"/>
          </p:nvPr>
        </p:nvSpPr>
        <p:spPr>
          <a:xfrm>
            <a:off x="872400" y="1295425"/>
            <a:ext cx="4347300" cy="138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06</a:t>
            </a:r>
            <a:endParaRPr dirty="0">
              <a:solidFill>
                <a:schemeClr val="lt1"/>
              </a:solidFill>
            </a:endParaRPr>
          </a:p>
        </p:txBody>
      </p:sp>
      <p:sp>
        <p:nvSpPr>
          <p:cNvPr id="405" name="Google Shape;405;p45"/>
          <p:cNvSpPr txBox="1">
            <a:spLocks noGrp="1"/>
          </p:cNvSpPr>
          <p:nvPr>
            <p:ph type="title"/>
          </p:nvPr>
        </p:nvSpPr>
        <p:spPr>
          <a:xfrm>
            <a:off x="1501050" y="2122300"/>
            <a:ext cx="3718800" cy="11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DASHBOARD</a:t>
            </a:r>
            <a:endParaRPr dirty="0"/>
          </a:p>
        </p:txBody>
      </p:sp>
      <p:sp>
        <p:nvSpPr>
          <p:cNvPr id="406" name="Google Shape;406;p45"/>
          <p:cNvSpPr txBox="1">
            <a:spLocks noGrp="1"/>
          </p:cNvSpPr>
          <p:nvPr>
            <p:ph type="subTitle" idx="1"/>
          </p:nvPr>
        </p:nvSpPr>
        <p:spPr>
          <a:xfrm>
            <a:off x="1501050" y="3141500"/>
            <a:ext cx="3634830" cy="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i="1" dirty="0">
                <a:solidFill>
                  <a:schemeClr val="tx2">
                    <a:lumMod val="50000"/>
                  </a:schemeClr>
                </a:solidFill>
              </a:rPr>
              <a:t>What are the characteristics and demography of employees that have a high probability of leaving the company in the next 3 months? </a:t>
            </a:r>
          </a:p>
        </p:txBody>
      </p:sp>
      <p:sp>
        <p:nvSpPr>
          <p:cNvPr id="407" name="Google Shape;407;p45"/>
          <p:cNvSpPr txBox="1">
            <a:spLocks noGrp="1"/>
          </p:cNvSpPr>
          <p:nvPr>
            <p:ph type="subTitle" idx="3"/>
          </p:nvPr>
        </p:nvSpPr>
        <p:spPr>
          <a:xfrm>
            <a:off x="3173400" y="156450"/>
            <a:ext cx="2797200" cy="23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www.slidesgo.com</a:t>
            </a:r>
            <a:endParaRPr>
              <a:solidFill>
                <a:schemeClr val="lt1"/>
              </a:solidFill>
            </a:endParaRPr>
          </a:p>
        </p:txBody>
      </p:sp>
      <p:sp>
        <p:nvSpPr>
          <p:cNvPr id="408" name="Google Shape;408;p45"/>
          <p:cNvSpPr txBox="1">
            <a:spLocks noGrp="1"/>
          </p:cNvSpPr>
          <p:nvPr>
            <p:ph type="subTitle" idx="4"/>
          </p:nvPr>
        </p:nvSpPr>
        <p:spPr>
          <a:xfrm rot="-5400000">
            <a:off x="-1000050" y="2443500"/>
            <a:ext cx="26859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cxnSp>
        <p:nvCxnSpPr>
          <p:cNvPr id="409" name="Google Shape;409;p45"/>
          <p:cNvCxnSpPr/>
          <p:nvPr/>
        </p:nvCxnSpPr>
        <p:spPr>
          <a:xfrm rot="10800000">
            <a:off x="342895" y="-19200"/>
            <a:ext cx="0" cy="1190700"/>
          </a:xfrm>
          <a:prstGeom prst="straightConnector1">
            <a:avLst/>
          </a:prstGeom>
          <a:noFill/>
          <a:ln w="9525" cap="flat" cmpd="sng">
            <a:solidFill>
              <a:schemeClr val="dk1"/>
            </a:solidFill>
            <a:prstDash val="solid"/>
            <a:round/>
            <a:headEnd type="none" w="med" len="med"/>
            <a:tailEnd type="none" w="med" len="med"/>
          </a:ln>
        </p:spPr>
      </p:cxnSp>
      <p:cxnSp>
        <p:nvCxnSpPr>
          <p:cNvPr id="410" name="Google Shape;410;p45"/>
          <p:cNvCxnSpPr/>
          <p:nvPr/>
        </p:nvCxnSpPr>
        <p:spPr>
          <a:xfrm>
            <a:off x="342895" y="3972000"/>
            <a:ext cx="0" cy="1190700"/>
          </a:xfrm>
          <a:prstGeom prst="straightConnector1">
            <a:avLst/>
          </a:prstGeom>
          <a:noFill/>
          <a:ln w="9525" cap="flat" cmpd="sng">
            <a:solidFill>
              <a:schemeClr val="dk1"/>
            </a:solidFill>
            <a:prstDash val="solid"/>
            <a:round/>
            <a:headEnd type="none" w="med" len="med"/>
            <a:tailEnd type="none" w="med" len="med"/>
          </a:ln>
        </p:spPr>
      </p:cxnSp>
      <p:sp>
        <p:nvSpPr>
          <p:cNvPr id="411" name="Google Shape;411;p45"/>
          <p:cNvSpPr/>
          <p:nvPr/>
        </p:nvSpPr>
        <p:spPr>
          <a:xfrm rot="5400000">
            <a:off x="6328283" y="2488787"/>
            <a:ext cx="3952860" cy="165926"/>
          </a:xfrm>
          <a:prstGeom prst="rect">
            <a:avLst/>
          </a:prstGeom>
        </p:spPr>
        <p:txBody>
          <a:bodyPr>
            <a:prstTxWarp prst="textPlain">
              <a:avLst/>
            </a:prstTxWarp>
          </a:bodyPr>
          <a:lstStyle/>
          <a:p>
            <a:pPr lvl="0" algn="ctr"/>
            <a:r>
              <a:rPr b="1" i="0">
                <a:ln>
                  <a:noFill/>
                </a:ln>
                <a:solidFill>
                  <a:schemeClr val="lt1"/>
                </a:solidFill>
                <a:latin typeface="Cabin"/>
              </a:rPr>
              <a:t>-HUMAN RESOURCES DEVELOPMENT-</a:t>
            </a:r>
          </a:p>
        </p:txBody>
      </p:sp>
      <p:sp>
        <p:nvSpPr>
          <p:cNvPr id="412" name="Google Shape;412;p45"/>
          <p:cNvSpPr/>
          <p:nvPr/>
        </p:nvSpPr>
        <p:spPr>
          <a:xfrm rot="-5400000" flipH="1">
            <a:off x="6480683" y="2488787"/>
            <a:ext cx="3952860" cy="165926"/>
          </a:xfrm>
          <a:prstGeom prst="rect">
            <a:avLst/>
          </a:prstGeom>
        </p:spPr>
        <p:txBody>
          <a:bodyPr>
            <a:prstTxWarp prst="textPlain">
              <a:avLst/>
            </a:prstTxWarp>
          </a:bodyPr>
          <a:lstStyle/>
          <a:p>
            <a:pPr lvl="0" algn="ctr"/>
            <a:r>
              <a:rPr b="1" i="0" dirty="0">
                <a:ln>
                  <a:noFill/>
                </a:ln>
                <a:solidFill>
                  <a:srgbClr val="FFFCFC">
                    <a:alpha val="23210"/>
                  </a:srgbClr>
                </a:solidFill>
                <a:latin typeface="Cabin"/>
              </a:rPr>
              <a:t>-HUMAN RESOURCES DEVELOPMENT-</a:t>
            </a:r>
          </a:p>
        </p:txBody>
      </p:sp>
    </p:spTree>
    <p:extLst>
      <p:ext uri="{BB962C8B-B14F-4D97-AF65-F5344CB8AC3E}">
        <p14:creationId xmlns:p14="http://schemas.microsoft.com/office/powerpoint/2010/main" val="1869455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9"/>
          <p:cNvSpPr txBox="1">
            <a:spLocks noGrp="1"/>
          </p:cNvSpPr>
          <p:nvPr>
            <p:ph type="title"/>
          </p:nvPr>
        </p:nvSpPr>
        <p:spPr>
          <a:xfrm>
            <a:off x="1257300" y="1187100"/>
            <a:ext cx="6629400" cy="276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DASHBOARD</a:t>
            </a:r>
            <a:endParaRPr dirty="0"/>
          </a:p>
        </p:txBody>
      </p:sp>
      <p:sp>
        <p:nvSpPr>
          <p:cNvPr id="476" name="Google Shape;476;p49"/>
          <p:cNvSpPr txBox="1">
            <a:spLocks noGrp="1"/>
          </p:cNvSpPr>
          <p:nvPr>
            <p:ph type="subTitle" idx="2"/>
          </p:nvPr>
        </p:nvSpPr>
        <p:spPr>
          <a:xfrm rot="5400000" flipH="1">
            <a:off x="7689005" y="2452950"/>
            <a:ext cx="2224200" cy="23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SG" dirty="0"/>
              <a:t>HR Analysis</a:t>
            </a:r>
          </a:p>
        </p:txBody>
      </p:sp>
      <p:pic>
        <p:nvPicPr>
          <p:cNvPr id="3" name="Picture 2" descr="A screenshot of a data report&#10;&#10;Description automatically generated">
            <a:extLst>
              <a:ext uri="{FF2B5EF4-FFF2-40B4-BE49-F238E27FC236}">
                <a16:creationId xmlns:a16="http://schemas.microsoft.com/office/drawing/2014/main" id="{FFE2FCED-42C3-98B8-A148-B351387A84FB}"/>
              </a:ext>
            </a:extLst>
          </p:cNvPr>
          <p:cNvPicPr>
            <a:picLocks noChangeAspect="1"/>
          </p:cNvPicPr>
          <p:nvPr/>
        </p:nvPicPr>
        <p:blipFill>
          <a:blip r:embed="rId3"/>
          <a:stretch>
            <a:fillRect/>
          </a:stretch>
        </p:blipFill>
        <p:spPr>
          <a:xfrm>
            <a:off x="754380" y="436234"/>
            <a:ext cx="7635240" cy="4271032"/>
          </a:xfrm>
          <a:prstGeom prst="rect">
            <a:avLst/>
          </a:prstGeom>
        </p:spPr>
      </p:pic>
      <p:sp>
        <p:nvSpPr>
          <p:cNvPr id="8" name="TextBox 7">
            <a:extLst>
              <a:ext uri="{FF2B5EF4-FFF2-40B4-BE49-F238E27FC236}">
                <a16:creationId xmlns:a16="http://schemas.microsoft.com/office/drawing/2014/main" id="{E811BF34-2B77-D953-C4CB-AFD1ABFF6E7B}"/>
              </a:ext>
            </a:extLst>
          </p:cNvPr>
          <p:cNvSpPr txBox="1"/>
          <p:nvPr/>
        </p:nvSpPr>
        <p:spPr>
          <a:xfrm>
            <a:off x="836022" y="4742767"/>
            <a:ext cx="2618024" cy="646331"/>
          </a:xfrm>
          <a:prstGeom prst="rect">
            <a:avLst/>
          </a:prstGeom>
          <a:noFill/>
        </p:spPr>
        <p:txBody>
          <a:bodyPr wrap="none" rtlCol="0">
            <a:spAutoFit/>
          </a:bodyPr>
          <a:lstStyle/>
          <a:p>
            <a:r>
              <a:rPr lang="en-SG" sz="1200" dirty="0">
                <a:solidFill>
                  <a:schemeClr val="bg2">
                    <a:lumMod val="10000"/>
                  </a:schemeClr>
                </a:solidFill>
                <a:effectLst/>
                <a:latin typeface="Calibri" panose="020F0502020204030204" pitchFamily="34" charset="0"/>
                <a:cs typeface="Calibri" panose="020F0502020204030204" pitchFamily="34" charset="0"/>
              </a:rPr>
              <a:t>Access this dashboard by clicking </a:t>
            </a:r>
            <a:r>
              <a:rPr lang="en-SG" sz="1200" dirty="0">
                <a:solidFill>
                  <a:schemeClr val="bg2">
                    <a:lumMod val="10000"/>
                  </a:schemeClr>
                </a:solidFill>
                <a:effectLst/>
                <a:latin typeface="Calibri" panose="020F0502020204030204" pitchFamily="34" charset="0"/>
                <a:cs typeface="Calibri" panose="020F0502020204030204" pitchFamily="34" charset="0"/>
                <a:hlinkClick r:id="rId4"/>
              </a:rPr>
              <a:t>here</a:t>
            </a:r>
            <a:r>
              <a:rPr lang="en-SG" sz="1200" dirty="0">
                <a:solidFill>
                  <a:schemeClr val="bg2">
                    <a:lumMod val="10000"/>
                  </a:schemeClr>
                </a:solidFill>
                <a:effectLst/>
                <a:latin typeface="Calibri" panose="020F0502020204030204" pitchFamily="34" charset="0"/>
                <a:cs typeface="Calibri" panose="020F0502020204030204" pitchFamily="34" charset="0"/>
              </a:rPr>
              <a:t>!</a:t>
            </a:r>
          </a:p>
          <a:p>
            <a:endParaRPr lang="en-SG" sz="1200" dirty="0">
              <a:solidFill>
                <a:schemeClr val="bg2">
                  <a:lumMod val="10000"/>
                </a:schemeClr>
              </a:solidFill>
              <a:effectLst/>
              <a:latin typeface="Calibri" panose="020F0502020204030204" pitchFamily="34" charset="0"/>
              <a:cs typeface="Calibri" panose="020F0502020204030204" pitchFamily="34" charset="0"/>
            </a:endParaRPr>
          </a:p>
          <a:p>
            <a:endParaRPr lang="en-US" sz="1200" dirty="0">
              <a:solidFill>
                <a:schemeClr val="bg2">
                  <a:lumMod val="1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F53E6690-0484-6967-98FF-39A1BB8C0EB6}"/>
              </a:ext>
            </a:extLst>
          </p:cNvPr>
          <p:cNvSpPr txBox="1"/>
          <p:nvPr/>
        </p:nvSpPr>
        <p:spPr>
          <a:xfrm>
            <a:off x="3454046" y="4707266"/>
            <a:ext cx="5669092" cy="415498"/>
          </a:xfrm>
          <a:prstGeom prst="rect">
            <a:avLst/>
          </a:prstGeom>
          <a:noFill/>
        </p:spPr>
        <p:txBody>
          <a:bodyPr wrap="square" rtlCol="0">
            <a:spAutoFit/>
          </a:bodyPr>
          <a:lstStyle/>
          <a:p>
            <a:pPr rtl="0"/>
            <a:r>
              <a:rPr lang="en-SG" sz="1050" b="0" i="0" u="none" strike="noStrike" dirty="0">
                <a:solidFill>
                  <a:srgbClr val="181513"/>
                </a:solidFill>
                <a:effectLst/>
                <a:latin typeface="Arial" panose="020B0604020202020204" pitchFamily="34" charset="0"/>
              </a:rPr>
              <a:t>https://</a:t>
            </a:r>
            <a:r>
              <a:rPr lang="en-SG" sz="1050" b="0" i="0" u="none" strike="noStrike" dirty="0" err="1">
                <a:solidFill>
                  <a:srgbClr val="181513"/>
                </a:solidFill>
                <a:effectLst/>
                <a:latin typeface="Arial" panose="020B0604020202020204" pitchFamily="34" charset="0"/>
              </a:rPr>
              <a:t>public.tableau.com</a:t>
            </a:r>
            <a:r>
              <a:rPr lang="en-SG" sz="1050" b="0" i="0" u="none" strike="noStrike" dirty="0">
                <a:solidFill>
                  <a:srgbClr val="181513"/>
                </a:solidFill>
                <a:effectLst/>
                <a:latin typeface="Arial" panose="020B0604020202020204" pitchFamily="34" charset="0"/>
              </a:rPr>
              <a:t>/views/HRAnalysisDashboard_17389406352520/Dashboard?:language=</a:t>
            </a:r>
            <a:r>
              <a:rPr lang="en-SG" sz="1050" b="0" i="0" u="none" strike="noStrike" dirty="0" err="1">
                <a:solidFill>
                  <a:srgbClr val="181513"/>
                </a:solidFill>
                <a:effectLst/>
                <a:latin typeface="Arial" panose="020B0604020202020204" pitchFamily="34" charset="0"/>
              </a:rPr>
              <a:t>en</a:t>
            </a:r>
            <a:r>
              <a:rPr lang="en-SG" sz="1050" b="0" i="0" u="none" strike="noStrike" dirty="0">
                <a:solidFill>
                  <a:srgbClr val="181513"/>
                </a:solidFill>
                <a:effectLst/>
                <a:latin typeface="Arial" panose="020B0604020202020204" pitchFamily="34" charset="0"/>
              </a:rPr>
              <a:t>-US&amp;:</a:t>
            </a:r>
            <a:r>
              <a:rPr lang="en-SG" sz="1050" b="0" i="0" u="none" strike="noStrike" dirty="0" err="1">
                <a:solidFill>
                  <a:srgbClr val="181513"/>
                </a:solidFill>
                <a:effectLst/>
                <a:latin typeface="Arial" panose="020B0604020202020204" pitchFamily="34" charset="0"/>
              </a:rPr>
              <a:t>sid</a:t>
            </a:r>
            <a:r>
              <a:rPr lang="en-SG" sz="1050" b="0" i="0" u="none" strike="noStrike" dirty="0">
                <a:solidFill>
                  <a:srgbClr val="181513"/>
                </a:solidFill>
                <a:effectLst/>
                <a:latin typeface="Arial" panose="020B0604020202020204" pitchFamily="34" charset="0"/>
              </a:rPr>
              <a:t>=&amp;:redirect=auth&amp;:</a:t>
            </a:r>
            <a:r>
              <a:rPr lang="en-SG" sz="1050" b="0" i="0" u="none" strike="noStrike" dirty="0" err="1">
                <a:solidFill>
                  <a:srgbClr val="181513"/>
                </a:solidFill>
                <a:effectLst/>
                <a:latin typeface="Arial" panose="020B0604020202020204" pitchFamily="34" charset="0"/>
              </a:rPr>
              <a:t>display_count</a:t>
            </a:r>
            <a:r>
              <a:rPr lang="en-SG" sz="1050" b="0" i="0" u="none" strike="noStrike" dirty="0">
                <a:solidFill>
                  <a:srgbClr val="181513"/>
                </a:solidFill>
                <a:effectLst/>
                <a:latin typeface="Arial" panose="020B0604020202020204" pitchFamily="34" charset="0"/>
              </a:rPr>
              <a:t>=n&amp;:origin=</a:t>
            </a:r>
            <a:r>
              <a:rPr lang="en-SG" sz="1050" b="0" i="0" u="none" strike="noStrike" dirty="0" err="1">
                <a:solidFill>
                  <a:srgbClr val="181513"/>
                </a:solidFill>
                <a:effectLst/>
                <a:latin typeface="Arial" panose="020B0604020202020204" pitchFamily="34" charset="0"/>
              </a:rPr>
              <a:t>viz_share_link</a:t>
            </a:r>
            <a:endParaRPr lang="en-SG" sz="1050" b="0" dirty="0">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F714-4299-9308-3B7A-52DAB46F81F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4272297827"/>
      </p:ext>
    </p:extLst>
  </p:cSld>
  <p:clrMapOvr>
    <a:masterClrMapping/>
  </p:clrMapOvr>
</p:sld>
</file>

<file path=ppt/theme/theme1.xml><?xml version="1.0" encoding="utf-8"?>
<a:theme xmlns:a="http://schemas.openxmlformats.org/drawingml/2006/main" name="Human Resource Development Pitch Deck by Slidesgo">
  <a:themeElements>
    <a:clrScheme name="Simple Light">
      <a:dk1>
        <a:srgbClr val="353535"/>
      </a:dk1>
      <a:lt1>
        <a:srgbClr val="FFFCFC"/>
      </a:lt1>
      <a:dk2>
        <a:srgbClr val="E0DBD7"/>
      </a:dk2>
      <a:lt2>
        <a:srgbClr val="EEEEEE"/>
      </a:lt2>
      <a:accent1>
        <a:srgbClr val="FFFFFF"/>
      </a:accent1>
      <a:accent2>
        <a:srgbClr val="FFFFFF"/>
      </a:accent2>
      <a:accent3>
        <a:srgbClr val="FFFFFF"/>
      </a:accent3>
      <a:accent4>
        <a:srgbClr val="FFFFFF"/>
      </a:accent4>
      <a:accent5>
        <a:srgbClr val="FFFFFF"/>
      </a:accent5>
      <a:accent6>
        <a:srgbClr val="FFFFFF"/>
      </a:accent6>
      <a:hlink>
        <a:srgbClr val="3535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5624</TotalTime>
  <Words>2394</Words>
  <Application>Microsoft Macintosh PowerPoint</Application>
  <PresentationFormat>On-screen Show (16:9)</PresentationFormat>
  <Paragraphs>307</Paragraphs>
  <Slides>27</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Cabin</vt:lpstr>
      <vt:lpstr>Calibri</vt:lpstr>
      <vt:lpstr>Cambria Math</vt:lpstr>
      <vt:lpstr>Cantata One</vt:lpstr>
      <vt:lpstr>Arial</vt:lpstr>
      <vt:lpstr>Human Resource Development Pitch Deck by Slidesgo</vt:lpstr>
      <vt:lpstr>HR Analysis</vt:lpstr>
      <vt:lpstr>01</vt:lpstr>
      <vt:lpstr>01</vt:lpstr>
      <vt:lpstr>PowerPoint Presentation</vt:lpstr>
      <vt:lpstr>PowerPoint Presentation</vt:lpstr>
      <vt:lpstr>TREND</vt:lpstr>
      <vt:lpstr>PowerPoint Presentation</vt:lpstr>
      <vt:lpstr>02</vt:lpstr>
      <vt:lpstr>WHAT CLASSIFIES AS BEST?</vt:lpstr>
      <vt:lpstr>BEST “NO COST” SOURCE</vt:lpstr>
      <vt:lpstr>RECOMMENDATIONS</vt:lpstr>
      <vt:lpstr>BEST “PAID” SOURCES</vt:lpstr>
      <vt:lpstr>RECOMMENDATIONS</vt:lpstr>
      <vt:lpstr>03</vt:lpstr>
      <vt:lpstr>METRICS FOR MANAGERS</vt:lpstr>
      <vt:lpstr>BEST PERFORMING MANAGER</vt:lpstr>
      <vt:lpstr>LOW PERFORMING MANAGER</vt:lpstr>
      <vt:lpstr>PowerPoint Presentation</vt:lpstr>
      <vt:lpstr>04</vt:lpstr>
      <vt:lpstr>GENDER</vt:lpstr>
      <vt:lpstr>05</vt:lpstr>
      <vt:lpstr>PAIN POINT</vt:lpstr>
      <vt:lpstr>ANALYSIS</vt:lpstr>
      <vt:lpstr>RECOMMENDATIONS</vt:lpstr>
      <vt:lpstr>06</vt:lpstr>
      <vt:lpstr>DASHBOARD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DEVELOPMENT PITCH DECK</dc:title>
  <cp:lastModifiedBy>Darren FOO Chit Long</cp:lastModifiedBy>
  <cp:revision>463</cp:revision>
  <dcterms:modified xsi:type="dcterms:W3CDTF">2025-02-11T22:26:51Z</dcterms:modified>
</cp:coreProperties>
</file>